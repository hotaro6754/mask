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Mg1" Type="http://schemas.openxmlformats.org/officeDocument/2006/relationships/image" Target="../media/maskguard_s3_1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Mg1" Type="http://schemas.openxmlformats.org/officeDocument/2006/relationships/image" Target="../media/maskguard_s7_1.png" /><Relationship Id="rIdMg2" Type="http://schemas.openxmlformats.org/officeDocument/2006/relationships/image" Target="../media/maskguard_s7_2.png" /><Relationship Id="rIdVid" Type="http://schemas.openxmlformats.org/officeDocument/2006/relationships/hyperlink" Target="https://github.com/hotaro6754/mask/blob/claude/zealous-bell-me62fn/docs/demo_full.mp4" TargetMode="External" /><Relationship Id="rIdRepo" Type="http://schemas.openxmlformats.org/officeDocument/2006/relationships/hyperlink" Target="https://github.com/hotaro6754/mask/tree/claude/zealous-bell-me62fn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REVIEW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Frontier Challenge 2026 Round 1 Submission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Pirates of the Caribbean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Harshith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11: Smart Data Masking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 2026</a:t>
            </a:r>
            <a:endParaRPr lang="en-US" sz="1800" dirty="0"/>
          </a:p>
        </p:txBody>
      </p:sp>
      <p:sp>
        <p:nvSpPr>
          <p:cNvPr id="101" name="Project name"/>
          <p:cNvSpPr txBox="1"/>
          <p:nvPr/>
        </p:nvSpPr>
        <p:spPr>
          <a:xfrm>
            <a:off x="457200" y="215798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AI-powered PII discovery and query-time masking for any database</a:t>
            </a:r>
            <a:endParaRPr lang="en-US" sz="1600" dirty="0"/>
          </a:p>
        </p:txBody>
      </p:sp>
      <p:sp>
        <p:nvSpPr>
          <p:cNvPr id="102" name="Team members"/>
          <p:cNvSpPr txBox="1"/>
          <p:nvPr/>
        </p:nvSpPr>
        <p:spPr>
          <a:xfrm>
            <a:off x="1005840" y="43708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Harshith (Lead) · G. Praneeth · D. Mandeep · K. Surya Srinivas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4000" dirty="0"/>
          </a:p>
        </p:txBody>
      </p:sp>
      <p:sp>
        <p:nvSpPr>
          <p:cNvPr id="101" name="Problem Statement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02" name="Problem bullets"/>
          <p:cNvSpPr txBox="1"/>
          <p:nvPr/>
        </p:nvSpPr>
        <p:spPr>
          <a:xfrm>
            <a:off x="548640" y="1188720"/>
            <a:ext cx="8092440" cy="1554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NBFCs and fintechs give support, analytics and ops staff SQL access to tables of card numbers, Aadhaar, PAN and balances across several databases, with no per-role control over what each person sees: a GDPR, HIPAA and DPDP compliance risk.</a:t>
            </a:r>
            <a:endParaRPr lang="en-US" sz="11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columns are hard to find: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lie (contact, ref_no) and regexes confuse order numbers with Aadhaar, so PII slips through unprotected.</a:t>
            </a:r>
            <a:endParaRPr lang="en-US" sz="11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leaks: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masking is a display filter, so WHERE, ORDER BY and aggregates still run on real values. An IEEE Access 2025 survey names masking's weakness as “limited protection against sophisticated attacks”.</a:t>
            </a:r>
            <a:endParaRPr lang="en-US" sz="1150" dirty="0"/>
          </a:p>
          <a:p>
            <a:pPr algn="l" marL="228600" indent="-228600">
              <a:spcAft>
                <a:spcPts val="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affected: 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(identity theft), institutions (breach costs, DPDP penalties) and teams who need the data.</a:t>
            </a:r>
            <a:endParaRPr lang="en-US" sz="1150" dirty="0"/>
          </a:p>
        </p:txBody>
      </p:sp>
      <p:sp>
        <p:nvSpPr>
          <p:cNvPr id="103" name="Market Opportunity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104" name="Stat 1"/>
          <p:cNvSpPr txBox="1"/>
          <p:nvPr/>
        </p:nvSpPr>
        <p:spPr>
          <a:xfrm>
            <a:off x="457200" y="3145536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₹25.5 cr</a:t>
            </a:r>
            <a:endParaRPr lang="en-US" sz="2400" dirty="0"/>
          </a:p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in India in 2026; financial services is highest at ₹40.9 cr (IBM)</a:t>
            </a:r>
            <a:endParaRPr lang="en-US" sz="1050" dirty="0"/>
          </a:p>
        </p:txBody>
      </p:sp>
      <p:sp>
        <p:nvSpPr>
          <p:cNvPr id="105" name="Stat 2"/>
          <p:cNvSpPr txBox="1"/>
          <p:nvPr/>
        </p:nvSpPr>
        <p:spPr>
          <a:xfrm>
            <a:off x="3246120" y="3145536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 cr</a:t>
            </a:r>
            <a:endParaRPr lang="en-US" sz="2400" dirty="0"/>
          </a:p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DPDP penalty for weak security safeguards; Rule 6 names masking and 1-year access logs (in force from May 2027)</a:t>
            </a:r>
            <a:endParaRPr lang="en-US" sz="1050" dirty="0"/>
          </a:p>
        </p:txBody>
      </p:sp>
      <p:sp>
        <p:nvSpPr>
          <p:cNvPr id="106" name="Stat 3"/>
          <p:cNvSpPr txBox="1"/>
          <p:nvPr/>
        </p:nvSpPr>
        <p:spPr>
          <a:xfrm>
            <a:off x="6035040" y="3145536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$1.1–1.5 B</a:t>
            </a:r>
            <a:endParaRPr lang="en-US" sz="2400" dirty="0"/>
          </a:p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data-masking market in 2025, growing about 12–17% a year (analyst estimates)</a:t>
            </a:r>
            <a:endParaRPr lang="en-US" sz="1050" dirty="0"/>
          </a:p>
        </p:txBody>
      </p:sp>
      <p:sp>
        <p:nvSpPr>
          <p:cNvPr id="107" name="Audience"/>
          <p:cNvSpPr txBox="1"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NBFCs, insurers, fintechs and government data teams handling citizen records under DPDP.</a:t>
            </a:r>
            <a:endParaRPr lang="en-US" sz="1100" dirty="0"/>
          </a:p>
        </p:txBody>
      </p:sp>
      <p:sp>
        <p:nvSpPr>
          <p:cNvPr id="108" name="Sources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Cost of a Data Breach 2026 (India); DPDP Rules 2025 (Rule 6), PIB; The Business Research Company; Research and Markets; Prabowo et al., IEEE Access 13 (2025).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4000" dirty="0"/>
          </a:p>
        </p:txBody>
      </p:sp>
      <p:sp>
        <p:nvSpPr>
          <p:cNvPr id="101" name="Solution Overview"/>
          <p:cNvSpPr txBox="1"/>
          <p:nvPr/>
        </p:nvSpPr>
        <p:spPr>
          <a:xfrm>
            <a:off x="45720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102" name="Solution bullets"/>
          <p:cNvSpPr txBox="1"/>
          <p:nvPr/>
        </p:nvSpPr>
        <p:spPr>
          <a:xfrm>
            <a:off x="457200" y="1216152"/>
            <a:ext cx="4114800" cy="3017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privacy gateway in front of any SQL database. It finds PII with AI and masks it per role at query time; stored data never changes.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PII discovery: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checksum validators find 20 PII types (Aadhaar, PAN, GSTIN, UPI, IFSC…) even behind misleading column names.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at the source: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is rewritten into a masked view inside the query. Admin sees all · Support 4111-XXXX-XXXX-1111 · Analyst keyed tokens · Auditor redacted; row filters per role.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Insider-threat engine: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scoring on the query stream blocks enumeration and probing.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without raw PII: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tokens keep joins working; free-text PII redacted in place.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every interface: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dashboard, security CLI, REST API + Postman suite, PostgreSQL wire proxy; audit log, integrity proof, automated PIA.</a:t>
            </a:r>
            <a:endParaRPr lang="en-US" sz="1050" dirty="0"/>
          </a:p>
        </p:txBody>
      </p:sp>
      <p:sp>
        <p:nvSpPr>
          <p:cNvPr id="103" name="Outcome 1"/>
          <p:cNvSpPr txBox="1"/>
          <p:nvPr/>
        </p:nvSpPr>
        <p:spPr>
          <a:xfrm>
            <a:off x="457200" y="4334256"/>
            <a:ext cx="1975104" cy="512064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9525">
            <a:solidFill>
              <a:srgbClr val="B9D99F"/>
            </a:solidFill>
          </a:ln>
        </p:spPr>
        <p:txBody>
          <a:bodyPr wrap="square" lIns="64008" tIns="64008" rIns="64008" bIns="64008" rtlCol="0" anchor="ctr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PII scanner</a:t>
            </a:r>
            <a:endParaRPr lang="en-US" sz="1000" dirty="0"/>
          </a:p>
          <a:p>
            <a:pPr algn="l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 tags PII_HIGH / FINANCIAL_CONFIDENTIAL</a:t>
            </a:r>
            <a:endParaRPr lang="en-US" sz="900" dirty="0"/>
          </a:p>
        </p:txBody>
      </p:sp>
      <p:sp>
        <p:nvSpPr>
          <p:cNvPr id="104" name="Outcome 2"/>
          <p:cNvSpPr txBox="1"/>
          <p:nvPr/>
        </p:nvSpPr>
        <p:spPr>
          <a:xfrm>
            <a:off x="2542032" y="4334256"/>
            <a:ext cx="1975104" cy="512064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9525">
            <a:solidFill>
              <a:srgbClr val="B9D99F"/>
            </a:solidFill>
          </a:ln>
        </p:spPr>
        <p:txBody>
          <a:bodyPr wrap="square" lIns="64008" tIns="64008" rIns="64008" bIns="64008" rtlCol="0" anchor="ctr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Masking engine</a:t>
            </a:r>
            <a:endParaRPr lang="en-US" sz="1000" dirty="0"/>
          </a:p>
          <a:p>
            <a:pPr algn="l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SQLite, PostgreSQL and MySQL; the brief asks for two</a:t>
            </a:r>
            <a:endParaRPr lang="en-US" sz="900" dirty="0"/>
          </a:p>
        </p:txBody>
      </p:sp>
      <p:sp>
        <p:nvSpPr>
          <p:cNvPr id="105" name="Outcome 3"/>
          <p:cNvSpPr txBox="1"/>
          <p:nvPr/>
        </p:nvSpPr>
        <p:spPr>
          <a:xfrm>
            <a:off x="4626864" y="4334256"/>
            <a:ext cx="1975104" cy="512064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9525">
            <a:solidFill>
              <a:srgbClr val="B9D99F"/>
            </a:solidFill>
          </a:ln>
        </p:spPr>
        <p:txBody>
          <a:bodyPr wrap="square" lIns="64008" tIns="64008" rIns="64008" bIns="64008" rtlCol="0" anchor="ctr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</a:t>
            </a:r>
            <a:endParaRPr lang="en-US" sz="1000" dirty="0"/>
          </a:p>
          <a:p>
            <a:pPr algn="l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Postman suite · dashboard with live role toggle</a:t>
            </a:r>
            <a:endParaRPr lang="en-US" sz="900" dirty="0"/>
          </a:p>
        </p:txBody>
      </p:sp>
      <p:sp>
        <p:nvSpPr>
          <p:cNvPr id="106" name="Outcome 4"/>
          <p:cNvSpPr txBox="1"/>
          <p:nvPr/>
        </p:nvSpPr>
        <p:spPr>
          <a:xfrm>
            <a:off x="6711696" y="4334256"/>
            <a:ext cx="1975104" cy="512064"/>
          </a:xfrm>
          <a:prstGeom prst="roundRect">
            <a:avLst>
              <a:gd name="adj" fmla="val 8000"/>
            </a:avLst>
          </a:prstGeom>
          <a:solidFill>
            <a:srgbClr val="E8F3E0"/>
          </a:solidFill>
          <a:ln w="9525">
            <a:solidFill>
              <a:srgbClr val="B9D99F"/>
            </a:solidFill>
          </a:ln>
        </p:spPr>
        <p:txBody>
          <a:bodyPr wrap="square" lIns="64008" tIns="64008" rIns="64008" bIns="64008" rtlCol="0" anchor="ctr">
            <a:noAutofit/>
          </a:bodyPr>
          <a:lstStyle/>
          <a:p>
            <a:pPr algn="l" marL="0" indent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Raw data intact</a:t>
            </a:r>
            <a:endParaRPr lang="en-US" sz="1000" dirty="0"/>
          </a:p>
          <a:p>
            <a:pPr algn="l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proof: table digests unchanged</a:t>
            </a:r>
            <a:endParaRPr lang="en-US" sz="900" dirty="0"/>
          </a:p>
        </p:txBody>
      </p:sp>
      <p:pic>
        <p:nvPicPr>
          <p:cNvPr id="107" name="Screenshot 107" descr="Control Room playground: the same query as Admin, Support, Analyst and Auditor"/>
          <p:cNvPicPr>
            <a:picLocks noChangeAspect="1"/>
          </p:cNvPicPr>
          <p:nvPr/>
        </p:nvPicPr>
        <p:blipFill>
          <a:blip r:embed="rIdMg1"/>
          <a:stretch>
            <a:fillRect/>
          </a:stretch>
        </p:blipFill>
        <p:spPr>
          <a:xfrm>
            <a:off x="4709160" y="914400"/>
            <a:ext cx="3977640" cy="1544214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8" name="Caption"/>
          <p:cNvSpPr txBox="1"/>
          <p:nvPr/>
        </p:nvSpPr>
        <p:spPr>
          <a:xfrm>
            <a:off x="4709160" y="2486046"/>
            <a:ext cx="3977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playground: one query, four roles, four real requests</a:t>
            </a:r>
            <a:endParaRPr lang="en-US" sz="950" dirty="0"/>
          </a:p>
        </p:txBody>
      </p:sp>
      <p:sp>
        <p:nvSpPr>
          <p:cNvPr id="109" name="Rewrite example"/>
          <p:cNvSpPr txBox="1"/>
          <p:nvPr/>
        </p:nvSpPr>
        <p:spPr>
          <a:xfrm>
            <a:off x="4709160" y="2806086"/>
            <a:ext cx="3977640" cy="14173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109728" tIns="109728" rIns="109728" bIns="10972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is rewritten</a:t>
            </a:r>
            <a:endParaRPr lang="en-US" sz="1100" dirty="0"/>
          </a:p>
          <a:p>
            <a:pPr algn="l"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SELECT email AS mail FROM users</a:t>
            </a:r>
            <a:endParaRPr lang="en-US" sz="950" dirty="0"/>
          </a:p>
          <a:p>
            <a:pPr algn="l" marL="0" indent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SELECT email AS mail FROM (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  SELECT id, mg_email(email) AS email,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    mg_partial(ssn, 0, 4) AS ssn, ...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  FROM main.users) AS users LIMIT 100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Steps &amp; Architecture</a:t>
            </a:r>
            <a:endParaRPr lang="en-US" sz="4000" dirty="0"/>
          </a:p>
        </p:txBody>
      </p:sp>
      <p:sp>
        <p:nvSpPr>
          <p:cNvPr id="101" name="Technical Implementation"/>
          <p:cNvSpPr txBox="1"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000" dirty="0"/>
          </a:p>
        </p:txBody>
      </p:sp>
      <p:sp>
        <p:nvSpPr>
          <p:cNvPr id="102" name="Steps"/>
          <p:cNvSpPr txBox="1"/>
          <p:nvPr/>
        </p:nvSpPr>
        <p:spPr>
          <a:xfrm>
            <a:off x="457200" y="1216152"/>
            <a:ext cx="4160520" cy="3630168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PostgreSQL and MySQL behind one engine, used by the Control Room, CLI, REST API, SDK and PostgreSQL wire proxy.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AI scanner samples each column; LightGBM (85 features) + checksums tag it with evidence. Unsure columns stay masked.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passwords and signed JWTs; the role only comes from the session; capabilities gate audit, policy and integrity.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risk: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engine scores each session (rules + IsolationForest) and blocks probing.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&amp; execute: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swaps every table for a masked view, applies row filters, rejects unsafe SQL, runs read-only.</a:t>
            </a:r>
            <a:endParaRPr lang="en-US" sz="1050" dirty="0"/>
          </a:p>
          <a:p>
            <a:pPr algn="l" marL="228600" indent="-228600">
              <a:spcAft>
                <a:spcPts val="4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prove: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 with request id and policy version; integrity proof shows source data unchanged; PIA for DPDP Rule 6.</a:t>
            </a:r>
            <a:endParaRPr lang="en-US" sz="1050" dirty="0"/>
          </a:p>
        </p:txBody>
      </p:sp>
      <p:sp>
        <p:nvSpPr>
          <p:cNvPr id="103" name="Tech stack"/>
          <p:cNvSpPr txBox="1"/>
          <p:nvPr/>
        </p:nvSpPr>
        <p:spPr>
          <a:xfrm>
            <a:off x="457200" y="3794760"/>
            <a:ext cx="4160520" cy="10241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  <a:p>
            <a:pPr algn="l"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sqlglot · PostgreSQL wire proxy</a:t>
            </a:r>
            <a:endParaRPr lang="en-US" sz="950" dirty="0"/>
          </a:p>
          <a:p>
            <a:pPr algn="l"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scikit-learn IsolationForest · checksums</a:t>
            </a:r>
            <a:endParaRPr lang="en-US" sz="950" dirty="0"/>
          </a:p>
          <a:p>
            <a:pPr algn="l" marL="0" indent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PostgreSQL · MySQL · JWT · HMAC-SHA256</a:t>
            </a:r>
            <a:endParaRPr lang="en-US" sz="9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&amp; QA: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Typer/Rich CLI · web dashboard · pytest · Postman · Docker</a:t>
            </a:r>
            <a:endParaRPr lang="en-US" sz="950" dirty="0"/>
          </a:p>
        </p:txBody>
      </p:sp>
      <p:sp>
        <p:nvSpPr>
          <p:cNvPr id="104" name="Architecture Diagram"/>
          <p:cNvSpPr txBox="1"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000" dirty="0"/>
          </a:p>
        </p:txBody>
      </p:sp>
      <p:sp>
        <p:nvSpPr>
          <p:cNvPr id="105" name="Control Room · CLI · API · BI tools"/>
          <p:cNvSpPr txBox="1"/>
          <p:nvPr/>
        </p:nvSpPr>
        <p:spPr>
          <a:xfrm>
            <a:off x="4846320" y="1298448"/>
            <a:ext cx="2103120" cy="475488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· CLI · API · BI tools</a:t>
            </a:r>
            <a:endParaRPr lang="en-US" sz="100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SDK or PostgreSQL wire proxy</a:t>
            </a:r>
            <a:endParaRPr lang="en-US" sz="850" dirty="0"/>
          </a:p>
        </p:txBody>
      </p:sp>
      <p:sp>
        <p:nvSpPr>
          <p:cNvPr id="106" name="Auth + threat engine"/>
          <p:cNvSpPr txBox="1"/>
          <p:nvPr/>
        </p:nvSpPr>
        <p:spPr>
          <a:xfrm>
            <a:off x="4846320" y="2011680"/>
            <a:ext cx="2103120" cy="420624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threat engine</a:t>
            </a:r>
            <a:endParaRPr lang="en-US" sz="100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role · ML risk score</a:t>
            </a:r>
            <a:endParaRPr lang="en-US" sz="850" dirty="0"/>
          </a:p>
        </p:txBody>
      </p:sp>
      <p:sp>
        <p:nvSpPr>
          <p:cNvPr id="107" name="Audit + integrity"/>
          <p:cNvSpPr txBox="1"/>
          <p:nvPr/>
        </p:nvSpPr>
        <p:spPr>
          <a:xfrm>
            <a:off x="7178040" y="2011680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integrity</a:t>
            </a:r>
            <a:endParaRPr lang="en-US" sz="100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chain · digest proof</a:t>
            </a:r>
            <a:endParaRPr lang="en-US" sz="850" dirty="0"/>
          </a:p>
        </p:txBody>
      </p:sp>
      <p:sp>
        <p:nvSpPr>
          <p:cNvPr id="108" name="Masking engine (sqlglot)"/>
          <p:cNvSpPr txBox="1"/>
          <p:nvPr/>
        </p:nvSpPr>
        <p:spPr>
          <a:xfrm>
            <a:off x="4846320" y="2670048"/>
            <a:ext cx="2103120" cy="713232"/>
          </a:xfrm>
          <a:prstGeom prst="roundRect">
            <a:avLst>
              <a:gd name="adj" fmla="val 8000"/>
            </a:avLst>
          </a:prstGeom>
          <a:solidFill>
            <a:srgbClr val="1F4788"/>
          </a:solidFill>
          <a:ln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engine (sqlglot)</a:t>
            </a:r>
            <a:endParaRPr lang="en-US" sz="100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views · row filters · firewall · row caps</a:t>
            </a:r>
            <a:endParaRPr lang="en-US" sz="850" dirty="0"/>
          </a:p>
        </p:txBody>
      </p:sp>
      <p:sp>
        <p:nvSpPr>
          <p:cNvPr id="109" name="Versioned policy"/>
          <p:cNvSpPr txBox="1"/>
          <p:nvPr/>
        </p:nvSpPr>
        <p:spPr>
          <a:xfrm>
            <a:off x="7178040" y="2670048"/>
            <a:ext cx="1508760" cy="329184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policy</a:t>
            </a:r>
            <a:endParaRPr lang="en-US" sz="1000" dirty="0"/>
          </a:p>
        </p:txBody>
      </p:sp>
      <p:sp>
        <p:nvSpPr>
          <p:cNvPr id="110" name="AI PII scanner"/>
          <p:cNvSpPr txBox="1"/>
          <p:nvPr/>
        </p:nvSpPr>
        <p:spPr>
          <a:xfrm>
            <a:off x="7178040" y="3090672"/>
            <a:ext cx="1508760" cy="1024128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PII scanner</a:t>
            </a:r>
            <a:endParaRPr lang="en-US" sz="100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worker: LightGBM + checksums → tags</a:t>
            </a:r>
            <a:endParaRPr lang="en-US" sz="850" dirty="0"/>
          </a:p>
        </p:txBody>
      </p:sp>
      <p:sp>
        <p:nvSpPr>
          <p:cNvPr id="111" name="SQLite | PostgreSQL | MySQL"/>
          <p:cNvSpPr txBox="1"/>
          <p:nvPr/>
        </p:nvSpPr>
        <p:spPr>
          <a:xfrm>
            <a:off x="4846320" y="3621024"/>
            <a:ext cx="2103120" cy="493776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9525">
            <a:solidFill>
              <a:srgbClr val="B7C6E0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| PostgreSQL | MySQL</a:t>
            </a:r>
            <a:endParaRPr lang="en-US" sz="1000" dirty="0"/>
          </a:p>
          <a:p>
            <a:pPr algn="ctr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read-only; data never modified</a:t>
            </a:r>
            <a:endParaRPr lang="en-US" sz="850" dirty="0"/>
          </a:p>
        </p:txBody>
      </p:sp>
      <p:cxnSp>
        <p:nvCxnSpPr>
          <p:cNvPr id="112" name="Arrow 112"/>
          <p:cNvCxnSpPr/>
          <p:nvPr/>
        </p:nvCxnSpPr>
        <p:spPr>
          <a:xfrm>
            <a:off x="5897880" y="1773936"/>
            <a:ext cx="0" cy="237744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3" name="Arrow 113"/>
          <p:cNvCxnSpPr/>
          <p:nvPr/>
        </p:nvCxnSpPr>
        <p:spPr>
          <a:xfrm>
            <a:off x="5897880" y="2432304"/>
            <a:ext cx="0" cy="237744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4" name="Arrow 114"/>
          <p:cNvCxnSpPr/>
          <p:nvPr/>
        </p:nvCxnSpPr>
        <p:spPr>
          <a:xfrm>
            <a:off x="5897880" y="3383280"/>
            <a:ext cx="0" cy="237744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5" name="Arrow 115"/>
          <p:cNvCxnSpPr/>
          <p:nvPr/>
        </p:nvCxnSpPr>
        <p:spPr>
          <a:xfrm>
            <a:off x="6949440" y="2221992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6" name="Arrow 116"/>
          <p:cNvCxnSpPr/>
          <p:nvPr/>
        </p:nvCxnSpPr>
        <p:spPr>
          <a:xfrm flipH="1">
            <a:off x="6949440" y="2834640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7" name="Arrow 117"/>
          <p:cNvCxnSpPr/>
          <p:nvPr/>
        </p:nvCxnSpPr>
        <p:spPr>
          <a:xfrm flipH="1">
            <a:off x="6949440" y="3246120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cxnSp>
        <p:nvCxnSpPr>
          <p:cNvPr id="118" name="Arrow 118"/>
          <p:cNvCxnSpPr/>
          <p:nvPr/>
        </p:nvCxnSpPr>
        <p:spPr>
          <a:xfrm>
            <a:off x="6949440" y="3867912"/>
            <a:ext cx="228600" cy="0"/>
          </a:xfrm>
          <a:prstGeom prst="straightConnector1">
            <a:avLst/>
          </a:prstGeom>
          <a:ln w="15875">
            <a:solidFill>
              <a:srgbClr val="1F4788"/>
            </a:solidFill>
            <a:tailEnd type="triangle" w="med" len="med"/>
          </a:ln>
        </p:spPr>
      </p:cxnSp>
      <p:sp>
        <p:nvSpPr>
          <p:cNvPr id="119" name="Diagram caption"/>
          <p:cNvSpPr txBox="1"/>
          <p:nvPr/>
        </p:nvSpPr>
        <p:spPr>
          <a:xfrm>
            <a:off x="4846320" y="4206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rows return the same way. The scanner samples the database; its tags and the policy decide each column's mask per role.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4000" dirty="0"/>
          </a:p>
        </p:txBody>
      </p:sp>
      <p:sp>
        <p:nvSpPr>
          <p:cNvPr id="101" name="Challenge 1"/>
          <p:cNvSpPr txBox="1"/>
          <p:nvPr/>
        </p:nvSpPr>
        <p:spPr>
          <a:xfrm>
            <a:off x="457200" y="84124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Finding PII when column names lie</a:t>
            </a:r>
            <a:endParaRPr lang="en-US" sz="1250" dirty="0"/>
          </a:p>
        </p:txBody>
      </p:sp>
      <p:sp>
        <p:nvSpPr>
          <p:cNvPr id="102" name="Challenge 1 detail"/>
          <p:cNvSpPr txBox="1"/>
          <p:nvPr/>
        </p:nvSpPr>
        <p:spPr>
          <a:xfrm>
            <a:off x="594360" y="1115568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mislead (contact, ref_no) and regexes mistake order numbers or OTPs for Aadhaar and pincodes.</a:t>
            </a:r>
            <a:endParaRPr lang="en-US" sz="10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on value statistics plus checksum validators; checksum hits can never be overridden, and uncertain columns are still masked for review.</a:t>
            </a:r>
            <a:endParaRPr lang="en-US" sz="1050" dirty="0"/>
          </a:p>
        </p:txBody>
      </p:sp>
      <p:sp>
        <p:nvSpPr>
          <p:cNvPr id="103" name="Rect 103"/>
          <p:cNvSpPr/>
          <p:nvPr/>
        </p:nvSpPr>
        <p:spPr>
          <a:xfrm>
            <a:off x="457200" y="2093976"/>
            <a:ext cx="4663440" cy="9144"/>
          </a:xfrm>
          <a:prstGeom prst="rect">
            <a:avLst/>
          </a:prstGeom>
          <a:solidFill>
            <a:srgbClr val="DADF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Challenge 2"/>
          <p:cNvSpPr txBox="1"/>
          <p:nvPr/>
        </p:nvSpPr>
        <p:spPr>
          <a:xfrm>
            <a:off x="457200" y="21671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Inference through filters and aggregates</a:t>
            </a:r>
            <a:endParaRPr lang="en-US" sz="1250" dirty="0"/>
          </a:p>
        </p:txBody>
      </p:sp>
      <p:sp>
        <p:nvSpPr>
          <p:cNvPr id="105" name="Challenge 2 detail"/>
          <p:cNvSpPr txBox="1"/>
          <p:nvPr/>
        </p:nvSpPr>
        <p:spPr>
          <a:xfrm>
            <a:off x="594360" y="2441448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LIKE / BETWEEN probes, ORDER BY and one-row aggregates reveal masked values without selecting them.</a:t>
            </a:r>
            <a:endParaRPr lang="en-US" sz="10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at the table source, suppress groups under 5 rows, reject unsafe SQL; the threat engine alerts within ~8 queries and blocks.</a:t>
            </a:r>
            <a:endParaRPr lang="en-US" sz="1050" dirty="0"/>
          </a:p>
        </p:txBody>
      </p:sp>
      <p:sp>
        <p:nvSpPr>
          <p:cNvPr id="106" name="Rect 106"/>
          <p:cNvSpPr/>
          <p:nvPr/>
        </p:nvSpPr>
        <p:spPr>
          <a:xfrm>
            <a:off x="457200" y="3419856"/>
            <a:ext cx="4663440" cy="9144"/>
          </a:xfrm>
          <a:prstGeom prst="rect">
            <a:avLst/>
          </a:prstGeom>
          <a:solidFill>
            <a:srgbClr val="DADF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hallenge 3"/>
          <p:cNvSpPr txBox="1"/>
          <p:nvPr/>
        </p:nvSpPr>
        <p:spPr>
          <a:xfrm>
            <a:off x="457200" y="349300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Privacy vs. usefulness for analysts</a:t>
            </a:r>
            <a:endParaRPr lang="en-US" sz="1250" dirty="0"/>
          </a:p>
        </p:txBody>
      </p:sp>
      <p:sp>
        <p:nvSpPr>
          <p:cNvPr id="108" name="Challenge 3 detail"/>
          <p:cNvSpPr txBox="1"/>
          <p:nvPr/>
        </p:nvSpPr>
        <p:spPr>
          <a:xfrm>
            <a:off x="594360" y="3767328"/>
            <a:ext cx="452628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redaction makes analytics useless; plain hashes of IDs are brute-forceable.</a:t>
            </a:r>
            <a:endParaRPr lang="en-US" sz="105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tokens keep joins working; noisy aggregates are experimental and disabled in production until an independent privacy review.</a:t>
            </a:r>
            <a:endParaRPr lang="en-US" sz="1050" dirty="0"/>
          </a:p>
        </p:txBody>
      </p:sp>
      <p:sp>
        <p:nvSpPr>
          <p:cNvPr id="109" name="Evidence panel"/>
          <p:cNvSpPr txBox="1"/>
          <p:nvPr/>
        </p:nvSpPr>
        <p:spPr>
          <a:xfrm>
            <a:off x="5349240" y="841248"/>
            <a:ext cx="3337560" cy="400507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endParaRPr lang="en-US"/>
          </a:p>
        </p:txBody>
      </p:sp>
      <p:sp>
        <p:nvSpPr>
          <p:cNvPr id="110" name="Evidence title"/>
          <p:cNvSpPr txBox="1"/>
          <p:nvPr/>
        </p:nvSpPr>
        <p:spPr>
          <a:xfrm>
            <a:off x="5486400" y="8961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</a:t>
            </a:r>
            <a:endParaRPr lang="en-US" sz="1300" dirty="0"/>
          </a:p>
        </p:txBody>
      </p:sp>
      <p:sp>
        <p:nvSpPr>
          <p:cNvPr id="111" name="PII discovery, misleading column names (F1)"/>
          <p:cNvSpPr txBox="1"/>
          <p:nvPr/>
        </p:nvSpPr>
        <p:spPr>
          <a:xfrm>
            <a:off x="5486400" y="123444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discovery, misleading column names (F1)</a:t>
            </a:r>
            <a:endParaRPr lang="en-US" sz="1050" dirty="0"/>
          </a:p>
        </p:txBody>
      </p:sp>
      <p:sp>
        <p:nvSpPr>
          <p:cNvPr id="112" name="PII discovery, misleading column names (F1) label 0"/>
          <p:cNvSpPr txBox="1"/>
          <p:nvPr/>
        </p:nvSpPr>
        <p:spPr>
          <a:xfrm>
            <a:off x="5486400" y="150876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baseline</a:t>
            </a:r>
            <a:endParaRPr lang="en-US" sz="950" dirty="0"/>
          </a:p>
        </p:txBody>
      </p:sp>
      <p:sp>
        <p:nvSpPr>
          <p:cNvPr id="113" name="Rect 113"/>
          <p:cNvSpPr/>
          <p:nvPr/>
        </p:nvSpPr>
        <p:spPr>
          <a:xfrm>
            <a:off x="6720840" y="1536192"/>
            <a:ext cx="1103608" cy="164592"/>
          </a:xfrm>
          <a:prstGeom prst="rect">
            <a:avLst/>
          </a:prstGeom>
          <a:solidFill>
            <a:srgbClr val="B8C2D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PII discovery, misleading column names (F1) value 0"/>
          <p:cNvSpPr txBox="1"/>
          <p:nvPr/>
        </p:nvSpPr>
        <p:spPr>
          <a:xfrm>
            <a:off x="7879312" y="150876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0.844</a:t>
            </a:r>
            <a:endParaRPr lang="en-US" sz="1000" dirty="0"/>
          </a:p>
        </p:txBody>
      </p:sp>
      <p:sp>
        <p:nvSpPr>
          <p:cNvPr id="115" name="PII discovery, misleading column names (F1) label 1"/>
          <p:cNvSpPr txBox="1"/>
          <p:nvPr/>
        </p:nvSpPr>
        <p:spPr>
          <a:xfrm>
            <a:off x="5486400" y="178308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 AI</a:t>
            </a:r>
            <a:endParaRPr lang="en-US" sz="950" dirty="0"/>
          </a:p>
        </p:txBody>
      </p:sp>
      <p:sp>
        <p:nvSpPr>
          <p:cNvPr id="116" name="Rect 116"/>
          <p:cNvSpPr/>
          <p:nvPr/>
        </p:nvSpPr>
        <p:spPr>
          <a:xfrm>
            <a:off x="6720840" y="1810512"/>
            <a:ext cx="1261826" cy="16459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PII discovery, misleading column names (F1) value 1"/>
          <p:cNvSpPr txBox="1"/>
          <p:nvPr/>
        </p:nvSpPr>
        <p:spPr>
          <a:xfrm>
            <a:off x="8037530" y="178308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</a:t>
            </a:r>
            <a:endParaRPr lang="en-US" sz="1000" dirty="0"/>
          </a:p>
        </p:txBody>
      </p:sp>
      <p:sp>
        <p:nvSpPr>
          <p:cNvPr id="118" name="False alarms on look-alike data"/>
          <p:cNvSpPr txBox="1"/>
          <p:nvPr/>
        </p:nvSpPr>
        <p:spPr>
          <a:xfrm>
            <a:off x="5486400" y="221284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look-alike data</a:t>
            </a:r>
            <a:endParaRPr lang="en-US" sz="1050" dirty="0"/>
          </a:p>
        </p:txBody>
      </p:sp>
      <p:sp>
        <p:nvSpPr>
          <p:cNvPr id="119" name="False alarms on look-alike data label 0"/>
          <p:cNvSpPr txBox="1"/>
          <p:nvPr/>
        </p:nvSpPr>
        <p:spPr>
          <a:xfrm>
            <a:off x="5486400" y="2487168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baseline</a:t>
            </a:r>
            <a:endParaRPr lang="en-US" sz="950" dirty="0"/>
          </a:p>
        </p:txBody>
      </p:sp>
      <p:sp>
        <p:nvSpPr>
          <p:cNvPr id="120" name="Rect 120"/>
          <p:cNvSpPr/>
          <p:nvPr/>
        </p:nvSpPr>
        <p:spPr>
          <a:xfrm>
            <a:off x="6720840" y="2514600"/>
            <a:ext cx="1161142" cy="164592"/>
          </a:xfrm>
          <a:prstGeom prst="rect">
            <a:avLst/>
          </a:prstGeom>
          <a:solidFill>
            <a:srgbClr val="B8C2D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False alarms on look-alike data value 0"/>
          <p:cNvSpPr txBox="1"/>
          <p:nvPr/>
        </p:nvSpPr>
        <p:spPr>
          <a:xfrm>
            <a:off x="7936846" y="24871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000" dirty="0"/>
          </a:p>
        </p:txBody>
      </p:sp>
      <p:sp>
        <p:nvSpPr>
          <p:cNvPr id="122" name="False alarms on look-alike data label 1"/>
          <p:cNvSpPr txBox="1"/>
          <p:nvPr/>
        </p:nvSpPr>
        <p:spPr>
          <a:xfrm>
            <a:off x="5486400" y="2761488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 AI</a:t>
            </a:r>
            <a:endParaRPr lang="en-US" sz="950" dirty="0"/>
          </a:p>
        </p:txBody>
      </p:sp>
      <p:sp>
        <p:nvSpPr>
          <p:cNvPr id="123" name="Rect 123"/>
          <p:cNvSpPr/>
          <p:nvPr/>
        </p:nvSpPr>
        <p:spPr>
          <a:xfrm>
            <a:off x="6720840" y="2788920"/>
            <a:ext cx="329513" cy="16459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False alarms on look-alike data value 1"/>
          <p:cNvSpPr txBox="1"/>
          <p:nvPr/>
        </p:nvSpPr>
        <p:spPr>
          <a:xfrm>
            <a:off x="7105217" y="276148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1000" dirty="0"/>
          </a:p>
        </p:txBody>
      </p:sp>
      <p:sp>
        <p:nvSpPr>
          <p:cNvPr id="125" name="False alarms on look-alike data note"/>
          <p:cNvSpPr txBox="1"/>
          <p:nvPr/>
        </p:nvSpPr>
        <p:spPr>
          <a:xfrm>
            <a:off x="5486400" y="303580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850" dirty="0"/>
          </a:p>
        </p:txBody>
      </p:sp>
      <p:sp>
        <p:nvSpPr>
          <p:cNvPr id="126" name="PII leaks across 17 attacks"/>
          <p:cNvSpPr txBox="1"/>
          <p:nvPr/>
        </p:nvSpPr>
        <p:spPr>
          <a:xfrm>
            <a:off x="5486400" y="3364992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leaks across 17 attacks</a:t>
            </a:r>
            <a:endParaRPr lang="en-US" sz="1050" dirty="0"/>
          </a:p>
        </p:txBody>
      </p:sp>
      <p:sp>
        <p:nvSpPr>
          <p:cNvPr id="127" name="PII leaks across 17 attacks label 0"/>
          <p:cNvSpPr txBox="1"/>
          <p:nvPr/>
        </p:nvSpPr>
        <p:spPr>
          <a:xfrm>
            <a:off x="5486400" y="363931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masking</a:t>
            </a:r>
            <a:endParaRPr lang="en-US" sz="950" dirty="0"/>
          </a:p>
        </p:txBody>
      </p:sp>
      <p:sp>
        <p:nvSpPr>
          <p:cNvPr id="128" name="Rect 128"/>
          <p:cNvSpPr/>
          <p:nvPr/>
        </p:nvSpPr>
        <p:spPr>
          <a:xfrm>
            <a:off x="6720840" y="3666744"/>
            <a:ext cx="1153758" cy="164592"/>
          </a:xfrm>
          <a:prstGeom prst="rect">
            <a:avLst/>
          </a:prstGeom>
          <a:solidFill>
            <a:srgbClr val="B8C2D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PII leaks across 17 attacks value 0"/>
          <p:cNvSpPr txBox="1"/>
          <p:nvPr/>
        </p:nvSpPr>
        <p:spPr>
          <a:xfrm>
            <a:off x="7929462" y="36393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30" name="PII leaks across 17 attacks label 1"/>
          <p:cNvSpPr txBox="1"/>
          <p:nvPr/>
        </p:nvSpPr>
        <p:spPr>
          <a:xfrm>
            <a:off x="5486400" y="3913632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9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MaskGuard</a:t>
            </a:r>
            <a:endParaRPr lang="en-US" sz="950" dirty="0"/>
          </a:p>
        </p:txBody>
      </p:sp>
      <p:sp>
        <p:nvSpPr>
          <p:cNvPr id="131" name="Rect 131"/>
          <p:cNvSpPr/>
          <p:nvPr/>
        </p:nvSpPr>
        <p:spPr>
          <a:xfrm>
            <a:off x="6720840" y="3941064"/>
            <a:ext cx="27432" cy="164592"/>
          </a:xfrm>
          <a:prstGeom prst="rect">
            <a:avLst/>
          </a:prstGeom>
          <a:solidFill>
            <a:srgbClr val="1F47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PII leaks across 17 attacks value 1"/>
          <p:cNvSpPr txBox="1"/>
          <p:nvPr/>
        </p:nvSpPr>
        <p:spPr>
          <a:xfrm>
            <a:off x="6803136" y="391363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33" name="PII leaks across 17 attacks note"/>
          <p:cNvSpPr txBox="1"/>
          <p:nvPr/>
        </p:nvSpPr>
        <p:spPr>
          <a:xfrm>
            <a:off x="5486400" y="4187952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850" dirty="0"/>
          </a:p>
        </p:txBody>
      </p:sp>
      <p:sp>
        <p:nvSpPr>
          <p:cNvPr id="134" name="Evidence source"/>
          <p:cNvSpPr txBox="1"/>
          <p:nvPr/>
        </p:nvSpPr>
        <p:spPr>
          <a:xfrm>
            <a:off x="5486400" y="446227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bharat-pii-bench (Apache-2.0): synthetic, held-out seeds, only 5 values per column (with 20 values: 0.999 and 1.5%). Attacks on PostgreSQL.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 (USP)</a:t>
            </a:r>
            <a:endParaRPr lang="en-US" sz="4000" dirty="0"/>
          </a:p>
        </p:txBody>
      </p:sp>
      <p:sp>
        <p:nvSpPr>
          <p:cNvPr id="101" name="Rect 101"/>
          <p:cNvSpPr/>
          <p:nvPr/>
        </p:nvSpPr>
        <p:spPr>
          <a:xfrm>
            <a:off x="548640" y="914400"/>
            <a:ext cx="2560320" cy="73152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I that beats the benchmark"/>
          <p:cNvSpPr txBox="1"/>
          <p:nvPr/>
        </p:nvSpPr>
        <p:spPr>
          <a:xfrm>
            <a:off x="5486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beats the benchmark</a:t>
            </a:r>
            <a:endParaRPr lang="en-US" sz="1350" dirty="0"/>
          </a:p>
        </p:txBody>
      </p:sp>
      <p:sp>
        <p:nvSpPr>
          <p:cNvPr id="103" name="AI that beats the benchmark detail"/>
          <p:cNvSpPr txBox="1"/>
          <p:nvPr/>
        </p:nvSpPr>
        <p:spPr>
          <a:xfrm>
            <a:off x="548640" y="141732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LightGBM + checksum scanner scores 0.965 F1 on an independent Indian-PII benchmark with misleading column names from just 5 sample values (baseline 0.844), and cuts false alarms from 22.2% to 6.3%.</a:t>
            </a:r>
            <a:endParaRPr lang="en-US" sz="1100" dirty="0"/>
          </a:p>
        </p:txBody>
      </p:sp>
      <p:sp>
        <p:nvSpPr>
          <p:cNvPr id="104" name="Rect 104"/>
          <p:cNvSpPr/>
          <p:nvPr/>
        </p:nvSpPr>
        <p:spPr>
          <a:xfrm>
            <a:off x="3291840" y="914400"/>
            <a:ext cx="2560320" cy="73152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Masked at the source"/>
          <p:cNvSpPr txBox="1"/>
          <p:nvPr/>
        </p:nvSpPr>
        <p:spPr>
          <a:xfrm>
            <a:off x="32918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at the source</a:t>
            </a:r>
            <a:endParaRPr lang="en-US" sz="1350" dirty="0"/>
          </a:p>
        </p:txBody>
      </p:sp>
      <p:sp>
        <p:nvSpPr>
          <p:cNvPr id="106" name="Masked at the source detail"/>
          <p:cNvSpPr txBox="1"/>
          <p:nvPr/>
        </p:nvSpPr>
        <p:spPr>
          <a:xfrm>
            <a:off x="3291840" y="141732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at the table source: 0 of 17 bypass and inference attacks leak (naive masking: 15). The threat engine catches 95–100% of simulated insider attacks, blocking no normal users.</a:t>
            </a:r>
            <a:endParaRPr lang="en-US" sz="1100" dirty="0"/>
          </a:p>
        </p:txBody>
      </p:sp>
      <p:sp>
        <p:nvSpPr>
          <p:cNvPr id="107" name="Rect 107"/>
          <p:cNvSpPr/>
          <p:nvPr/>
        </p:nvSpPr>
        <p:spPr>
          <a:xfrm>
            <a:off x="6035040" y="914400"/>
            <a:ext cx="2560320" cy="73152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Built for India and DPDP"/>
          <p:cNvSpPr txBox="1"/>
          <p:nvPr/>
        </p:nvSpPr>
        <p:spPr>
          <a:xfrm>
            <a:off x="6035040" y="10515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3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 and DPDP</a:t>
            </a:r>
            <a:endParaRPr lang="en-US" sz="1350" dirty="0"/>
          </a:p>
        </p:txBody>
      </p:sp>
      <p:sp>
        <p:nvSpPr>
          <p:cNvPr id="109" name="Built for India and DPDP detail"/>
          <p:cNvSpPr txBox="1"/>
          <p:nvPr/>
        </p:nvSpPr>
        <p:spPr>
          <a:xfrm>
            <a:off x="6035040" y="1417320"/>
            <a:ext cx="2560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Autofit/>
          </a:bodyPr>
          <a:lstStyle/>
          <a:p>
            <a:pPr algn="l" marL="0" indent="0"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GSTIN, UPI, IFSC, EPIC and Devanagari names; keyed tokens; one-year tamper-evident audit and an automated PIA mapped to DPDP Rule 6.</a:t>
            </a:r>
            <a:endParaRPr lang="en-US" sz="1100" dirty="0"/>
          </a:p>
        </p:txBody>
      </p:sp>
      <p:sp>
        <p:nvSpPr>
          <p:cNvPr id="110" name="Proof 1"/>
          <p:cNvSpPr txBox="1"/>
          <p:nvPr/>
        </p:nvSpPr>
        <p:spPr>
          <a:xfrm>
            <a:off x="5486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with misleading headers</a:t>
            </a:r>
            <a:endParaRPr lang="en-US" sz="1000" dirty="0"/>
          </a:p>
        </p:txBody>
      </p:sp>
      <p:sp>
        <p:nvSpPr>
          <p:cNvPr id="111" name="Proof 2"/>
          <p:cNvSpPr txBox="1"/>
          <p:nvPr/>
        </p:nvSpPr>
        <p:spPr>
          <a:xfrm>
            <a:off x="26060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17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leaks in attack suite</a:t>
            </a:r>
            <a:endParaRPr lang="en-US" sz="1000" dirty="0"/>
          </a:p>
        </p:txBody>
      </p:sp>
      <p:sp>
        <p:nvSpPr>
          <p:cNvPr id="112" name="Proof 3"/>
          <p:cNvSpPr txBox="1"/>
          <p:nvPr/>
        </p:nvSpPr>
        <p:spPr>
          <a:xfrm>
            <a:off x="46634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95–100%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attacks caught</a:t>
            </a:r>
            <a:endParaRPr lang="en-US" sz="1000" dirty="0"/>
          </a:p>
        </p:txBody>
      </p:sp>
      <p:sp>
        <p:nvSpPr>
          <p:cNvPr id="113" name="Proof 4"/>
          <p:cNvSpPr txBox="1"/>
          <p:nvPr/>
        </p:nvSpPr>
        <p:spPr>
          <a:xfrm>
            <a:off x="6720840" y="2651760"/>
            <a:ext cx="192024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 + 121</a:t>
            </a:r>
            <a:endParaRPr lang="en-US" sz="1800" dirty="0"/>
          </a:p>
          <a:p>
            <a:pPr algn="ctr" marL="0" indent="0">
              <a:spcAft>
                <a:spcPts val="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API checks pass, 3 DBs</a:t>
            </a:r>
            <a:endParaRPr lang="en-US" sz="1000" dirty="0"/>
          </a:p>
        </p:txBody>
      </p:sp>
      <p:sp>
        <p:nvSpPr>
          <p:cNvPr id="114" name="Competitive Advantage Summary"/>
          <p:cNvSpPr txBox="1"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Summary</a:t>
            </a:r>
            <a:endParaRPr lang="en-US" sz="2000" dirty="0"/>
          </a:p>
        </p:txBody>
      </p:sp>
      <p:sp>
        <p:nvSpPr>
          <p:cNvPr id="115" name="Advantages"/>
          <p:cNvSpPr txBox="1"/>
          <p:nvPr/>
        </p:nvSpPr>
        <p:spPr>
          <a:xfrm>
            <a:off x="548640" y="3767328"/>
            <a:ext cx="8138160" cy="1143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228600" indent="-228600">
              <a:spcAft>
                <a:spcPts val="1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native dynamic masking: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sorting there still run on real values; here they never see them.</a:t>
            </a:r>
            <a:endParaRPr lang="en-US" sz="1050" dirty="0"/>
          </a:p>
          <a:p>
            <a:pPr algn="l" marL="228600" indent="-228600">
              <a:spcAft>
                <a:spcPts val="1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text PII tools (Presidio, pii-masker):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find PII in text but do not enforce per-role access in the database at query time.</a:t>
            </a:r>
            <a:endParaRPr lang="en-US" sz="1050" dirty="0"/>
          </a:p>
          <a:p>
            <a:pPr algn="l" marL="228600" indent="-228600">
              <a:spcAft>
                <a:spcPts val="1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PostgreSQL Anonymizer: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one engine; MaskGuard applies one policy across databases and BI tools.</a:t>
            </a:r>
            <a:endParaRPr lang="en-US" sz="1050" dirty="0"/>
          </a:p>
          <a:p>
            <a:pPr algn="l" marL="228600" indent="-228600">
              <a:spcAft>
                <a:spcPts val="1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promised: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 automated tests and 121 Postman assertions pass on SQLite, PostgreSQL and MySQL; ~8 ms added per query.</a:t>
            </a:r>
            <a:endParaRPr lang="en-US" sz="1050" dirty="0"/>
          </a:p>
          <a:p>
            <a:pPr algn="l" marL="228600" indent="-228600">
              <a:spcAft>
                <a:spcPts val="100"/>
              </a:spcAft>
              <a:buClr>
                <a:srgbClr val="1F4788"/>
              </a:buClr>
              <a:buFont typeface="Arial"/>
              <a:buChar char="•"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today: </a:t>
            </a: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Docker demo, a production profile that refuses unsafe settings (read-only DB account, TLS), drop-in for PostgreSQL clients; policy is a reviewed YAML file.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7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POC Video</a:t>
            </a:r>
            <a:endParaRPr lang="en-US" sz="4000" dirty="0"/>
          </a:p>
        </p:txBody>
      </p:sp>
      <p:sp>
        <p:nvSpPr>
          <p:cNvPr id="101" name="Live Demonstration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000" dirty="0"/>
          </a:p>
        </p:txBody>
      </p:sp>
      <p:pic>
        <p:nvPicPr>
          <p:cNvPr id="102" name="Screenshot 102" descr="maskguard CLI: branded console with live engine health checks"/>
          <p:cNvPicPr>
            <a:picLocks noChangeAspect="1"/>
          </p:cNvPicPr>
          <p:nvPr/>
        </p:nvPicPr>
        <p:blipFill>
          <a:blip r:embed="rIdMg1"/>
          <a:stretch>
            <a:fillRect/>
          </a:stretch>
        </p:blipFill>
        <p:spPr>
          <a:xfrm>
            <a:off x="457200" y="1243584"/>
            <a:ext cx="4206240" cy="1559387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pic>
        <p:nvPicPr>
          <p:cNvPr id="103" name="Screenshot 103" descr="Integrity proof: same query as four roles, digest unchanged"/>
          <p:cNvPicPr>
            <a:picLocks noChangeAspect="1"/>
          </p:cNvPicPr>
          <p:nvPr/>
        </p:nvPicPr>
        <p:blipFill>
          <a:blip r:embed="rIdMg2"/>
          <a:stretch>
            <a:fillRect/>
          </a:stretch>
        </p:blipFill>
        <p:spPr>
          <a:xfrm>
            <a:off x="457200" y="2912699"/>
            <a:ext cx="4206240" cy="1190791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4" name="Caption"/>
          <p:cNvSpPr txBox="1"/>
          <p:nvPr/>
        </p:nvSpPr>
        <p:spPr>
          <a:xfrm>
            <a:off x="457200" y="4130921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health checks (top) · integrity proof: digest unchanged after 4 roles (bottom)</a:t>
            </a:r>
            <a:endParaRPr lang="en-US" sz="900" dirty="0"/>
          </a:p>
        </p:txBody>
      </p:sp>
      <p:sp>
        <p:nvSpPr>
          <p:cNvPr id="105" name="Demo steps"/>
          <p:cNvSpPr txBox="1"/>
          <p:nvPr/>
        </p:nvSpPr>
        <p:spPr>
          <a:xfrm>
            <a:off x="4937760" y="1216152"/>
            <a:ext cx="3749040" cy="1783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20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health checks, PII scan, one query as four roles</a:t>
            </a:r>
            <a:endParaRPr lang="en-US" sz="10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suite (SQLite): naive 14/17 leaks, MaskGuard 0/17</a:t>
            </a:r>
            <a:endParaRPr lang="en-US" sz="10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attack blocked live; source data proven unchanged</a:t>
            </a:r>
            <a:endParaRPr lang="en-US" sz="10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Room: playground, discovery, policy, audit, API</a:t>
            </a:r>
            <a:endParaRPr lang="en-US" sz="10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on PostgreSQL: unsafe setup refused, D11, 403s</a:t>
            </a:r>
            <a:endParaRPr lang="en-US" sz="1050" dirty="0"/>
          </a:p>
          <a:p>
            <a:pPr algn="l" marL="228600" indent="-228600">
              <a:spcAft>
                <a:spcPts val="300"/>
              </a:spcAft>
              <a:buClr>
                <a:srgbClr val="1F4788"/>
              </a:buClr>
              <a:buFont typeface="Calibri"/>
              <a:buAutoNum type="arabicPeriod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review: DP gaps as tests, protocol frozen for review</a:t>
            </a:r>
            <a:endParaRPr lang="en-US" sz="1050" dirty="0"/>
          </a:p>
        </p:txBody>
      </p:sp>
      <p:sp>
        <p:nvSpPr>
          <p:cNvPr id="106" name="Run box"/>
          <p:cNvSpPr txBox="1"/>
          <p:nvPr/>
        </p:nvSpPr>
        <p:spPr>
          <a:xfrm>
            <a:off x="4937760" y="3108960"/>
            <a:ext cx="3749040" cy="13258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</a:t>
            </a:r>
            <a:r>
              <a:rPr lang="en-US" sz="1000" dirty="0">
                <a:solidFill>
                  <a:srgbClr val="2D2D2D"/>
                </a:solidFill>
                <a:latin typeface="Courier New" pitchFamily="49" charset="0"/>
                <a:cs typeface="Courier New" pitchFamily="49" charset="0"/>
              </a:rPr>
              <a:t>uv run maskguard</a:t>
            </a:r>
            <a:endParaRPr lang="en-US" sz="105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:8000/ui · API :8000/docs · psql :6543</a:t>
            </a:r>
            <a:endParaRPr lang="en-US" sz="1050" dirty="0"/>
          </a:p>
          <a:p>
            <a:pPr algn="l"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(8 min, captioned): </a:t>
            </a:r>
            <a:r>
              <a:rPr lang="en-US" sz="1050" u="sng" dirty="0">
                <a:solidFill>
                  <a:srgbClr val="0B66C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Vid"/>
              </a:rPr>
              <a:t>Watch on GitHub</a:t>
            </a:r>
            <a:endParaRPr lang="en-US" sz="1050" dirty="0"/>
          </a:p>
          <a:p>
            <a:pPr algn="l"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https://github.com/hotaro6754/mask/blob/claude/zealous-bell-me62fn/docs/demo_full.mp4</a:t>
            </a:r>
            <a:endParaRPr lang="en-US" sz="800" dirty="0"/>
          </a:p>
          <a:p>
            <a:pPr algn="l" marL="0" indent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4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r>
              <a:rPr lang="en-US" sz="1050" u="sng" dirty="0">
                <a:solidFill>
                  <a:srgbClr val="0B66C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Repo"/>
              </a:rPr>
              <a:t>github.com/hotaro6754/mask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Application>Microsoft Office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Guest User</cp:lastModifiedBy>
  <cp:revision>3</cp:revision>
  <dcterms:created xsi:type="dcterms:W3CDTF">2026-08-06T14:25:19Z</dcterms:created>
  <dcterms:modified xsi:type="dcterms:W3CDTF">2026-10-08T12:28:30Z</dcterms:modified>
</cp:coreProperties>
</file>