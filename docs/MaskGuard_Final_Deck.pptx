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5554181-d31e-82c7-cb19-0db2ff9c90f9}">
          <p14:sldIdLst>
            <p14:sldId id="256"/>
          </p14:sldIdLst>
        </p14:section>
        <p14:section name="Problem" id="{584d2958-9f9c-5178-42c4-acc1173701a5}">
          <p14:sldIdLst>
            <p14:sldId id="257"/>
          </p14:sldIdLst>
        </p14:section>
        <p14:section name="Solution" id="{e9ec87a6-75f3-b8db-df22-03dda84001d1}">
          <p14:sldIdLst>
            <p14:sldId id="258"/>
          </p14:sldIdLst>
        </p14:section>
        <p14:section name="Architecture" id="{9da5b2f5-e1bd-fa22-c4c2-a0f20ca24405}">
          <p14:sldIdLst>
            <p14:sldId id="259"/>
          </p14:sldIdLst>
        </p14:section>
        <p14:section name="Role of AI" id="{4b6e2446-d35d-bf5c-2fb8-05fc16a44b0d}">
          <p14:sldIdLst>
            <p14:sldId id="260"/>
          </p14:sldIdLst>
        </p14:section>
        <p14:section name="Demo" id="{f0039598-d1f4-20e6-c62c-3c23162d56c6}">
          <p14:sldIdLst>
            <p14:sldId id="261"/>
            <p14:sldId id="262"/>
          </p14:sldIdLst>
        </p14:section>
        <p14:section name="Proof" id="{6d5cc329-7e00-5775-2d0f-bf5ed42c735d}">
          <p14:sldIdLst>
            <p14:sldId id="263"/>
          </p14:sldIdLst>
        </p14:section>
        <p14:section name="Differentiators" id="{e807eb40-44d0-2480-295b-ef59dca9d0a7}">
          <p14:sldIdLst>
            <p14:sldId id="264"/>
          </p14:sldIdLst>
        </p14:section>
        <p14:section name="Close" id="{83796ef7-513b-4b50-948e-5377c29ea5fc}">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One sentence, then move on: 'MaskGuard makes sure every bank employee sees what their job needs and nothing more. It finds the personal data by itself, hides it inside every query, and proves nothing leaked. We tested it on your Saffron Bank data — with your users — on all three databases.'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[0:30–2:00 · Parameter 1: problem understanding] Tell Ravi's story in 20 seconds. Then the two problems, both seen in the organisers' own data: col_7 holds PANs; phones hide inside Hinglish notes; and screen-only masking still answers a guessed PAN. Close with why now: ₹22 crore per breach (IBM 2025), DPDP penalties up to ₹250 crore, obligations from May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[2:00–3:00] Keep it to one picture. Everyone — dashboard, command line, BI tools — goes through one gate. The gate finds the personal columns, labels them, hides them per role inside the query, and logs everything. The database is never copied or changed. Then the example, with real values from Saffron Bank: admin sees the PAN, support sees OFXXXXXXXG, analyst sees a code. And the punchline: if support searches for the real PAN, they get 0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[3:00–4:30 · Parameter 2: architecture and tech stack, long term vs short-term shortcuts] Read the top row left to right: every tool goes through login, a safety check, and the query rewrite — the database only ever returns masked values to non-admins. Bottom row: the scanner suggests labels, a person approves, the policy file says who sees what, and every query is logged without values. Long-term choices: one gate, real SQL parsing (sqlglot), masks inside the database, safe by default. Shortcuts we refused: regex rewriting, screen-only masking, data copies, default passwords.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[4:30–6:00 · Parameter 3: role of AI — deliberate, not decorative] 'We used AI exactly where rules fail.' Point at col_7 in the screenshot: the column name says nothing, the AI read the values and said PAN. Rules first (checksums are certain), then the AI model, then a person approves. Evidence: 0.999 vs 0.844 on the external bharat-pii-bench benchmark, unseen data, misleading column names. And deliberately NOT AI: the decision of who sees what is a fixed policy — explainable and testable. We also used AI coding assistants to build faster, with every change gated by 1,235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[6:00–8:00 · Parameter 5: demo, part 1 — the dashboard] Live: open the Control Room, sign in as support_ravi, run the customer query in the Masking playground; show 'Why each field looks the way it does'. Sign out, sign in as analyst_kavya, run again. If the live demo stalls, this slide is the fallback — it is a real capture. Say the one-liners on the right,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[8:00–9:30 · Parameter 5: demo, part 2 — the command line] Live: maskguard compare with the same customer query for the three users; then, as support_ravi, search for a real PAN → 0 rows; then try an UPDATE → refused; then maskguard integrity proof. The point: the dashboard and the command line are two doors to the same engine, so the answer never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[9:30–11:00 · Parameter 4: completeness — functional, not a prototype] Read the two dark tiles first: 35 of 35 found, 0 leaked. Then the four light ones in one breath. Be open about the first try: 22 of 35 — nothing leaked, unfound columns stay hidden by default — and we fixed general causes (banking abbreviations, IDs that fail their checksums), then checked the external benchmark did not get worse. Full write-up: docs/SAFFRON_VALIDATION.md.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[11:00–12:00] Many teams in this problem use encryption or quantum-safe ideas. Be respectful: that work protects data from outsiders and it matters. But it answers a different question. Once the bank's own app decrypts the data, every employee sees everything. MaskGuard answers 'what should this employee see' — and it works alongside any encryption. Walk the grid by rows: only MaskGuard finds the data by itself, gives each role its own view, stops guess-the-value searches, and never copies the data. Then the market in one breath: $1.47B → $2.6B by 2030, DPDP from May 2027, and our first buyers are the banks that can't pay six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[12:00–12:30] Close: what works today, the limits we state ourselves, the next 90 days. Last line, slowly: 'Finds it. Hides it. Proves it.' Then: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B1D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188720"/>
          </a:xfrm>
          <a:prstGeom prst="rect">
            <a:avLst/>
          </a:prstGeom>
          <a:noFill/>
          <a:ln/>
        </p:spPr>
        <p:txBody>
          <a:bodyPr wrap="square" rtlCol="0"/>
          <a:lstStyle>
            <a:lvl1pPr algn="l" indent="0" marL="0">
              <a:buNone/>
              <a:defRPr lang="en-US" sz="6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6000" dirty="0"/>
          </a:p>
        </p:txBody>
      </p:sp>
      <p:sp>
        <p:nvSpPr>
          <p:cNvPr id="3" name="Text 0"/>
          <p:cNvSpPr/>
          <p:nvPr>
            <p:ph idx="101" type="body" hasCustomPrompt="1"/>
          </p:nvPr>
        </p:nvSpPr>
        <p:spPr>
          <a:xfrm>
            <a:off x="731520" y="3063240"/>
            <a:ext cx="10698480" cy="731520"/>
          </a:xfrm>
          <a:prstGeom prst="rect">
            <a:avLst/>
          </a:prstGeom>
          <a:noFill/>
          <a:ln/>
        </p:spPr>
        <p:txBody>
          <a:bodyPr wrap="square" rtlCol="0"/>
          <a:lstStyle>
            <a:lvl1pPr algn="l" indent="0" marL="0">
              <a:buNone/>
              <a:defRPr lang="en-US" sz="2600" dirty="0">
                <a:solidFill>
                  <a:schemeClr val="bg2"/>
                </a:solidFill>
              </a:defRPr>
            </a:lvl1pPr>
          </a:lstStyle>
          <a:p>
            <a:pPr algn="l"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46520"/>
            <a:ext cx="8686800" cy="274320"/>
          </a:xfrm>
          <a:prstGeom prst="rect">
            <a:avLst/>
          </a:prstGeom>
          <a:noFill/>
          <a:ln/>
        </p:spPr>
        <p:txBody>
          <a:bodyPr wrap="square" rtlCol="0" anchor="ctr"/>
          <a:lstStyle/>
          <a:p>
            <a:pPr indent="0" marL="0">
              <a:buNone/>
            </a:pPr>
            <a:r>
              <a:rPr lang="en-US" sz="1000" dirty="0">
                <a:solidFill>
                  <a:schemeClr val="accent3"/>
                </a:solidFill>
              </a:rPr>
              <a:t>MaskGuard · TalentAP Mega Hackathon 2026 · Problem B1 · Smart Data Masking for PII</a:t>
            </a:r>
            <a:endParaRPr lang="en-US" sz="10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rgbClr val="0B1D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slideLayout" Target="../slideLayouts/slideLayout3.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slideLayout" Target="../slideLayouts/slideLayout3.xml"/><Relationship Id="rId1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188720"/>
            <a:ext cx="10698480" cy="365760"/>
          </a:xfrm>
          <a:prstGeom prst="rect">
            <a:avLst/>
          </a:prstGeom>
          <a:noFill/>
          <a:ln/>
        </p:spPr>
        <p:txBody>
          <a:bodyPr wrap="square" lIns="0" tIns="0" rIns="0" bIns="0" rtlCol="0" anchor="ctr"/>
          <a:lstStyle/>
          <a:p>
            <a:pPr indent="0" marL="0">
              <a:buNone/>
            </a:pPr>
            <a:r>
              <a:rPr lang="en-US" sz="1400" b="1" spc="200" kern="0" dirty="0">
                <a:solidFill>
                  <a:srgbClr val="D97706"/>
                </a:solidFill>
                <a:latin typeface="Calibri" pitchFamily="34" charset="0"/>
                <a:ea typeface="Calibri" pitchFamily="34" charset="-122"/>
                <a:cs typeface="Calibri" pitchFamily="34" charset="-120"/>
              </a:rPr>
              <a:t>TALENTAP MEGA HACKATHON 2026  ·  PROBLEM B1  ·  SMART DATA MASKING FOR PII</a:t>
            </a:r>
            <a:endParaRPr lang="en-US" sz="1400" dirty="0"/>
          </a:p>
        </p:txBody>
      </p:sp>
      <p:sp>
        <p:nvSpPr>
          <p:cNvPr id="3" name="Text 0"/>
          <p:cNvSpPr/>
          <p:nvPr>
            <p:ph idx="100" type="title" hasCustomPrompt="1"/>
          </p:nvPr>
        </p:nvSpPr>
        <p:spPr>
          <a:xfrm>
            <a:off x="731520" y="1828800"/>
            <a:ext cx="10698480" cy="1188720"/>
          </a:xfrm>
          <a:prstGeom prst="rect">
            <a:avLst/>
          </a:prstGeom>
          <a:noFill/>
          <a:ln/>
        </p:spPr>
        <p:txBody>
          <a:bodyPr wrap="square" rtlCol="0" anchor="ctr"/>
          <a:lstStyle/>
          <a:p>
            <a:pPr algn="l" indent="0" marL="0">
              <a:buNone/>
            </a:pPr>
            <a:r>
              <a:rPr lang="en-US" sz="6000" b="1" dirty="0">
                <a:solidFill>
                  <a:srgbClr val="FFFFFF"/>
                </a:solidFill>
                <a:latin typeface="Cambria" pitchFamily="34" charset="0"/>
                <a:ea typeface="Cambria" pitchFamily="34" charset="-122"/>
                <a:cs typeface="Cambria" pitchFamily="34" charset="-120"/>
              </a:rPr>
              <a:t>Mask</a:t>
            </a:r>
            <a:pPr algn="l" indent="0" marL="0">
              <a:buNone/>
            </a:pPr>
            <a:r>
              <a:rPr lang="en-US" sz="6000" b="1" dirty="0">
                <a:solidFill>
                  <a:srgbClr val="D97706"/>
                </a:solidFill>
                <a:latin typeface="Cambria" pitchFamily="34" charset="0"/>
                <a:ea typeface="Cambria" pitchFamily="34" charset="-122"/>
                <a:cs typeface="Cambria" pitchFamily="34" charset="-120"/>
              </a:rPr>
              <a:t>Guard</a:t>
            </a:r>
            <a:endParaRPr lang="en-US" sz="6000" dirty="0"/>
          </a:p>
        </p:txBody>
      </p:sp>
      <p:sp>
        <p:nvSpPr>
          <p:cNvPr id="4" name="Text 0"/>
          <p:cNvSpPr/>
          <p:nvPr>
            <p:ph idx="101" type="body" hasCustomPrompt="1"/>
          </p:nvPr>
        </p:nvSpPr>
        <p:spPr>
          <a:xfrm>
            <a:off x="731520" y="3063240"/>
            <a:ext cx="10698480" cy="731520"/>
          </a:xfrm>
          <a:prstGeom prst="rect">
            <a:avLst/>
          </a:prstGeom>
          <a:noFill/>
          <a:ln/>
        </p:spPr>
        <p:txBody>
          <a:bodyPr wrap="square" rtlCol="0" anchor="t"/>
          <a:lstStyle/>
          <a:p>
            <a:pPr algn="l" indent="0" marL="0">
              <a:buNone/>
            </a:pPr>
            <a:r>
              <a:rPr lang="en-US" sz="2600" dirty="0">
                <a:solidFill>
                  <a:schemeClr val="bg2"/>
                </a:solidFill>
              </a:rPr>
              <a:t>Every bank employee sees what their job needs. Nothing more.</a:t>
            </a:r>
            <a:endParaRPr lang="en-US" sz="2600" dirty="0"/>
          </a:p>
        </p:txBody>
      </p:sp>
      <p:sp>
        <p:nvSpPr>
          <p:cNvPr id="5" name="pillar Finds"/>
          <p:cNvSpPr/>
          <p:nvPr/>
        </p:nvSpPr>
        <p:spPr>
          <a:xfrm>
            <a:off x="731520" y="4160520"/>
            <a:ext cx="3383280" cy="1051560"/>
          </a:xfrm>
          <a:prstGeom prst="roundRect">
            <a:avLst>
              <a:gd name="adj" fmla="val 6957"/>
            </a:avLst>
          </a:prstGeom>
          <a:solidFill>
            <a:srgbClr val="13294B"/>
          </a:solidFill>
          <a:ln w="9525">
            <a:solidFill>
              <a:srgbClr val="1E3A5F"/>
            </a:solidFill>
            <a:prstDash val="solid"/>
          </a:ln>
        </p:spPr>
      </p:sp>
      <p:sp>
        <p:nvSpPr>
          <p:cNvPr id="6" name="Finds circle"/>
          <p:cNvSpPr/>
          <p:nvPr/>
        </p:nvSpPr>
        <p:spPr>
          <a:xfrm>
            <a:off x="932688" y="4343400"/>
            <a:ext cx="685800" cy="685800"/>
          </a:xfrm>
          <a:prstGeom prst="ellipse">
            <a:avLst/>
          </a:prstGeom>
          <a:solidFill>
            <a:srgbClr val="D97706"/>
          </a:solidFill>
          <a:ln w="12700">
            <a:solidFill>
              <a:srgbClr val="D97706"/>
            </a:solidFill>
            <a:prstDash val="solid"/>
          </a:ln>
        </p:spPr>
      </p:sp>
      <p:pic>
        <p:nvPicPr>
          <p:cNvPr id="7" name="Finds icon" descr="Finds">    </p:cNvPr>
          <p:cNvPicPr>
            <a:picLocks noChangeAspect="1"/>
          </p:cNvPicPr>
          <p:nvPr/>
        </p:nvPicPr>
        <p:blipFill>
          <a:blip r:embed="rId1"/>
          <a:stretch>
            <a:fillRect/>
          </a:stretch>
        </p:blipFill>
        <p:spPr>
          <a:xfrm>
            <a:off x="1104138" y="4514850"/>
            <a:ext cx="342900" cy="342900"/>
          </a:xfrm>
          <a:prstGeom prst="rect">
            <a:avLst/>
          </a:prstGeom>
        </p:spPr>
      </p:pic>
      <p:sp>
        <p:nvSpPr>
          <p:cNvPr id="8" name="Text 5"/>
          <p:cNvSpPr txBox="1"/>
          <p:nvPr/>
        </p:nvSpPr>
        <p:spPr>
          <a:xfrm>
            <a:off x="1783080" y="4279392"/>
            <a:ext cx="224028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Finds</a:t>
            </a:r>
            <a:endParaRPr lang="en-US" sz="2400" dirty="0"/>
          </a:p>
        </p:txBody>
      </p:sp>
      <p:sp>
        <p:nvSpPr>
          <p:cNvPr id="9" name="Text 6"/>
          <p:cNvSpPr txBox="1"/>
          <p:nvPr/>
        </p:nvSpPr>
        <p:spPr>
          <a:xfrm>
            <a:off x="1783080" y="4709160"/>
            <a:ext cx="2240280" cy="365760"/>
          </a:xfrm>
          <a:prstGeom prst="rect">
            <a:avLst/>
          </a:prstGeom>
          <a:noFill/>
          <a:ln/>
        </p:spPr>
        <p:txBody>
          <a:bodyPr wrap="square" lIns="0" tIns="0" rIns="0" bIns="0" rtlCol="0" anchor="ctr"/>
          <a:lstStyle/>
          <a:p>
            <a:pPr indent="0" marL="0">
              <a:buNone/>
            </a:pPr>
            <a:r>
              <a:rPr lang="en-US" sz="1500" dirty="0">
                <a:solidFill>
                  <a:srgbClr val="CBD5E1"/>
                </a:solidFill>
                <a:latin typeface="Calibri" pitchFamily="34" charset="0"/>
                <a:ea typeface="Calibri" pitchFamily="34" charset="-122"/>
                <a:cs typeface="Calibri" pitchFamily="34" charset="-120"/>
              </a:rPr>
              <a:t>personal data by itself</a:t>
            </a:r>
            <a:endParaRPr lang="en-US" sz="1500" dirty="0"/>
          </a:p>
        </p:txBody>
      </p:sp>
      <p:sp>
        <p:nvSpPr>
          <p:cNvPr id="10" name="pillar Hides"/>
          <p:cNvSpPr/>
          <p:nvPr/>
        </p:nvSpPr>
        <p:spPr>
          <a:xfrm>
            <a:off x="4343400" y="4160520"/>
            <a:ext cx="3383280" cy="1051560"/>
          </a:xfrm>
          <a:prstGeom prst="roundRect">
            <a:avLst>
              <a:gd name="adj" fmla="val 6957"/>
            </a:avLst>
          </a:prstGeom>
          <a:solidFill>
            <a:srgbClr val="13294B"/>
          </a:solidFill>
          <a:ln w="9525">
            <a:solidFill>
              <a:srgbClr val="1E3A5F"/>
            </a:solidFill>
            <a:prstDash val="solid"/>
          </a:ln>
        </p:spPr>
      </p:sp>
      <p:sp>
        <p:nvSpPr>
          <p:cNvPr id="11" name="Hides circle"/>
          <p:cNvSpPr/>
          <p:nvPr/>
        </p:nvSpPr>
        <p:spPr>
          <a:xfrm>
            <a:off x="4544568" y="4343400"/>
            <a:ext cx="685800" cy="685800"/>
          </a:xfrm>
          <a:prstGeom prst="ellipse">
            <a:avLst/>
          </a:prstGeom>
          <a:solidFill>
            <a:srgbClr val="D97706"/>
          </a:solidFill>
          <a:ln w="12700">
            <a:solidFill>
              <a:srgbClr val="D97706"/>
            </a:solidFill>
            <a:prstDash val="solid"/>
          </a:ln>
        </p:spPr>
      </p:sp>
      <p:pic>
        <p:nvPicPr>
          <p:cNvPr id="12" name="Hides icon" descr="Hides">    </p:cNvPr>
          <p:cNvPicPr>
            <a:picLocks noChangeAspect="1"/>
          </p:cNvPicPr>
          <p:nvPr/>
        </p:nvPicPr>
        <p:blipFill>
          <a:blip r:embed="rId2"/>
          <a:stretch>
            <a:fillRect/>
          </a:stretch>
        </p:blipFill>
        <p:spPr>
          <a:xfrm>
            <a:off x="4716018" y="4514850"/>
            <a:ext cx="342900" cy="342900"/>
          </a:xfrm>
          <a:prstGeom prst="rect">
            <a:avLst/>
          </a:prstGeom>
        </p:spPr>
      </p:pic>
      <p:sp>
        <p:nvSpPr>
          <p:cNvPr id="13" name="Text 9"/>
          <p:cNvSpPr txBox="1"/>
          <p:nvPr/>
        </p:nvSpPr>
        <p:spPr>
          <a:xfrm>
            <a:off x="5394960" y="4279392"/>
            <a:ext cx="224028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Hides</a:t>
            </a:r>
            <a:endParaRPr lang="en-US" sz="2400" dirty="0"/>
          </a:p>
        </p:txBody>
      </p:sp>
      <p:sp>
        <p:nvSpPr>
          <p:cNvPr id="14" name="Text 10"/>
          <p:cNvSpPr txBox="1"/>
          <p:nvPr/>
        </p:nvSpPr>
        <p:spPr>
          <a:xfrm>
            <a:off x="5394960" y="4709160"/>
            <a:ext cx="2240280" cy="365760"/>
          </a:xfrm>
          <a:prstGeom prst="rect">
            <a:avLst/>
          </a:prstGeom>
          <a:noFill/>
          <a:ln/>
        </p:spPr>
        <p:txBody>
          <a:bodyPr wrap="square" lIns="0" tIns="0" rIns="0" bIns="0" rtlCol="0" anchor="ctr"/>
          <a:lstStyle/>
          <a:p>
            <a:pPr indent="0" marL="0">
              <a:buNone/>
            </a:pPr>
            <a:r>
              <a:rPr lang="en-US" sz="1500" dirty="0">
                <a:solidFill>
                  <a:srgbClr val="CBD5E1"/>
                </a:solidFill>
                <a:latin typeface="Calibri" pitchFamily="34" charset="0"/>
                <a:ea typeface="Calibri" pitchFamily="34" charset="-122"/>
                <a:cs typeface="Calibri" pitchFamily="34" charset="-120"/>
              </a:rPr>
              <a:t>it inside every query</a:t>
            </a:r>
            <a:endParaRPr lang="en-US" sz="1500" dirty="0"/>
          </a:p>
        </p:txBody>
      </p:sp>
      <p:sp>
        <p:nvSpPr>
          <p:cNvPr id="15" name="pillar Proves"/>
          <p:cNvSpPr/>
          <p:nvPr/>
        </p:nvSpPr>
        <p:spPr>
          <a:xfrm>
            <a:off x="7955280" y="4160520"/>
            <a:ext cx="3383280" cy="1051560"/>
          </a:xfrm>
          <a:prstGeom prst="roundRect">
            <a:avLst>
              <a:gd name="adj" fmla="val 6957"/>
            </a:avLst>
          </a:prstGeom>
          <a:solidFill>
            <a:srgbClr val="13294B"/>
          </a:solidFill>
          <a:ln w="9525">
            <a:solidFill>
              <a:srgbClr val="1E3A5F"/>
            </a:solidFill>
            <a:prstDash val="solid"/>
          </a:ln>
        </p:spPr>
      </p:sp>
      <p:sp>
        <p:nvSpPr>
          <p:cNvPr id="16" name="Proves circle"/>
          <p:cNvSpPr/>
          <p:nvPr/>
        </p:nvSpPr>
        <p:spPr>
          <a:xfrm>
            <a:off x="8156448" y="4343400"/>
            <a:ext cx="685800" cy="685800"/>
          </a:xfrm>
          <a:prstGeom prst="ellipse">
            <a:avLst/>
          </a:prstGeom>
          <a:solidFill>
            <a:srgbClr val="D97706"/>
          </a:solidFill>
          <a:ln w="12700">
            <a:solidFill>
              <a:srgbClr val="D97706"/>
            </a:solidFill>
            <a:prstDash val="solid"/>
          </a:ln>
        </p:spPr>
      </p:sp>
      <p:pic>
        <p:nvPicPr>
          <p:cNvPr id="17" name="Proves icon" descr="Proves">    </p:cNvPr>
          <p:cNvPicPr>
            <a:picLocks noChangeAspect="1"/>
          </p:cNvPicPr>
          <p:nvPr/>
        </p:nvPicPr>
        <p:blipFill>
          <a:blip r:embed="rId3"/>
          <a:stretch>
            <a:fillRect/>
          </a:stretch>
        </p:blipFill>
        <p:spPr>
          <a:xfrm>
            <a:off x="8327898" y="4514850"/>
            <a:ext cx="342900" cy="342900"/>
          </a:xfrm>
          <a:prstGeom prst="rect">
            <a:avLst/>
          </a:prstGeom>
        </p:spPr>
      </p:pic>
      <p:sp>
        <p:nvSpPr>
          <p:cNvPr id="18" name="Text 13"/>
          <p:cNvSpPr txBox="1"/>
          <p:nvPr/>
        </p:nvSpPr>
        <p:spPr>
          <a:xfrm>
            <a:off x="9006840" y="4279392"/>
            <a:ext cx="224028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Proves</a:t>
            </a:r>
            <a:endParaRPr lang="en-US" sz="2400" dirty="0"/>
          </a:p>
        </p:txBody>
      </p:sp>
      <p:sp>
        <p:nvSpPr>
          <p:cNvPr id="19" name="Text 14"/>
          <p:cNvSpPr txBox="1"/>
          <p:nvPr/>
        </p:nvSpPr>
        <p:spPr>
          <a:xfrm>
            <a:off x="9006840" y="4709160"/>
            <a:ext cx="2240280" cy="365760"/>
          </a:xfrm>
          <a:prstGeom prst="rect">
            <a:avLst/>
          </a:prstGeom>
          <a:noFill/>
          <a:ln/>
        </p:spPr>
        <p:txBody>
          <a:bodyPr wrap="square" lIns="0" tIns="0" rIns="0" bIns="0" rtlCol="0" anchor="ctr"/>
          <a:lstStyle/>
          <a:p>
            <a:pPr indent="0" marL="0">
              <a:buNone/>
            </a:pPr>
            <a:r>
              <a:rPr lang="en-US" sz="1500" dirty="0">
                <a:solidFill>
                  <a:srgbClr val="CBD5E1"/>
                </a:solidFill>
                <a:latin typeface="Calibri" pitchFamily="34" charset="0"/>
                <a:ea typeface="Calibri" pitchFamily="34" charset="-122"/>
                <a:cs typeface="Calibri" pitchFamily="34" charset="-120"/>
              </a:rPr>
              <a:t>nothing leaked</a:t>
            </a:r>
            <a:endParaRPr lang="en-US" sz="1500" dirty="0"/>
          </a:p>
        </p:txBody>
      </p:sp>
      <p:sp>
        <p:nvSpPr>
          <p:cNvPr id="20" name="Text 15"/>
          <p:cNvSpPr txBox="1"/>
          <p:nvPr/>
        </p:nvSpPr>
        <p:spPr>
          <a:xfrm>
            <a:off x="731520" y="5669280"/>
            <a:ext cx="10698480" cy="36576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Tested on the organisers' Saffron Bank data  ·  Dashboard + command line  ·  SQLite · PostgreSQL · MySQL  ·  pip install maskguard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problem: everyone sees everything</a:t>
            </a:r>
            <a:endParaRPr lang="en-US" sz="3000" dirty="0"/>
          </a:p>
        </p:txBody>
      </p:sp>
      <p:sp>
        <p:nvSpPr>
          <p:cNvPr id="3" name="story card"/>
          <p:cNvSpPr/>
          <p:nvPr/>
        </p:nvSpPr>
        <p:spPr>
          <a:xfrm>
            <a:off x="548640" y="1188720"/>
            <a:ext cx="4754880" cy="3657600"/>
          </a:xfrm>
          <a:prstGeom prst="roundRect">
            <a:avLst>
              <a:gd name="adj" fmla="val 2000"/>
            </a:avLst>
          </a:prstGeom>
          <a:solidFill>
            <a:srgbClr val="0B1D33"/>
          </a:solidFill>
          <a:ln w="9525">
            <a:solidFill>
              <a:srgbClr val="0B1D33"/>
            </a:solidFill>
            <a:prstDash val="solid"/>
          </a:ln>
        </p:spPr>
      </p:sp>
      <p:sp>
        <p:nvSpPr>
          <p:cNvPr id="4" name="Ravi circle"/>
          <p:cNvSpPr/>
          <p:nvPr/>
        </p:nvSpPr>
        <p:spPr>
          <a:xfrm>
            <a:off x="822960" y="1417320"/>
            <a:ext cx="731520" cy="731520"/>
          </a:xfrm>
          <a:prstGeom prst="ellipse">
            <a:avLst/>
          </a:prstGeom>
          <a:solidFill>
            <a:srgbClr val="D97706"/>
          </a:solidFill>
          <a:ln w="12700">
            <a:solidFill>
              <a:srgbClr val="D97706"/>
            </a:solidFill>
            <a:prstDash val="solid"/>
          </a:ln>
        </p:spPr>
      </p:sp>
      <p:pic>
        <p:nvPicPr>
          <p:cNvPr id="5" name="Ravi icon" descr="Ravi">    </p:cNvPr>
          <p:cNvPicPr>
            <a:picLocks noChangeAspect="1"/>
          </p:cNvPicPr>
          <p:nvPr/>
        </p:nvPicPr>
        <p:blipFill>
          <a:blip r:embed="rId1"/>
          <a:stretch>
            <a:fillRect/>
          </a:stretch>
        </p:blipFill>
        <p:spPr>
          <a:xfrm>
            <a:off x="1005840" y="1600200"/>
            <a:ext cx="365760" cy="365760"/>
          </a:xfrm>
          <a:prstGeom prst="rect">
            <a:avLst/>
          </a:prstGeom>
        </p:spPr>
      </p:pic>
      <p:sp>
        <p:nvSpPr>
          <p:cNvPr id="6" name="Text 3"/>
          <p:cNvSpPr txBox="1"/>
          <p:nvPr/>
        </p:nvSpPr>
        <p:spPr>
          <a:xfrm>
            <a:off x="1737360" y="1417320"/>
            <a:ext cx="3474720" cy="7315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Meet Ravi, customer support</a:t>
            </a:r>
            <a:endParaRPr lang="en-US" sz="2000" dirty="0"/>
          </a:p>
        </p:txBody>
      </p:sp>
      <p:sp>
        <p:nvSpPr>
          <p:cNvPr id="7" name="Text 4"/>
          <p:cNvSpPr txBox="1"/>
          <p:nvPr/>
        </p:nvSpPr>
        <p:spPr>
          <a:xfrm>
            <a:off x="822960" y="2377440"/>
            <a:ext cx="4206240" cy="2286000"/>
          </a:xfrm>
          <a:prstGeom prst="rect">
            <a:avLst/>
          </a:prstGeom>
          <a:noFill/>
          <a:ln/>
        </p:spPr>
        <p:txBody>
          <a:bodyPr wrap="square" lIns="0" tIns="0" rIns="0" bIns="0" rtlCol="0" anchor="t"/>
          <a:lstStyle/>
          <a:p>
            <a:pPr indent="0" marL="0">
              <a:buNone/>
            </a:pPr>
            <a:r>
              <a:rPr lang="en-US" sz="1900" dirty="0">
                <a:solidFill>
                  <a:srgbClr val="CBD5E1"/>
                </a:solidFill>
                <a:latin typeface="Calibri" pitchFamily="34" charset="0"/>
                <a:ea typeface="Calibri" pitchFamily="34" charset="-122"/>
                <a:cs typeface="Calibri" pitchFamily="34" charset="-120"/>
              </a:rPr>
              <a:t>To fix a card complaint he needs </a:t>
            </a:r>
            <a:pPr indent="0" marL="0">
              <a:buNone/>
            </a:pPr>
            <a:r>
              <a:rPr lang="en-US" sz="1900" b="1" dirty="0">
                <a:solidFill>
                  <a:srgbClr val="D97706"/>
                </a:solidFill>
                <a:latin typeface="Calibri" pitchFamily="34" charset="0"/>
                <a:ea typeface="Calibri" pitchFamily="34" charset="-122"/>
                <a:cs typeface="Calibri" pitchFamily="34" charset="-120"/>
              </a:rPr>
              <a:t>the last 4 digits.</a:t>
            </a:r>
            <a:endParaRPr lang="en-US" sz="19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900" dirty="0"/>
          </a:p>
          <a:p>
            <a:pPr indent="0" marL="0">
              <a:buNone/>
            </a:pPr>
            <a:r>
              <a:rPr lang="en-US" sz="1900" dirty="0">
                <a:solidFill>
                  <a:srgbClr val="CBD5E1"/>
                </a:solidFill>
                <a:latin typeface="Calibri" pitchFamily="34" charset="0"/>
                <a:ea typeface="Calibri" pitchFamily="34" charset="-122"/>
                <a:cs typeface="Calibri" pitchFamily="34" charset="-120"/>
              </a:rPr>
              <a:t>Today he can see every customer's </a:t>
            </a:r>
            <a:pPr indent="0" marL="0">
              <a:buNone/>
            </a:pPr>
            <a:r>
              <a:rPr lang="en-US" sz="1900" b="1" dirty="0">
                <a:solidFill>
                  <a:srgbClr val="FFFFFF"/>
                </a:solidFill>
                <a:latin typeface="Calibri" pitchFamily="34" charset="0"/>
                <a:ea typeface="Calibri" pitchFamily="34" charset="-122"/>
                <a:cs typeface="Calibri" pitchFamily="34" charset="-120"/>
              </a:rPr>
              <a:t>full PAN, Aadhaar, phone and balance.</a:t>
            </a:r>
            <a:endParaRPr lang="en-US" sz="1900" dirty="0"/>
          </a:p>
        </p:txBody>
      </p:sp>
      <p:sp>
        <p:nvSpPr>
          <p:cNvPr id="8" name="problem 1"/>
          <p:cNvSpPr/>
          <p:nvPr/>
        </p:nvSpPr>
        <p:spPr>
          <a:xfrm>
            <a:off x="5577840" y="1188720"/>
            <a:ext cx="6035040" cy="1737360"/>
          </a:xfrm>
          <a:prstGeom prst="roundRect">
            <a:avLst>
              <a:gd name="adj" fmla="val 4211"/>
            </a:avLst>
          </a:prstGeom>
          <a:solidFill>
            <a:srgbClr val="FDEBD0"/>
          </a:solidFill>
          <a:ln w="9525">
            <a:solidFill>
              <a:srgbClr val="FDEBD0"/>
            </a:solidFill>
            <a:prstDash val="solid"/>
          </a:ln>
        </p:spPr>
      </p:sp>
      <p:sp>
        <p:nvSpPr>
          <p:cNvPr id="9" name="Text 6"/>
          <p:cNvSpPr txBox="1"/>
          <p:nvPr/>
        </p:nvSpPr>
        <p:spPr>
          <a:xfrm>
            <a:off x="5806440" y="1371600"/>
            <a:ext cx="548640" cy="640080"/>
          </a:xfrm>
          <a:prstGeom prst="rect">
            <a:avLst/>
          </a:prstGeom>
          <a:noFill/>
          <a:ln/>
        </p:spPr>
        <p:txBody>
          <a:bodyPr wrap="square" lIns="0" tIns="0" rIns="0" bIns="0" rtlCol="0" anchor="ctr"/>
          <a:lstStyle/>
          <a:p>
            <a:pPr indent="0" marL="0">
              <a:buNone/>
            </a:pPr>
            <a:r>
              <a:rPr lang="en-US" sz="4000" b="1" dirty="0">
                <a:solidFill>
                  <a:srgbClr val="D97706"/>
                </a:solidFill>
                <a:latin typeface="Cambria" pitchFamily="34" charset="0"/>
                <a:ea typeface="Cambria" pitchFamily="34" charset="-122"/>
                <a:cs typeface="Cambria" pitchFamily="34" charset="-120"/>
              </a:rPr>
              <a:t>1</a:t>
            </a:r>
            <a:endParaRPr lang="en-US" sz="4000" dirty="0"/>
          </a:p>
        </p:txBody>
      </p:sp>
      <p:sp>
        <p:nvSpPr>
          <p:cNvPr id="10" name="Text 7"/>
          <p:cNvSpPr txBox="1"/>
          <p:nvPr/>
        </p:nvSpPr>
        <p:spPr>
          <a:xfrm>
            <a:off x="6446520" y="1371600"/>
            <a:ext cx="5029200" cy="457200"/>
          </a:xfrm>
          <a:prstGeom prst="rect">
            <a:avLst/>
          </a:prstGeom>
          <a:noFill/>
          <a:ln/>
        </p:spPr>
        <p:txBody>
          <a:bodyPr wrap="square" lIns="0" tIns="0" rIns="0" bIns="0" rtlCol="0" anchor="ctr"/>
          <a:lstStyle/>
          <a:p>
            <a:pPr indent="0" marL="0">
              <a:buNone/>
            </a:pPr>
            <a:r>
              <a:rPr lang="en-US" sz="1900" b="1" dirty="0">
                <a:solidFill>
                  <a:srgbClr val="0B1D33"/>
                </a:solidFill>
                <a:latin typeface="Cambria" pitchFamily="34" charset="0"/>
                <a:ea typeface="Cambria" pitchFamily="34" charset="-122"/>
                <a:cs typeface="Cambria" pitchFamily="34" charset="-120"/>
              </a:rPr>
              <a:t>Nobody knows where all the personal data is</a:t>
            </a:r>
            <a:endParaRPr lang="en-US" sz="1900" dirty="0"/>
          </a:p>
        </p:txBody>
      </p:sp>
      <p:sp>
        <p:nvSpPr>
          <p:cNvPr id="11" name="Text 8"/>
          <p:cNvSpPr txBox="1"/>
          <p:nvPr/>
        </p:nvSpPr>
        <p:spPr>
          <a:xfrm>
            <a:off x="6446520" y="1847088"/>
            <a:ext cx="4983480" cy="1005840"/>
          </a:xfrm>
          <a:prstGeom prst="rect">
            <a:avLst/>
          </a:prstGeom>
          <a:noFill/>
          <a:ln/>
        </p:spPr>
        <p:txBody>
          <a:bodyPr wrap="square" lIns="0" tIns="0" rIns="0" bIns="0" rtlCol="0" anchor="t"/>
          <a:lstStyle/>
          <a:p>
            <a:pPr indent="0" marL="0">
              <a:buNone/>
            </a:pPr>
            <a:r>
              <a:rPr lang="en-US" sz="1500" dirty="0">
                <a:solidFill>
                  <a:srgbClr val="1E3A5F"/>
                </a:solidFill>
                <a:latin typeface="Calibri" pitchFamily="34" charset="0"/>
                <a:ea typeface="Calibri" pitchFamily="34" charset="-122"/>
                <a:cs typeface="Calibri" pitchFamily="34" charset="-120"/>
              </a:rPr>
              <a:t>Column names lie. In the organisers' data a column called col_7 holds PAN numbers, and phone numbers hide inside support notes.</a:t>
            </a:r>
            <a:endParaRPr lang="en-US" sz="1500" dirty="0"/>
          </a:p>
        </p:txBody>
      </p:sp>
      <p:sp>
        <p:nvSpPr>
          <p:cNvPr id="12" name="problem 2"/>
          <p:cNvSpPr/>
          <p:nvPr/>
        </p:nvSpPr>
        <p:spPr>
          <a:xfrm>
            <a:off x="5577840" y="3063240"/>
            <a:ext cx="6035040" cy="1737360"/>
          </a:xfrm>
          <a:prstGeom prst="roundRect">
            <a:avLst>
              <a:gd name="adj" fmla="val 4211"/>
            </a:avLst>
          </a:prstGeom>
          <a:solidFill>
            <a:srgbClr val="E6F4F1"/>
          </a:solidFill>
          <a:ln w="9525">
            <a:solidFill>
              <a:srgbClr val="E6F4F1"/>
            </a:solidFill>
            <a:prstDash val="solid"/>
          </a:ln>
        </p:spPr>
      </p:sp>
      <p:sp>
        <p:nvSpPr>
          <p:cNvPr id="13" name="Text 10"/>
          <p:cNvSpPr txBox="1"/>
          <p:nvPr/>
        </p:nvSpPr>
        <p:spPr>
          <a:xfrm>
            <a:off x="5806440" y="3246120"/>
            <a:ext cx="548640" cy="640080"/>
          </a:xfrm>
          <a:prstGeom prst="rect">
            <a:avLst/>
          </a:prstGeom>
          <a:noFill/>
          <a:ln/>
        </p:spPr>
        <p:txBody>
          <a:bodyPr wrap="square" lIns="0" tIns="0" rIns="0" bIns="0" rtlCol="0" anchor="ctr"/>
          <a:lstStyle/>
          <a:p>
            <a:pPr indent="0" marL="0">
              <a:buNone/>
            </a:pPr>
            <a:r>
              <a:rPr lang="en-US" sz="4000" b="1" dirty="0">
                <a:solidFill>
                  <a:srgbClr val="0F766E"/>
                </a:solidFill>
                <a:latin typeface="Cambria" pitchFamily="34" charset="0"/>
                <a:ea typeface="Cambria" pitchFamily="34" charset="-122"/>
                <a:cs typeface="Cambria" pitchFamily="34" charset="-120"/>
              </a:rPr>
              <a:t>2</a:t>
            </a:r>
            <a:endParaRPr lang="en-US" sz="4000" dirty="0"/>
          </a:p>
        </p:txBody>
      </p:sp>
      <p:sp>
        <p:nvSpPr>
          <p:cNvPr id="14" name="Text 11"/>
          <p:cNvSpPr txBox="1"/>
          <p:nvPr/>
        </p:nvSpPr>
        <p:spPr>
          <a:xfrm>
            <a:off x="6446520" y="3246120"/>
            <a:ext cx="5029200" cy="457200"/>
          </a:xfrm>
          <a:prstGeom prst="rect">
            <a:avLst/>
          </a:prstGeom>
          <a:noFill/>
          <a:ln/>
        </p:spPr>
        <p:txBody>
          <a:bodyPr wrap="square" lIns="0" tIns="0" rIns="0" bIns="0" rtlCol="0" anchor="ctr"/>
          <a:lstStyle/>
          <a:p>
            <a:pPr indent="0" marL="0">
              <a:buNone/>
            </a:pPr>
            <a:r>
              <a:rPr lang="en-US" sz="1900" b="1" dirty="0">
                <a:solidFill>
                  <a:srgbClr val="0B1D33"/>
                </a:solidFill>
                <a:latin typeface="Cambria" pitchFamily="34" charset="0"/>
                <a:ea typeface="Cambria" pitchFamily="34" charset="-122"/>
                <a:cs typeface="Cambria" pitchFamily="34" charset="-120"/>
              </a:rPr>
              <a:t>Hiding it on screen is not enough</a:t>
            </a:r>
            <a:endParaRPr lang="en-US" sz="1900" dirty="0"/>
          </a:p>
        </p:txBody>
      </p:sp>
      <p:sp>
        <p:nvSpPr>
          <p:cNvPr id="15" name="Text 12"/>
          <p:cNvSpPr txBox="1"/>
          <p:nvPr/>
        </p:nvSpPr>
        <p:spPr>
          <a:xfrm>
            <a:off x="6446520" y="3721608"/>
            <a:ext cx="4983480" cy="1005840"/>
          </a:xfrm>
          <a:prstGeom prst="rect">
            <a:avLst/>
          </a:prstGeom>
          <a:noFill/>
          <a:ln/>
        </p:spPr>
        <p:txBody>
          <a:bodyPr wrap="square" lIns="0" tIns="0" rIns="0" bIns="0" rtlCol="0" anchor="t"/>
          <a:lstStyle/>
          <a:p>
            <a:pPr indent="0" marL="0">
              <a:buNone/>
            </a:pPr>
            <a:r>
              <a:rPr lang="en-US" sz="1500" dirty="0">
                <a:solidFill>
                  <a:srgbClr val="1E3A5F"/>
                </a:solidFill>
                <a:latin typeface="Calibri" pitchFamily="34" charset="0"/>
                <a:ea typeface="Calibri" pitchFamily="34" charset="-122"/>
                <a:cs typeface="Calibri" pitchFamily="34" charset="-120"/>
              </a:rPr>
              <a:t>If Ravi types a guessed PAN into a search, most masking tools still check it against the real value — and answer "yes, found".</a:t>
            </a:r>
            <a:endParaRPr lang="en-US" sz="1500" dirty="0"/>
          </a:p>
        </p:txBody>
      </p:sp>
      <p:sp>
        <p:nvSpPr>
          <p:cNvPr id="16" name="₹22 crore circle"/>
          <p:cNvSpPr/>
          <p:nvPr/>
        </p:nvSpPr>
        <p:spPr>
          <a:xfrm>
            <a:off x="548640" y="5120640"/>
            <a:ext cx="640080" cy="640080"/>
          </a:xfrm>
          <a:prstGeom prst="ellipse">
            <a:avLst/>
          </a:prstGeom>
          <a:solidFill>
            <a:srgbClr val="0B1D33"/>
          </a:solidFill>
          <a:ln w="12700">
            <a:solidFill>
              <a:srgbClr val="0B1D33"/>
            </a:solidFill>
            <a:prstDash val="solid"/>
          </a:ln>
        </p:spPr>
      </p:sp>
      <p:pic>
        <p:nvPicPr>
          <p:cNvPr id="17" name="₹22 crore icon" descr="₹22 crore">    </p:cNvPr>
          <p:cNvPicPr>
            <a:picLocks noChangeAspect="1"/>
          </p:cNvPicPr>
          <p:nvPr/>
        </p:nvPicPr>
        <p:blipFill>
          <a:blip r:embed="rId2"/>
          <a:stretch>
            <a:fillRect/>
          </a:stretch>
        </p:blipFill>
        <p:spPr>
          <a:xfrm>
            <a:off x="708660" y="5280660"/>
            <a:ext cx="320040" cy="320040"/>
          </a:xfrm>
          <a:prstGeom prst="rect">
            <a:avLst/>
          </a:prstGeom>
        </p:spPr>
      </p:pic>
      <p:sp>
        <p:nvSpPr>
          <p:cNvPr id="18" name="Text 14"/>
          <p:cNvSpPr txBox="1"/>
          <p:nvPr/>
        </p:nvSpPr>
        <p:spPr>
          <a:xfrm>
            <a:off x="1325880" y="5047488"/>
            <a:ext cx="2834640" cy="457200"/>
          </a:xfrm>
          <a:prstGeom prst="rect">
            <a:avLst/>
          </a:prstGeom>
          <a:noFill/>
          <a:ln/>
        </p:spPr>
        <p:txBody>
          <a:bodyPr wrap="square" lIns="0" tIns="0" rIns="0" bIns="0" rtlCol="0" anchor="ctr"/>
          <a:lstStyle/>
          <a:p>
            <a:pPr indent="0" marL="0">
              <a:buNone/>
            </a:pPr>
            <a:r>
              <a:rPr lang="en-US" sz="2400" b="1" dirty="0">
                <a:solidFill>
                  <a:srgbClr val="0B1D33"/>
                </a:solidFill>
                <a:latin typeface="Cambria" pitchFamily="34" charset="0"/>
                <a:ea typeface="Cambria" pitchFamily="34" charset="-122"/>
                <a:cs typeface="Cambria" pitchFamily="34" charset="-120"/>
              </a:rPr>
              <a:t>₹22 crore</a:t>
            </a:r>
            <a:endParaRPr lang="en-US" sz="2400" dirty="0"/>
          </a:p>
        </p:txBody>
      </p:sp>
      <p:sp>
        <p:nvSpPr>
          <p:cNvPr id="19" name="Text 15"/>
          <p:cNvSpPr txBox="1"/>
          <p:nvPr/>
        </p:nvSpPr>
        <p:spPr>
          <a:xfrm>
            <a:off x="1325880" y="5504688"/>
            <a:ext cx="2834640" cy="50292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average data breach cost in India (IBM, 2025)</a:t>
            </a:r>
            <a:endParaRPr lang="en-US" sz="1300" dirty="0"/>
          </a:p>
        </p:txBody>
      </p:sp>
      <p:sp>
        <p:nvSpPr>
          <p:cNvPr id="20" name="₹250 crore circle"/>
          <p:cNvSpPr/>
          <p:nvPr/>
        </p:nvSpPr>
        <p:spPr>
          <a:xfrm>
            <a:off x="4297680" y="5120640"/>
            <a:ext cx="640080" cy="640080"/>
          </a:xfrm>
          <a:prstGeom prst="ellipse">
            <a:avLst/>
          </a:prstGeom>
          <a:solidFill>
            <a:srgbClr val="0B1D33"/>
          </a:solidFill>
          <a:ln w="12700">
            <a:solidFill>
              <a:srgbClr val="0B1D33"/>
            </a:solidFill>
            <a:prstDash val="solid"/>
          </a:ln>
        </p:spPr>
      </p:sp>
      <p:pic>
        <p:nvPicPr>
          <p:cNvPr id="21" name="₹250 crore icon" descr="₹250 crore">    </p:cNvPr>
          <p:cNvPicPr>
            <a:picLocks noChangeAspect="1"/>
          </p:cNvPicPr>
          <p:nvPr/>
        </p:nvPicPr>
        <p:blipFill>
          <a:blip r:embed="rId3"/>
          <a:stretch>
            <a:fillRect/>
          </a:stretch>
        </p:blipFill>
        <p:spPr>
          <a:xfrm>
            <a:off x="4457700" y="5280660"/>
            <a:ext cx="320040" cy="320040"/>
          </a:xfrm>
          <a:prstGeom prst="rect">
            <a:avLst/>
          </a:prstGeom>
        </p:spPr>
      </p:pic>
      <p:sp>
        <p:nvSpPr>
          <p:cNvPr id="22" name="Text 17"/>
          <p:cNvSpPr txBox="1"/>
          <p:nvPr/>
        </p:nvSpPr>
        <p:spPr>
          <a:xfrm>
            <a:off x="5074920" y="5047488"/>
            <a:ext cx="2834640" cy="457200"/>
          </a:xfrm>
          <a:prstGeom prst="rect">
            <a:avLst/>
          </a:prstGeom>
          <a:noFill/>
          <a:ln/>
        </p:spPr>
        <p:txBody>
          <a:bodyPr wrap="square" lIns="0" tIns="0" rIns="0" bIns="0" rtlCol="0" anchor="ctr"/>
          <a:lstStyle/>
          <a:p>
            <a:pPr indent="0" marL="0">
              <a:buNone/>
            </a:pPr>
            <a:r>
              <a:rPr lang="en-US" sz="2400" b="1" dirty="0">
                <a:solidFill>
                  <a:srgbClr val="0B1D33"/>
                </a:solidFill>
                <a:latin typeface="Cambria" pitchFamily="34" charset="0"/>
                <a:ea typeface="Cambria" pitchFamily="34" charset="-122"/>
                <a:cs typeface="Cambria" pitchFamily="34" charset="-120"/>
              </a:rPr>
              <a:t>₹250 crore</a:t>
            </a:r>
            <a:endParaRPr lang="en-US" sz="2400" dirty="0"/>
          </a:p>
        </p:txBody>
      </p:sp>
      <p:sp>
        <p:nvSpPr>
          <p:cNvPr id="23" name="Text 18"/>
          <p:cNvSpPr txBox="1"/>
          <p:nvPr/>
        </p:nvSpPr>
        <p:spPr>
          <a:xfrm>
            <a:off x="5074920" y="5504688"/>
            <a:ext cx="2834640" cy="50292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maximum DPDP penalty; rules apply from May 2027</a:t>
            </a:r>
            <a:endParaRPr lang="en-US" sz="1300" dirty="0"/>
          </a:p>
        </p:txBody>
      </p:sp>
      <p:sp>
        <p:nvSpPr>
          <p:cNvPr id="24" name="$2.6 billion circle"/>
          <p:cNvSpPr/>
          <p:nvPr/>
        </p:nvSpPr>
        <p:spPr>
          <a:xfrm>
            <a:off x="8046720" y="5120640"/>
            <a:ext cx="640080" cy="640080"/>
          </a:xfrm>
          <a:prstGeom prst="ellipse">
            <a:avLst/>
          </a:prstGeom>
          <a:solidFill>
            <a:srgbClr val="0B1D33"/>
          </a:solidFill>
          <a:ln w="12700">
            <a:solidFill>
              <a:srgbClr val="0B1D33"/>
            </a:solidFill>
            <a:prstDash val="solid"/>
          </a:ln>
        </p:spPr>
      </p:sp>
      <p:pic>
        <p:nvPicPr>
          <p:cNvPr id="25" name="$2.6 billion icon" descr="$2.6 billion">    </p:cNvPr>
          <p:cNvPicPr>
            <a:picLocks noChangeAspect="1"/>
          </p:cNvPicPr>
          <p:nvPr/>
        </p:nvPicPr>
        <p:blipFill>
          <a:blip r:embed="rId4"/>
          <a:stretch>
            <a:fillRect/>
          </a:stretch>
        </p:blipFill>
        <p:spPr>
          <a:xfrm>
            <a:off x="8206740" y="5280660"/>
            <a:ext cx="320040" cy="320040"/>
          </a:xfrm>
          <a:prstGeom prst="rect">
            <a:avLst/>
          </a:prstGeom>
        </p:spPr>
      </p:pic>
      <p:sp>
        <p:nvSpPr>
          <p:cNvPr id="26" name="Text 20"/>
          <p:cNvSpPr txBox="1"/>
          <p:nvPr/>
        </p:nvSpPr>
        <p:spPr>
          <a:xfrm>
            <a:off x="8823960" y="5047488"/>
            <a:ext cx="2834640" cy="457200"/>
          </a:xfrm>
          <a:prstGeom prst="rect">
            <a:avLst/>
          </a:prstGeom>
          <a:noFill/>
          <a:ln/>
        </p:spPr>
        <p:txBody>
          <a:bodyPr wrap="square" lIns="0" tIns="0" rIns="0" bIns="0" rtlCol="0" anchor="ctr"/>
          <a:lstStyle/>
          <a:p>
            <a:pPr indent="0" marL="0">
              <a:buNone/>
            </a:pPr>
            <a:r>
              <a:rPr lang="en-US" sz="2400" b="1" dirty="0">
                <a:solidFill>
                  <a:srgbClr val="0B1D33"/>
                </a:solidFill>
                <a:latin typeface="Cambria" pitchFamily="34" charset="0"/>
                <a:ea typeface="Cambria" pitchFamily="34" charset="-122"/>
                <a:cs typeface="Cambria" pitchFamily="34" charset="-120"/>
              </a:rPr>
              <a:t>$2.6 billion</a:t>
            </a:r>
            <a:endParaRPr lang="en-US" sz="2400" dirty="0"/>
          </a:p>
        </p:txBody>
      </p:sp>
      <p:sp>
        <p:nvSpPr>
          <p:cNvPr id="27" name="Text 21"/>
          <p:cNvSpPr txBox="1"/>
          <p:nvPr/>
        </p:nvSpPr>
        <p:spPr>
          <a:xfrm>
            <a:off x="8823960" y="5504688"/>
            <a:ext cx="2834640" cy="50292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data-masking market by 2030 (12% a year)</a:t>
            </a:r>
            <a:endParaRPr lang="en-US" sz="13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it works: one gate between people and the data</a:t>
            </a:r>
            <a:endParaRPr lang="en-US" sz="3000" dirty="0"/>
          </a:p>
        </p:txBody>
      </p:sp>
      <p:sp>
        <p:nvSpPr>
          <p:cNvPr id="3" name="who asks"/>
          <p:cNvSpPr/>
          <p:nvPr/>
        </p:nvSpPr>
        <p:spPr>
          <a:xfrm>
            <a:off x="548640" y="1280160"/>
            <a:ext cx="2377440" cy="2286000"/>
          </a:xfrm>
          <a:prstGeom prst="roundRect">
            <a:avLst>
              <a:gd name="adj" fmla="val 3200"/>
            </a:avLst>
          </a:prstGeom>
          <a:solidFill>
            <a:srgbClr val="F1F5F9"/>
          </a:solidFill>
          <a:ln w="9525">
            <a:solidFill>
              <a:srgbClr val="F1F5F9"/>
            </a:solidFill>
            <a:prstDash val="solid"/>
          </a:ln>
        </p:spPr>
      </p:sp>
      <p:sp>
        <p:nvSpPr>
          <p:cNvPr id="4" name="Text 2"/>
          <p:cNvSpPr txBox="1"/>
          <p:nvPr/>
        </p:nvSpPr>
        <p:spPr>
          <a:xfrm>
            <a:off x="685800" y="1371600"/>
            <a:ext cx="2103120" cy="365760"/>
          </a:xfrm>
          <a:prstGeom prst="rect">
            <a:avLst/>
          </a:prstGeom>
          <a:noFill/>
          <a:ln/>
        </p:spPr>
        <p:txBody>
          <a:bodyPr wrap="square" lIns="0" tIns="0" rIns="0" bIns="0" rtlCol="0" anchor="ctr"/>
          <a:lstStyle/>
          <a:p>
            <a:pPr algn="ctr" indent="0" marL="0">
              <a:buNone/>
            </a:pPr>
            <a:r>
              <a:rPr lang="en-US" sz="1500" b="1" dirty="0">
                <a:solidFill>
                  <a:srgbClr val="0B1D33"/>
                </a:solidFill>
                <a:latin typeface="Calibri" pitchFamily="34" charset="0"/>
                <a:ea typeface="Calibri" pitchFamily="34" charset="-122"/>
                <a:cs typeface="Calibri" pitchFamily="34" charset="-120"/>
              </a:rPr>
              <a:t>Staff ask a question</a:t>
            </a:r>
            <a:endParaRPr lang="en-US" sz="1500" dirty="0"/>
          </a:p>
        </p:txBody>
      </p:sp>
      <p:sp>
        <p:nvSpPr>
          <p:cNvPr id="5" name="Dashboard circle"/>
          <p:cNvSpPr/>
          <p:nvPr/>
        </p:nvSpPr>
        <p:spPr>
          <a:xfrm>
            <a:off x="777240" y="1828800"/>
            <a:ext cx="438912" cy="438912"/>
          </a:xfrm>
          <a:prstGeom prst="ellipse">
            <a:avLst/>
          </a:prstGeom>
          <a:solidFill>
            <a:srgbClr val="0B1D33"/>
          </a:solidFill>
          <a:ln w="12700">
            <a:solidFill>
              <a:srgbClr val="0B1D33"/>
            </a:solidFill>
            <a:prstDash val="solid"/>
          </a:ln>
        </p:spPr>
      </p:sp>
      <p:pic>
        <p:nvPicPr>
          <p:cNvPr id="6" name="Dashboard icon" descr="Dashboard">    </p:cNvPr>
          <p:cNvPicPr>
            <a:picLocks noChangeAspect="1"/>
          </p:cNvPicPr>
          <p:nvPr/>
        </p:nvPicPr>
        <p:blipFill>
          <a:blip r:embed="rId1"/>
          <a:stretch>
            <a:fillRect/>
          </a:stretch>
        </p:blipFill>
        <p:spPr>
          <a:xfrm>
            <a:off x="886968" y="1938528"/>
            <a:ext cx="219456" cy="219456"/>
          </a:xfrm>
          <a:prstGeom prst="rect">
            <a:avLst/>
          </a:prstGeom>
        </p:spPr>
      </p:pic>
      <p:sp>
        <p:nvSpPr>
          <p:cNvPr id="7" name="Text 4"/>
          <p:cNvSpPr txBox="1"/>
          <p:nvPr/>
        </p:nvSpPr>
        <p:spPr>
          <a:xfrm>
            <a:off x="1325880" y="1828800"/>
            <a:ext cx="1554480" cy="438912"/>
          </a:xfrm>
          <a:prstGeom prst="rect">
            <a:avLst/>
          </a:prstGeom>
          <a:noFill/>
          <a:ln/>
        </p:spPr>
        <p:txBody>
          <a:bodyPr wrap="square" lIns="0" tIns="0" rIns="0" bIns="0" rtlCol="0" anchor="ctr"/>
          <a:lstStyle/>
          <a:p>
            <a:pPr indent="0" marL="0">
              <a:buNone/>
            </a:pPr>
            <a:r>
              <a:rPr lang="en-US" sz="1400" dirty="0">
                <a:solidFill>
                  <a:srgbClr val="1E3A5F"/>
                </a:solidFill>
                <a:latin typeface="Calibri" pitchFamily="34" charset="0"/>
                <a:ea typeface="Calibri" pitchFamily="34" charset="-122"/>
                <a:cs typeface="Calibri" pitchFamily="34" charset="-120"/>
              </a:rPr>
              <a:t>Dashboard</a:t>
            </a:r>
            <a:endParaRPr lang="en-US" sz="1400" dirty="0"/>
          </a:p>
        </p:txBody>
      </p:sp>
      <p:sp>
        <p:nvSpPr>
          <p:cNvPr id="8" name="Command line circle"/>
          <p:cNvSpPr/>
          <p:nvPr/>
        </p:nvSpPr>
        <p:spPr>
          <a:xfrm>
            <a:off x="777240" y="2377440"/>
            <a:ext cx="438912" cy="438912"/>
          </a:xfrm>
          <a:prstGeom prst="ellipse">
            <a:avLst/>
          </a:prstGeom>
          <a:solidFill>
            <a:srgbClr val="0B1D33"/>
          </a:solidFill>
          <a:ln w="12700">
            <a:solidFill>
              <a:srgbClr val="0B1D33"/>
            </a:solidFill>
            <a:prstDash val="solid"/>
          </a:ln>
        </p:spPr>
      </p:sp>
      <p:pic>
        <p:nvPicPr>
          <p:cNvPr id="9" name="Command line icon" descr="Command line">    </p:cNvPr>
          <p:cNvPicPr>
            <a:picLocks noChangeAspect="1"/>
          </p:cNvPicPr>
          <p:nvPr/>
        </p:nvPicPr>
        <p:blipFill>
          <a:blip r:embed="rId2"/>
          <a:stretch>
            <a:fillRect/>
          </a:stretch>
        </p:blipFill>
        <p:spPr>
          <a:xfrm>
            <a:off x="886968" y="2487168"/>
            <a:ext cx="219456" cy="219456"/>
          </a:xfrm>
          <a:prstGeom prst="rect">
            <a:avLst/>
          </a:prstGeom>
        </p:spPr>
      </p:pic>
      <p:sp>
        <p:nvSpPr>
          <p:cNvPr id="10" name="Text 6"/>
          <p:cNvSpPr txBox="1"/>
          <p:nvPr/>
        </p:nvSpPr>
        <p:spPr>
          <a:xfrm>
            <a:off x="1325880" y="2377440"/>
            <a:ext cx="1554480" cy="438912"/>
          </a:xfrm>
          <a:prstGeom prst="rect">
            <a:avLst/>
          </a:prstGeom>
          <a:noFill/>
          <a:ln/>
        </p:spPr>
        <p:txBody>
          <a:bodyPr wrap="square" lIns="0" tIns="0" rIns="0" bIns="0" rtlCol="0" anchor="ctr"/>
          <a:lstStyle/>
          <a:p>
            <a:pPr indent="0" marL="0">
              <a:buNone/>
            </a:pPr>
            <a:r>
              <a:rPr lang="en-US" sz="1400" dirty="0">
                <a:solidFill>
                  <a:srgbClr val="1E3A5F"/>
                </a:solidFill>
                <a:latin typeface="Calibri" pitchFamily="34" charset="0"/>
                <a:ea typeface="Calibri" pitchFamily="34" charset="-122"/>
                <a:cs typeface="Calibri" pitchFamily="34" charset="-120"/>
              </a:rPr>
              <a:t>Command line</a:t>
            </a:r>
            <a:endParaRPr lang="en-US" sz="1400" dirty="0"/>
          </a:p>
        </p:txBody>
      </p:sp>
      <p:sp>
        <p:nvSpPr>
          <p:cNvPr id="11" name="BI tools · API circle"/>
          <p:cNvSpPr/>
          <p:nvPr/>
        </p:nvSpPr>
        <p:spPr>
          <a:xfrm>
            <a:off x="777240" y="2926080"/>
            <a:ext cx="438912" cy="438912"/>
          </a:xfrm>
          <a:prstGeom prst="ellipse">
            <a:avLst/>
          </a:prstGeom>
          <a:solidFill>
            <a:srgbClr val="0B1D33"/>
          </a:solidFill>
          <a:ln w="12700">
            <a:solidFill>
              <a:srgbClr val="0B1D33"/>
            </a:solidFill>
            <a:prstDash val="solid"/>
          </a:ln>
        </p:spPr>
      </p:sp>
      <p:pic>
        <p:nvPicPr>
          <p:cNvPr id="12" name="BI tools · API icon" descr="BI tools · API">    </p:cNvPr>
          <p:cNvPicPr>
            <a:picLocks noChangeAspect="1"/>
          </p:cNvPicPr>
          <p:nvPr/>
        </p:nvPicPr>
        <p:blipFill>
          <a:blip r:embed="rId3"/>
          <a:stretch>
            <a:fillRect/>
          </a:stretch>
        </p:blipFill>
        <p:spPr>
          <a:xfrm>
            <a:off x="886968" y="3035808"/>
            <a:ext cx="219456" cy="219456"/>
          </a:xfrm>
          <a:prstGeom prst="rect">
            <a:avLst/>
          </a:prstGeom>
        </p:spPr>
      </p:pic>
      <p:sp>
        <p:nvSpPr>
          <p:cNvPr id="13" name="Text 8"/>
          <p:cNvSpPr txBox="1"/>
          <p:nvPr/>
        </p:nvSpPr>
        <p:spPr>
          <a:xfrm>
            <a:off x="1325880" y="2926080"/>
            <a:ext cx="1554480" cy="438912"/>
          </a:xfrm>
          <a:prstGeom prst="rect">
            <a:avLst/>
          </a:prstGeom>
          <a:noFill/>
          <a:ln/>
        </p:spPr>
        <p:txBody>
          <a:bodyPr wrap="square" lIns="0" tIns="0" rIns="0" bIns="0" rtlCol="0" anchor="ctr"/>
          <a:lstStyle/>
          <a:p>
            <a:pPr indent="0" marL="0">
              <a:buNone/>
            </a:pPr>
            <a:r>
              <a:rPr lang="en-US" sz="1400" dirty="0">
                <a:solidFill>
                  <a:srgbClr val="1E3A5F"/>
                </a:solidFill>
                <a:latin typeface="Calibri" pitchFamily="34" charset="0"/>
                <a:ea typeface="Calibri" pitchFamily="34" charset="-122"/>
                <a:cs typeface="Calibri" pitchFamily="34" charset="-120"/>
              </a:rPr>
              <a:t>BI tools · API</a:t>
            </a:r>
            <a:endParaRPr lang="en-US" sz="1400" dirty="0"/>
          </a:p>
        </p:txBody>
      </p:sp>
      <p:pic>
        <p:nvPicPr>
          <p:cNvPr id="14" name="arrow in" descr="then">    </p:cNvPr>
          <p:cNvPicPr>
            <a:picLocks noChangeAspect="1"/>
          </p:cNvPicPr>
          <p:nvPr/>
        </p:nvPicPr>
        <p:blipFill>
          <a:blip r:embed="rId4"/>
          <a:stretch>
            <a:fillRect/>
          </a:stretch>
        </p:blipFill>
        <p:spPr>
          <a:xfrm>
            <a:off x="3035808" y="2240280"/>
            <a:ext cx="347472" cy="347472"/>
          </a:xfrm>
          <a:prstGeom prst="rect">
            <a:avLst/>
          </a:prstGeom>
        </p:spPr>
      </p:pic>
      <p:sp>
        <p:nvSpPr>
          <p:cNvPr id="15" name="maskguard gate"/>
          <p:cNvSpPr/>
          <p:nvPr/>
        </p:nvSpPr>
        <p:spPr>
          <a:xfrm>
            <a:off x="3520440" y="1280160"/>
            <a:ext cx="5120640" cy="2286000"/>
          </a:xfrm>
          <a:prstGeom prst="roundRect">
            <a:avLst>
              <a:gd name="adj" fmla="val 3200"/>
            </a:avLst>
          </a:prstGeom>
          <a:solidFill>
            <a:srgbClr val="0B1D33"/>
          </a:solidFill>
          <a:ln w="9525">
            <a:solidFill>
              <a:srgbClr val="0B1D33"/>
            </a:solidFill>
            <a:prstDash val="solid"/>
          </a:ln>
        </p:spPr>
      </p:sp>
      <p:sp>
        <p:nvSpPr>
          <p:cNvPr id="16" name="Text 10"/>
          <p:cNvSpPr txBox="1"/>
          <p:nvPr/>
        </p:nvSpPr>
        <p:spPr>
          <a:xfrm>
            <a:off x="3703320" y="1371600"/>
            <a:ext cx="4754880" cy="365760"/>
          </a:xfrm>
          <a:prstGeom prst="rect">
            <a:avLst/>
          </a:prstGeom>
          <a:noFill/>
          <a:ln/>
        </p:spPr>
        <p:txBody>
          <a:bodyPr wrap="square" lIns="0" tIns="0" rIns="0" bIns="0" rtlCol="0" anchor="ctr"/>
          <a:lstStyle/>
          <a:p>
            <a:pPr algn="ctr" indent="0" marL="0">
              <a:buNone/>
            </a:pPr>
            <a:r>
              <a:rPr lang="en-US" sz="1700" b="1" dirty="0">
                <a:solidFill>
                  <a:srgbClr val="D97706"/>
                </a:solidFill>
                <a:latin typeface="Cambria" pitchFamily="34" charset="0"/>
                <a:ea typeface="Cambria" pitchFamily="34" charset="-122"/>
                <a:cs typeface="Cambria" pitchFamily="34" charset="-120"/>
              </a:rPr>
              <a:t>MaskGuard</a:t>
            </a:r>
            <a:endParaRPr lang="en-US" sz="1700" dirty="0"/>
          </a:p>
        </p:txBody>
      </p:sp>
      <p:sp>
        <p:nvSpPr>
          <p:cNvPr id="17" name="Find circle"/>
          <p:cNvSpPr/>
          <p:nvPr/>
        </p:nvSpPr>
        <p:spPr>
          <a:xfrm>
            <a:off x="3977640" y="1874520"/>
            <a:ext cx="594360" cy="594360"/>
          </a:xfrm>
          <a:prstGeom prst="ellipse">
            <a:avLst/>
          </a:prstGeom>
          <a:solidFill>
            <a:srgbClr val="D97706"/>
          </a:solidFill>
          <a:ln w="12700">
            <a:solidFill>
              <a:srgbClr val="D97706"/>
            </a:solidFill>
            <a:prstDash val="solid"/>
          </a:ln>
        </p:spPr>
      </p:sp>
      <p:pic>
        <p:nvPicPr>
          <p:cNvPr id="18" name="Find icon" descr="Find">    </p:cNvPr>
          <p:cNvPicPr>
            <a:picLocks noChangeAspect="1"/>
          </p:cNvPicPr>
          <p:nvPr/>
        </p:nvPicPr>
        <p:blipFill>
          <a:blip r:embed="rId5"/>
          <a:stretch>
            <a:fillRect/>
          </a:stretch>
        </p:blipFill>
        <p:spPr>
          <a:xfrm>
            <a:off x="4126230" y="2023110"/>
            <a:ext cx="297180" cy="297180"/>
          </a:xfrm>
          <a:prstGeom prst="rect">
            <a:avLst/>
          </a:prstGeom>
        </p:spPr>
      </p:pic>
      <p:sp>
        <p:nvSpPr>
          <p:cNvPr id="19" name="Text 12"/>
          <p:cNvSpPr txBox="1"/>
          <p:nvPr/>
        </p:nvSpPr>
        <p:spPr>
          <a:xfrm>
            <a:off x="3703320" y="2542032"/>
            <a:ext cx="114300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Find</a:t>
            </a:r>
            <a:endParaRPr lang="en-US" sz="1600" dirty="0"/>
          </a:p>
        </p:txBody>
      </p:sp>
      <p:sp>
        <p:nvSpPr>
          <p:cNvPr id="20" name="Text 13"/>
          <p:cNvSpPr txBox="1"/>
          <p:nvPr/>
        </p:nvSpPr>
        <p:spPr>
          <a:xfrm>
            <a:off x="3703320" y="2880360"/>
            <a:ext cx="1143000" cy="594360"/>
          </a:xfrm>
          <a:prstGeom prst="rect">
            <a:avLst/>
          </a:prstGeom>
          <a:noFill/>
          <a:ln/>
        </p:spPr>
        <p:txBody>
          <a:bodyPr wrap="square" lIns="0" tIns="0" rIns="0" bIns="0" rtlCol="0" anchor="t"/>
          <a:lstStyle/>
          <a:p>
            <a:pPr algn="ctr" indent="0" marL="0">
              <a:buNone/>
            </a:pPr>
            <a:r>
              <a:rPr lang="en-US" sz="1150" dirty="0">
                <a:solidFill>
                  <a:srgbClr val="CBD5E1"/>
                </a:solidFill>
                <a:latin typeface="Calibri" pitchFamily="34" charset="0"/>
                <a:ea typeface="Calibri" pitchFamily="34" charset="-122"/>
                <a:cs typeface="Calibri" pitchFamily="34" charset="-120"/>
              </a:rPr>
              <a:t>which columns are personal</a:t>
            </a:r>
            <a:endParaRPr lang="en-US" sz="1150" dirty="0"/>
          </a:p>
        </p:txBody>
      </p:sp>
      <p:sp>
        <p:nvSpPr>
          <p:cNvPr id="21" name="Label circle"/>
          <p:cNvSpPr/>
          <p:nvPr/>
        </p:nvSpPr>
        <p:spPr>
          <a:xfrm>
            <a:off x="5193792" y="1874520"/>
            <a:ext cx="594360" cy="594360"/>
          </a:xfrm>
          <a:prstGeom prst="ellipse">
            <a:avLst/>
          </a:prstGeom>
          <a:solidFill>
            <a:srgbClr val="D97706"/>
          </a:solidFill>
          <a:ln w="12700">
            <a:solidFill>
              <a:srgbClr val="D97706"/>
            </a:solidFill>
            <a:prstDash val="solid"/>
          </a:ln>
        </p:spPr>
      </p:sp>
      <p:pic>
        <p:nvPicPr>
          <p:cNvPr id="22" name="Label icon" descr="Label">    </p:cNvPr>
          <p:cNvPicPr>
            <a:picLocks noChangeAspect="1"/>
          </p:cNvPicPr>
          <p:nvPr/>
        </p:nvPicPr>
        <p:blipFill>
          <a:blip r:embed="rId6"/>
          <a:stretch>
            <a:fillRect/>
          </a:stretch>
        </p:blipFill>
        <p:spPr>
          <a:xfrm>
            <a:off x="5342382" y="2023110"/>
            <a:ext cx="297180" cy="297180"/>
          </a:xfrm>
          <a:prstGeom prst="rect">
            <a:avLst/>
          </a:prstGeom>
        </p:spPr>
      </p:pic>
      <p:sp>
        <p:nvSpPr>
          <p:cNvPr id="23" name="Text 15"/>
          <p:cNvSpPr txBox="1"/>
          <p:nvPr/>
        </p:nvSpPr>
        <p:spPr>
          <a:xfrm>
            <a:off x="4919472" y="2542032"/>
            <a:ext cx="114300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Label</a:t>
            </a:r>
            <a:endParaRPr lang="en-US" sz="1600" dirty="0"/>
          </a:p>
        </p:txBody>
      </p:sp>
      <p:sp>
        <p:nvSpPr>
          <p:cNvPr id="24" name="Text 16"/>
          <p:cNvSpPr txBox="1"/>
          <p:nvPr/>
        </p:nvSpPr>
        <p:spPr>
          <a:xfrm>
            <a:off x="4919472" y="2880360"/>
            <a:ext cx="1143000" cy="594360"/>
          </a:xfrm>
          <a:prstGeom prst="rect">
            <a:avLst/>
          </a:prstGeom>
          <a:noFill/>
          <a:ln/>
        </p:spPr>
        <p:txBody>
          <a:bodyPr wrap="square" lIns="0" tIns="0" rIns="0" bIns="0" rtlCol="0" anchor="t"/>
          <a:lstStyle/>
          <a:p>
            <a:pPr algn="ctr" indent="0" marL="0">
              <a:buNone/>
            </a:pPr>
            <a:r>
              <a:rPr lang="en-US" sz="1150" dirty="0">
                <a:solidFill>
                  <a:srgbClr val="CBD5E1"/>
                </a:solidFill>
                <a:latin typeface="Calibri" pitchFamily="34" charset="0"/>
                <a:ea typeface="Calibri" pitchFamily="34" charset="-122"/>
                <a:cs typeface="Calibri" pitchFamily="34" charset="-120"/>
              </a:rPr>
              <a:t>PAN, phone, money…</a:t>
            </a:r>
            <a:endParaRPr lang="en-US" sz="1150" dirty="0"/>
          </a:p>
        </p:txBody>
      </p:sp>
      <p:sp>
        <p:nvSpPr>
          <p:cNvPr id="25" name="Hide circle"/>
          <p:cNvSpPr/>
          <p:nvPr/>
        </p:nvSpPr>
        <p:spPr>
          <a:xfrm>
            <a:off x="6409944" y="1874520"/>
            <a:ext cx="594360" cy="594360"/>
          </a:xfrm>
          <a:prstGeom prst="ellipse">
            <a:avLst/>
          </a:prstGeom>
          <a:solidFill>
            <a:srgbClr val="D97706"/>
          </a:solidFill>
          <a:ln w="12700">
            <a:solidFill>
              <a:srgbClr val="D97706"/>
            </a:solidFill>
            <a:prstDash val="solid"/>
          </a:ln>
        </p:spPr>
      </p:sp>
      <p:pic>
        <p:nvPicPr>
          <p:cNvPr id="26" name="Hide icon" descr="Hide">    </p:cNvPr>
          <p:cNvPicPr>
            <a:picLocks noChangeAspect="1"/>
          </p:cNvPicPr>
          <p:nvPr/>
        </p:nvPicPr>
        <p:blipFill>
          <a:blip r:embed="rId7"/>
          <a:stretch>
            <a:fillRect/>
          </a:stretch>
        </p:blipFill>
        <p:spPr>
          <a:xfrm>
            <a:off x="6558534" y="2023110"/>
            <a:ext cx="297180" cy="297180"/>
          </a:xfrm>
          <a:prstGeom prst="rect">
            <a:avLst/>
          </a:prstGeom>
        </p:spPr>
      </p:pic>
      <p:sp>
        <p:nvSpPr>
          <p:cNvPr id="27" name="Text 18"/>
          <p:cNvSpPr txBox="1"/>
          <p:nvPr/>
        </p:nvSpPr>
        <p:spPr>
          <a:xfrm>
            <a:off x="6135624" y="2542032"/>
            <a:ext cx="114300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Hide</a:t>
            </a:r>
            <a:endParaRPr lang="en-US" sz="1600" dirty="0"/>
          </a:p>
        </p:txBody>
      </p:sp>
      <p:sp>
        <p:nvSpPr>
          <p:cNvPr id="28" name="Text 19"/>
          <p:cNvSpPr txBox="1"/>
          <p:nvPr/>
        </p:nvSpPr>
        <p:spPr>
          <a:xfrm>
            <a:off x="6135624" y="2880360"/>
            <a:ext cx="1143000" cy="594360"/>
          </a:xfrm>
          <a:prstGeom prst="rect">
            <a:avLst/>
          </a:prstGeom>
          <a:noFill/>
          <a:ln/>
        </p:spPr>
        <p:txBody>
          <a:bodyPr wrap="square" lIns="0" tIns="0" rIns="0" bIns="0" rtlCol="0" anchor="t"/>
          <a:lstStyle/>
          <a:p>
            <a:pPr algn="ctr" indent="0" marL="0">
              <a:buNone/>
            </a:pPr>
            <a:r>
              <a:rPr lang="en-US" sz="1150" dirty="0">
                <a:solidFill>
                  <a:srgbClr val="CBD5E1"/>
                </a:solidFill>
                <a:latin typeface="Calibri" pitchFamily="34" charset="0"/>
                <a:ea typeface="Calibri" pitchFamily="34" charset="-122"/>
                <a:cs typeface="Calibri" pitchFamily="34" charset="-120"/>
              </a:rPr>
              <a:t>per role, inside the query</a:t>
            </a:r>
            <a:endParaRPr lang="en-US" sz="1150" dirty="0"/>
          </a:p>
        </p:txBody>
      </p:sp>
      <p:sp>
        <p:nvSpPr>
          <p:cNvPr id="29" name="Prove circle"/>
          <p:cNvSpPr/>
          <p:nvPr/>
        </p:nvSpPr>
        <p:spPr>
          <a:xfrm>
            <a:off x="7626096" y="1874520"/>
            <a:ext cx="594360" cy="594360"/>
          </a:xfrm>
          <a:prstGeom prst="ellipse">
            <a:avLst/>
          </a:prstGeom>
          <a:solidFill>
            <a:srgbClr val="D97706"/>
          </a:solidFill>
          <a:ln w="12700">
            <a:solidFill>
              <a:srgbClr val="D97706"/>
            </a:solidFill>
            <a:prstDash val="solid"/>
          </a:ln>
        </p:spPr>
      </p:sp>
      <p:pic>
        <p:nvPicPr>
          <p:cNvPr id="30" name="Prove icon" descr="Prove">    </p:cNvPr>
          <p:cNvPicPr>
            <a:picLocks noChangeAspect="1"/>
          </p:cNvPicPr>
          <p:nvPr/>
        </p:nvPicPr>
        <p:blipFill>
          <a:blip r:embed="rId8"/>
          <a:stretch>
            <a:fillRect/>
          </a:stretch>
        </p:blipFill>
        <p:spPr>
          <a:xfrm>
            <a:off x="7774686" y="2023110"/>
            <a:ext cx="297180" cy="297180"/>
          </a:xfrm>
          <a:prstGeom prst="rect">
            <a:avLst/>
          </a:prstGeom>
        </p:spPr>
      </p:pic>
      <p:sp>
        <p:nvSpPr>
          <p:cNvPr id="31" name="Text 21"/>
          <p:cNvSpPr txBox="1"/>
          <p:nvPr/>
        </p:nvSpPr>
        <p:spPr>
          <a:xfrm>
            <a:off x="7351776" y="2542032"/>
            <a:ext cx="114300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Prove</a:t>
            </a:r>
            <a:endParaRPr lang="en-US" sz="1600" dirty="0"/>
          </a:p>
        </p:txBody>
      </p:sp>
      <p:sp>
        <p:nvSpPr>
          <p:cNvPr id="32" name="Text 22"/>
          <p:cNvSpPr txBox="1"/>
          <p:nvPr/>
        </p:nvSpPr>
        <p:spPr>
          <a:xfrm>
            <a:off x="7351776" y="2880360"/>
            <a:ext cx="1143000" cy="594360"/>
          </a:xfrm>
          <a:prstGeom prst="rect">
            <a:avLst/>
          </a:prstGeom>
          <a:noFill/>
          <a:ln/>
        </p:spPr>
        <p:txBody>
          <a:bodyPr wrap="square" lIns="0" tIns="0" rIns="0" bIns="0" rtlCol="0" anchor="t"/>
          <a:lstStyle/>
          <a:p>
            <a:pPr algn="ctr" indent="0" marL="0">
              <a:buNone/>
            </a:pPr>
            <a:r>
              <a:rPr lang="en-US" sz="1150" dirty="0">
                <a:solidFill>
                  <a:srgbClr val="CBD5E1"/>
                </a:solidFill>
                <a:latin typeface="Calibri" pitchFamily="34" charset="0"/>
                <a:ea typeface="Calibri" pitchFamily="34" charset="-122"/>
                <a:cs typeface="Calibri" pitchFamily="34" charset="-120"/>
              </a:rPr>
              <a:t>log every query</a:t>
            </a:r>
            <a:endParaRPr lang="en-US" sz="1150" dirty="0"/>
          </a:p>
        </p:txBody>
      </p:sp>
      <p:pic>
        <p:nvPicPr>
          <p:cNvPr id="33" name="arrow out" descr="then">    </p:cNvPr>
          <p:cNvPicPr>
            <a:picLocks noChangeAspect="1"/>
          </p:cNvPicPr>
          <p:nvPr/>
        </p:nvPicPr>
        <p:blipFill>
          <a:blip r:embed="rId9"/>
          <a:stretch>
            <a:fillRect/>
          </a:stretch>
        </p:blipFill>
        <p:spPr>
          <a:xfrm>
            <a:off x="8750808" y="2240280"/>
            <a:ext cx="347472" cy="347472"/>
          </a:xfrm>
          <a:prstGeom prst="rect">
            <a:avLst/>
          </a:prstGeom>
        </p:spPr>
      </p:pic>
      <p:sp>
        <p:nvSpPr>
          <p:cNvPr id="34" name="database"/>
          <p:cNvSpPr/>
          <p:nvPr/>
        </p:nvSpPr>
        <p:spPr>
          <a:xfrm>
            <a:off x="9235440" y="1280160"/>
            <a:ext cx="2377440" cy="2286000"/>
          </a:xfrm>
          <a:prstGeom prst="roundRect">
            <a:avLst>
              <a:gd name="adj" fmla="val 3200"/>
            </a:avLst>
          </a:prstGeom>
          <a:solidFill>
            <a:srgbClr val="E6F4F1"/>
          </a:solidFill>
          <a:ln w="9525">
            <a:solidFill>
              <a:srgbClr val="E6F4F1"/>
            </a:solidFill>
            <a:prstDash val="solid"/>
          </a:ln>
        </p:spPr>
      </p:sp>
      <p:sp>
        <p:nvSpPr>
          <p:cNvPr id="35" name="bank database circle"/>
          <p:cNvSpPr/>
          <p:nvPr/>
        </p:nvSpPr>
        <p:spPr>
          <a:xfrm>
            <a:off x="10012680" y="1463040"/>
            <a:ext cx="822960" cy="822960"/>
          </a:xfrm>
          <a:prstGeom prst="ellipse">
            <a:avLst/>
          </a:prstGeom>
          <a:solidFill>
            <a:srgbClr val="0F766E"/>
          </a:solidFill>
          <a:ln w="12700">
            <a:solidFill>
              <a:srgbClr val="0F766E"/>
            </a:solidFill>
            <a:prstDash val="solid"/>
          </a:ln>
        </p:spPr>
      </p:sp>
      <p:pic>
        <p:nvPicPr>
          <p:cNvPr id="36" name="bank database icon" descr="bank database">    </p:cNvPr>
          <p:cNvPicPr>
            <a:picLocks noChangeAspect="1"/>
          </p:cNvPicPr>
          <p:nvPr/>
        </p:nvPicPr>
        <p:blipFill>
          <a:blip r:embed="rId10"/>
          <a:stretch>
            <a:fillRect/>
          </a:stretch>
        </p:blipFill>
        <p:spPr>
          <a:xfrm>
            <a:off x="10218420" y="1668780"/>
            <a:ext cx="411480" cy="411480"/>
          </a:xfrm>
          <a:prstGeom prst="rect">
            <a:avLst/>
          </a:prstGeom>
        </p:spPr>
      </p:pic>
      <p:sp>
        <p:nvSpPr>
          <p:cNvPr id="37" name="Text 25"/>
          <p:cNvSpPr txBox="1"/>
          <p:nvPr/>
        </p:nvSpPr>
        <p:spPr>
          <a:xfrm>
            <a:off x="9326880" y="2377440"/>
            <a:ext cx="2194560" cy="365760"/>
          </a:xfrm>
          <a:prstGeom prst="rect">
            <a:avLst/>
          </a:prstGeom>
          <a:noFill/>
          <a:ln/>
        </p:spPr>
        <p:txBody>
          <a:bodyPr wrap="square" lIns="0" tIns="0" rIns="0" bIns="0" rtlCol="0" anchor="ctr"/>
          <a:lstStyle/>
          <a:p>
            <a:pPr algn="ctr" indent="0" marL="0">
              <a:buNone/>
            </a:pPr>
            <a:r>
              <a:rPr lang="en-US" sz="1600" b="1" dirty="0">
                <a:solidFill>
                  <a:srgbClr val="0B1D33"/>
                </a:solidFill>
                <a:latin typeface="Calibri" pitchFamily="34" charset="0"/>
                <a:ea typeface="Calibri" pitchFamily="34" charset="-122"/>
                <a:cs typeface="Calibri" pitchFamily="34" charset="-120"/>
              </a:rPr>
              <a:t>Bank database</a:t>
            </a:r>
            <a:endParaRPr lang="en-US" sz="1600" dirty="0"/>
          </a:p>
        </p:txBody>
      </p:sp>
      <p:sp>
        <p:nvSpPr>
          <p:cNvPr id="38" name="Text 26"/>
          <p:cNvSpPr txBox="1"/>
          <p:nvPr/>
        </p:nvSpPr>
        <p:spPr>
          <a:xfrm>
            <a:off x="9372600" y="2743200"/>
            <a:ext cx="2103120" cy="640080"/>
          </a:xfrm>
          <a:prstGeom prst="rect">
            <a:avLst/>
          </a:prstGeom>
          <a:noFill/>
          <a:ln/>
        </p:spPr>
        <p:txBody>
          <a:bodyPr wrap="square" lIns="0" tIns="0" rIns="0" bIns="0" rtlCol="0" anchor="t"/>
          <a:lstStyle/>
          <a:p>
            <a:pPr algn="ctr" indent="0" marL="0">
              <a:buNone/>
            </a:pPr>
            <a:r>
              <a:rPr lang="en-US" sz="1300" dirty="0">
                <a:solidFill>
                  <a:srgbClr val="1E3A5F"/>
                </a:solidFill>
                <a:latin typeface="Calibri" pitchFamily="34" charset="0"/>
                <a:ea typeface="Calibri" pitchFamily="34" charset="-122"/>
                <a:cs typeface="Calibri" pitchFamily="34" charset="-120"/>
              </a:rPr>
              <a:t>never copied, never changed, read-only</a:t>
            </a:r>
            <a:endParaRPr lang="en-US" sz="1300" dirty="0"/>
          </a:p>
        </p:txBody>
      </p:sp>
      <p:sp>
        <p:nvSpPr>
          <p:cNvPr id="39" name="Text 27"/>
          <p:cNvSpPr txBox="1"/>
          <p:nvPr/>
        </p:nvSpPr>
        <p:spPr>
          <a:xfrm>
            <a:off x="548640" y="3840480"/>
            <a:ext cx="11064240" cy="365760"/>
          </a:xfrm>
          <a:prstGeom prst="rect">
            <a:avLst/>
          </a:prstGeom>
          <a:noFill/>
          <a:ln/>
        </p:spPr>
        <p:txBody>
          <a:bodyPr wrap="square" lIns="0" tIns="0" rIns="0" bIns="0" rtlCol="0" anchor="ctr"/>
          <a:lstStyle/>
          <a:p>
            <a:pPr indent="0" marL="0">
              <a:buNone/>
            </a:pPr>
            <a:r>
              <a:rPr lang="en-US" sz="1700" b="1" dirty="0">
                <a:solidFill>
                  <a:srgbClr val="D97706"/>
                </a:solidFill>
                <a:latin typeface="Calibri" pitchFamily="34" charset="0"/>
                <a:ea typeface="Calibri" pitchFamily="34" charset="-122"/>
                <a:cs typeface="Calibri" pitchFamily="34" charset="-120"/>
              </a:rPr>
              <a:t>Same question — "show me this customer's PAN" — three different answers</a:t>
            </a:r>
            <a:endParaRPr lang="en-US" sz="1700" dirty="0"/>
          </a:p>
        </p:txBody>
      </p:sp>
      <p:sp>
        <p:nvSpPr>
          <p:cNvPr id="40" name="answer Admin"/>
          <p:cNvSpPr/>
          <p:nvPr/>
        </p:nvSpPr>
        <p:spPr>
          <a:xfrm>
            <a:off x="548640" y="4343400"/>
            <a:ext cx="3520440" cy="1463040"/>
          </a:xfrm>
          <a:prstGeom prst="roundRect">
            <a:avLst>
              <a:gd name="adj" fmla="val 5000"/>
            </a:avLst>
          </a:prstGeom>
          <a:solidFill>
            <a:srgbClr val="F1F5F9"/>
          </a:solidFill>
          <a:ln w="9525">
            <a:solidFill>
              <a:srgbClr val="F1F5F9"/>
            </a:solidFill>
            <a:prstDash val="solid"/>
          </a:ln>
        </p:spPr>
      </p:sp>
      <p:sp>
        <p:nvSpPr>
          <p:cNvPr id="41" name="Admin circle"/>
          <p:cNvSpPr/>
          <p:nvPr/>
        </p:nvSpPr>
        <p:spPr>
          <a:xfrm>
            <a:off x="731520" y="4526280"/>
            <a:ext cx="566928" cy="566928"/>
          </a:xfrm>
          <a:prstGeom prst="ellipse">
            <a:avLst/>
          </a:prstGeom>
          <a:solidFill>
            <a:srgbClr val="0B1D33"/>
          </a:solidFill>
          <a:ln w="12700">
            <a:solidFill>
              <a:srgbClr val="0B1D33"/>
            </a:solidFill>
            <a:prstDash val="solid"/>
          </a:ln>
        </p:spPr>
      </p:sp>
      <p:pic>
        <p:nvPicPr>
          <p:cNvPr id="42" name="Admin icon" descr="Admin">    </p:cNvPr>
          <p:cNvPicPr>
            <a:picLocks noChangeAspect="1"/>
          </p:cNvPicPr>
          <p:nvPr/>
        </p:nvPicPr>
        <p:blipFill>
          <a:blip r:embed="rId11"/>
          <a:stretch>
            <a:fillRect/>
          </a:stretch>
        </p:blipFill>
        <p:spPr>
          <a:xfrm>
            <a:off x="873252" y="4668012"/>
            <a:ext cx="283464" cy="283464"/>
          </a:xfrm>
          <a:prstGeom prst="rect">
            <a:avLst/>
          </a:prstGeom>
        </p:spPr>
      </p:pic>
      <p:sp>
        <p:nvSpPr>
          <p:cNvPr id="43" name="Text 30"/>
          <p:cNvSpPr txBox="1"/>
          <p:nvPr/>
        </p:nvSpPr>
        <p:spPr>
          <a:xfrm>
            <a:off x="1417320" y="4526280"/>
            <a:ext cx="2468880" cy="292608"/>
          </a:xfrm>
          <a:prstGeom prst="rect">
            <a:avLst/>
          </a:prstGeom>
          <a:noFill/>
          <a:ln/>
        </p:spPr>
        <p:txBody>
          <a:bodyPr wrap="square" lIns="0" tIns="0" rIns="0" bIns="0" rtlCol="0" anchor="ctr"/>
          <a:lstStyle/>
          <a:p>
            <a:pPr indent="0" marL="0">
              <a:buNone/>
            </a:pPr>
            <a:r>
              <a:rPr lang="en-US" sz="1500" b="1" dirty="0">
                <a:solidFill>
                  <a:srgbClr val="0B1D33"/>
                </a:solidFill>
                <a:latin typeface="Calibri" pitchFamily="34" charset="0"/>
                <a:ea typeface="Calibri" pitchFamily="34" charset="-122"/>
                <a:cs typeface="Calibri" pitchFamily="34" charset="-120"/>
              </a:rPr>
              <a:t>Admin</a:t>
            </a:r>
            <a:endParaRPr lang="en-US" sz="1500" dirty="0"/>
          </a:p>
        </p:txBody>
      </p:sp>
      <p:sp>
        <p:nvSpPr>
          <p:cNvPr id="44" name="Text 31"/>
          <p:cNvSpPr txBox="1"/>
          <p:nvPr/>
        </p:nvSpPr>
        <p:spPr>
          <a:xfrm>
            <a:off x="1417320" y="4818888"/>
            <a:ext cx="2560320" cy="411480"/>
          </a:xfrm>
          <a:prstGeom prst="rect">
            <a:avLst/>
          </a:prstGeom>
          <a:noFill/>
          <a:ln/>
        </p:spPr>
        <p:txBody>
          <a:bodyPr wrap="square" lIns="0" tIns="0" rIns="0" bIns="0" rtlCol="0" anchor="ctr"/>
          <a:lstStyle/>
          <a:p>
            <a:pPr indent="0" marL="0">
              <a:buNone/>
            </a:pPr>
            <a:r>
              <a:rPr lang="en-US" sz="2100" b="1" dirty="0">
                <a:solidFill>
                  <a:srgbClr val="0B1D33"/>
                </a:solidFill>
                <a:latin typeface="Courier New" pitchFamily="34" charset="0"/>
                <a:ea typeface="Courier New" pitchFamily="34" charset="-122"/>
                <a:cs typeface="Courier New" pitchFamily="34" charset="-120"/>
              </a:rPr>
              <a:t>OFSPG0000G</a:t>
            </a:r>
            <a:endParaRPr lang="en-US" sz="2100" dirty="0"/>
          </a:p>
        </p:txBody>
      </p:sp>
      <p:sp>
        <p:nvSpPr>
          <p:cNvPr id="45" name="Text 32"/>
          <p:cNvSpPr txBox="1"/>
          <p:nvPr/>
        </p:nvSpPr>
        <p:spPr>
          <a:xfrm>
            <a:off x="749808" y="5321808"/>
            <a:ext cx="320040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the real value</a:t>
            </a:r>
            <a:endParaRPr lang="en-US" sz="1300" dirty="0"/>
          </a:p>
        </p:txBody>
      </p:sp>
      <p:sp>
        <p:nvSpPr>
          <p:cNvPr id="46" name="answer Support"/>
          <p:cNvSpPr/>
          <p:nvPr/>
        </p:nvSpPr>
        <p:spPr>
          <a:xfrm>
            <a:off x="4297680" y="4343400"/>
            <a:ext cx="3520440" cy="1463040"/>
          </a:xfrm>
          <a:prstGeom prst="roundRect">
            <a:avLst>
              <a:gd name="adj" fmla="val 5000"/>
            </a:avLst>
          </a:prstGeom>
          <a:solidFill>
            <a:srgbClr val="F1F5F9"/>
          </a:solidFill>
          <a:ln w="9525">
            <a:solidFill>
              <a:srgbClr val="F1F5F9"/>
            </a:solidFill>
            <a:prstDash val="solid"/>
          </a:ln>
        </p:spPr>
      </p:sp>
      <p:sp>
        <p:nvSpPr>
          <p:cNvPr id="47" name="Support circle"/>
          <p:cNvSpPr/>
          <p:nvPr/>
        </p:nvSpPr>
        <p:spPr>
          <a:xfrm>
            <a:off x="4480560" y="4526280"/>
            <a:ext cx="566928" cy="566928"/>
          </a:xfrm>
          <a:prstGeom prst="ellipse">
            <a:avLst/>
          </a:prstGeom>
          <a:solidFill>
            <a:srgbClr val="D97706"/>
          </a:solidFill>
          <a:ln w="12700">
            <a:solidFill>
              <a:srgbClr val="D97706"/>
            </a:solidFill>
            <a:prstDash val="solid"/>
          </a:ln>
        </p:spPr>
      </p:sp>
      <p:pic>
        <p:nvPicPr>
          <p:cNvPr id="48" name="Support icon" descr="Support">    </p:cNvPr>
          <p:cNvPicPr>
            <a:picLocks noChangeAspect="1"/>
          </p:cNvPicPr>
          <p:nvPr/>
        </p:nvPicPr>
        <p:blipFill>
          <a:blip r:embed="rId12"/>
          <a:stretch>
            <a:fillRect/>
          </a:stretch>
        </p:blipFill>
        <p:spPr>
          <a:xfrm>
            <a:off x="4622292" y="4668012"/>
            <a:ext cx="283464" cy="283464"/>
          </a:xfrm>
          <a:prstGeom prst="rect">
            <a:avLst/>
          </a:prstGeom>
        </p:spPr>
      </p:pic>
      <p:sp>
        <p:nvSpPr>
          <p:cNvPr id="49" name="Text 35"/>
          <p:cNvSpPr txBox="1"/>
          <p:nvPr/>
        </p:nvSpPr>
        <p:spPr>
          <a:xfrm>
            <a:off x="5166360" y="4526280"/>
            <a:ext cx="2468880" cy="292608"/>
          </a:xfrm>
          <a:prstGeom prst="rect">
            <a:avLst/>
          </a:prstGeom>
          <a:noFill/>
          <a:ln/>
        </p:spPr>
        <p:txBody>
          <a:bodyPr wrap="square" lIns="0" tIns="0" rIns="0" bIns="0" rtlCol="0" anchor="ctr"/>
          <a:lstStyle/>
          <a:p>
            <a:pPr indent="0" marL="0">
              <a:buNone/>
            </a:pPr>
            <a:r>
              <a:rPr lang="en-US" sz="1500" b="1" dirty="0">
                <a:solidFill>
                  <a:srgbClr val="0B1D33"/>
                </a:solidFill>
                <a:latin typeface="Calibri" pitchFamily="34" charset="0"/>
                <a:ea typeface="Calibri" pitchFamily="34" charset="-122"/>
                <a:cs typeface="Calibri" pitchFamily="34" charset="-120"/>
              </a:rPr>
              <a:t>Support</a:t>
            </a:r>
            <a:endParaRPr lang="en-US" sz="1500" dirty="0"/>
          </a:p>
        </p:txBody>
      </p:sp>
      <p:sp>
        <p:nvSpPr>
          <p:cNvPr id="50" name="Text 36"/>
          <p:cNvSpPr txBox="1"/>
          <p:nvPr/>
        </p:nvSpPr>
        <p:spPr>
          <a:xfrm>
            <a:off x="5166360" y="4818888"/>
            <a:ext cx="2560320" cy="411480"/>
          </a:xfrm>
          <a:prstGeom prst="rect">
            <a:avLst/>
          </a:prstGeom>
          <a:noFill/>
          <a:ln/>
        </p:spPr>
        <p:txBody>
          <a:bodyPr wrap="square" lIns="0" tIns="0" rIns="0" bIns="0" rtlCol="0" anchor="ctr"/>
          <a:lstStyle/>
          <a:p>
            <a:pPr indent="0" marL="0">
              <a:buNone/>
            </a:pPr>
            <a:r>
              <a:rPr lang="en-US" sz="2100" b="1" dirty="0">
                <a:solidFill>
                  <a:srgbClr val="D97706"/>
                </a:solidFill>
                <a:latin typeface="Courier New" pitchFamily="34" charset="0"/>
                <a:ea typeface="Courier New" pitchFamily="34" charset="-122"/>
                <a:cs typeface="Courier New" pitchFamily="34" charset="-120"/>
              </a:rPr>
              <a:t>OFXXXXXXXG</a:t>
            </a:r>
            <a:endParaRPr lang="en-US" sz="2100" dirty="0"/>
          </a:p>
        </p:txBody>
      </p:sp>
      <p:sp>
        <p:nvSpPr>
          <p:cNvPr id="51" name="Text 37"/>
          <p:cNvSpPr txBox="1"/>
          <p:nvPr/>
        </p:nvSpPr>
        <p:spPr>
          <a:xfrm>
            <a:off x="4498848" y="5321808"/>
            <a:ext cx="320040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enough to confirm, not to copy</a:t>
            </a:r>
            <a:endParaRPr lang="en-US" sz="1300" dirty="0"/>
          </a:p>
        </p:txBody>
      </p:sp>
      <p:sp>
        <p:nvSpPr>
          <p:cNvPr id="52" name="answer Analyst"/>
          <p:cNvSpPr/>
          <p:nvPr/>
        </p:nvSpPr>
        <p:spPr>
          <a:xfrm>
            <a:off x="8046720" y="4343400"/>
            <a:ext cx="3520440" cy="1463040"/>
          </a:xfrm>
          <a:prstGeom prst="roundRect">
            <a:avLst>
              <a:gd name="adj" fmla="val 5000"/>
            </a:avLst>
          </a:prstGeom>
          <a:solidFill>
            <a:srgbClr val="F1F5F9"/>
          </a:solidFill>
          <a:ln w="9525">
            <a:solidFill>
              <a:srgbClr val="F1F5F9"/>
            </a:solidFill>
            <a:prstDash val="solid"/>
          </a:ln>
        </p:spPr>
      </p:sp>
      <p:sp>
        <p:nvSpPr>
          <p:cNvPr id="53" name="Analyst circle"/>
          <p:cNvSpPr/>
          <p:nvPr/>
        </p:nvSpPr>
        <p:spPr>
          <a:xfrm>
            <a:off x="8229600" y="4526280"/>
            <a:ext cx="566928" cy="566928"/>
          </a:xfrm>
          <a:prstGeom prst="ellipse">
            <a:avLst/>
          </a:prstGeom>
          <a:solidFill>
            <a:srgbClr val="0F766E"/>
          </a:solidFill>
          <a:ln w="12700">
            <a:solidFill>
              <a:srgbClr val="0F766E"/>
            </a:solidFill>
            <a:prstDash val="solid"/>
          </a:ln>
        </p:spPr>
      </p:sp>
      <p:pic>
        <p:nvPicPr>
          <p:cNvPr id="54" name="Analyst icon" descr="Analyst">    </p:cNvPr>
          <p:cNvPicPr>
            <a:picLocks noChangeAspect="1"/>
          </p:cNvPicPr>
          <p:nvPr/>
        </p:nvPicPr>
        <p:blipFill>
          <a:blip r:embed="rId13"/>
          <a:stretch>
            <a:fillRect/>
          </a:stretch>
        </p:blipFill>
        <p:spPr>
          <a:xfrm>
            <a:off x="8371332" y="4668012"/>
            <a:ext cx="283464" cy="283464"/>
          </a:xfrm>
          <a:prstGeom prst="rect">
            <a:avLst/>
          </a:prstGeom>
        </p:spPr>
      </p:pic>
      <p:sp>
        <p:nvSpPr>
          <p:cNvPr id="55" name="Text 40"/>
          <p:cNvSpPr txBox="1"/>
          <p:nvPr/>
        </p:nvSpPr>
        <p:spPr>
          <a:xfrm>
            <a:off x="8915400" y="4526280"/>
            <a:ext cx="2468880" cy="292608"/>
          </a:xfrm>
          <a:prstGeom prst="rect">
            <a:avLst/>
          </a:prstGeom>
          <a:noFill/>
          <a:ln/>
        </p:spPr>
        <p:txBody>
          <a:bodyPr wrap="square" lIns="0" tIns="0" rIns="0" bIns="0" rtlCol="0" anchor="ctr"/>
          <a:lstStyle/>
          <a:p>
            <a:pPr indent="0" marL="0">
              <a:buNone/>
            </a:pPr>
            <a:r>
              <a:rPr lang="en-US" sz="1500" b="1" dirty="0">
                <a:solidFill>
                  <a:srgbClr val="0B1D33"/>
                </a:solidFill>
                <a:latin typeface="Calibri" pitchFamily="34" charset="0"/>
                <a:ea typeface="Calibri" pitchFamily="34" charset="-122"/>
                <a:cs typeface="Calibri" pitchFamily="34" charset="-120"/>
              </a:rPr>
              <a:t>Analyst</a:t>
            </a:r>
            <a:endParaRPr lang="en-US" sz="1500" dirty="0"/>
          </a:p>
        </p:txBody>
      </p:sp>
      <p:sp>
        <p:nvSpPr>
          <p:cNvPr id="56" name="Text 41"/>
          <p:cNvSpPr txBox="1"/>
          <p:nvPr/>
        </p:nvSpPr>
        <p:spPr>
          <a:xfrm>
            <a:off x="8915400" y="4818888"/>
            <a:ext cx="2560320" cy="411480"/>
          </a:xfrm>
          <a:prstGeom prst="rect">
            <a:avLst/>
          </a:prstGeom>
          <a:noFill/>
          <a:ln/>
        </p:spPr>
        <p:txBody>
          <a:bodyPr wrap="square" lIns="0" tIns="0" rIns="0" bIns="0" rtlCol="0" anchor="ctr"/>
          <a:lstStyle/>
          <a:p>
            <a:pPr indent="0" marL="0">
              <a:buNone/>
            </a:pPr>
            <a:r>
              <a:rPr lang="en-US" sz="2100" b="1" dirty="0">
                <a:solidFill>
                  <a:srgbClr val="0F766E"/>
                </a:solidFill>
                <a:latin typeface="Courier New" pitchFamily="34" charset="0"/>
                <a:ea typeface="Courier New" pitchFamily="34" charset="-122"/>
                <a:cs typeface="Courier New" pitchFamily="34" charset="-120"/>
              </a:rPr>
              <a:t>951adf05…1626</a:t>
            </a:r>
            <a:endParaRPr lang="en-US" sz="2100" dirty="0"/>
          </a:p>
        </p:txBody>
      </p:sp>
      <p:sp>
        <p:nvSpPr>
          <p:cNvPr id="57" name="Text 42"/>
          <p:cNvSpPr txBox="1"/>
          <p:nvPr/>
        </p:nvSpPr>
        <p:spPr>
          <a:xfrm>
            <a:off x="8247888" y="5321808"/>
            <a:ext cx="320040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 code: counts and joins still work</a:t>
            </a:r>
            <a:endParaRPr lang="en-US" sz="1300" dirty="0"/>
          </a:p>
        </p:txBody>
      </p:sp>
      <p:sp>
        <p:nvSpPr>
          <p:cNvPr id="58" name="Text 43"/>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600" b="1" dirty="0">
                <a:solidFill>
                  <a:srgbClr val="0B1D33"/>
                </a:solidFill>
                <a:latin typeface="Calibri" pitchFamily="34" charset="0"/>
                <a:ea typeface="Calibri" pitchFamily="34" charset="-122"/>
                <a:cs typeface="Calibri" pitchFamily="34" charset="-120"/>
              </a:rPr>
              <a:t>And if Support searches for the real PAN?  </a:t>
            </a:r>
            <a:pPr indent="0" marL="0">
              <a:buNone/>
            </a:pPr>
            <a:r>
              <a:rPr lang="en-US" sz="1600" dirty="0">
                <a:solidFill>
                  <a:srgbClr val="1E3A5F"/>
                </a:solidFill>
                <a:latin typeface="Calibri" pitchFamily="34" charset="0"/>
                <a:ea typeface="Calibri" pitchFamily="34" charset="-122"/>
                <a:cs typeface="Calibri" pitchFamily="34" charset="-120"/>
              </a:rPr>
              <a:t>0 rows. The search itself only sees the masked value.</a:t>
            </a:r>
            <a:endParaRPr lang="en-US" sz="16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Architecture: simple, and built to last</a:t>
            </a:r>
            <a:endParaRPr lang="en-US" sz="3000" dirty="0"/>
          </a:p>
        </p:txBody>
      </p:sp>
      <p:sp>
        <p:nvSpPr>
          <p:cNvPr id="3" name="client Dashboard"/>
          <p:cNvSpPr/>
          <p:nvPr/>
        </p:nvSpPr>
        <p:spPr>
          <a:xfrm>
            <a:off x="548640" y="1280160"/>
            <a:ext cx="2103120" cy="438912"/>
          </a:xfrm>
          <a:prstGeom prst="roundRect">
            <a:avLst>
              <a:gd name="adj" fmla="val 16667"/>
            </a:avLst>
          </a:prstGeom>
          <a:solidFill>
            <a:srgbClr val="E2E8F0"/>
          </a:solidFill>
          <a:ln w="9525">
            <a:solidFill>
              <a:srgbClr val="E2E8F0"/>
            </a:solidFill>
            <a:prstDash val="solid"/>
          </a:ln>
        </p:spPr>
      </p:sp>
      <p:sp>
        <p:nvSpPr>
          <p:cNvPr id="4" name="Text 2"/>
          <p:cNvSpPr txBox="1"/>
          <p:nvPr/>
        </p:nvSpPr>
        <p:spPr>
          <a:xfrm>
            <a:off x="603504" y="1280160"/>
            <a:ext cx="1993392" cy="438912"/>
          </a:xfrm>
          <a:prstGeom prst="rect">
            <a:avLst/>
          </a:prstGeom>
          <a:noFill/>
          <a:ln/>
        </p:spPr>
        <p:txBody>
          <a:bodyPr wrap="square" lIns="0" tIns="0" rIns="0" bIns="0" rtlCol="0" anchor="ctr"/>
          <a:lstStyle/>
          <a:p>
            <a:pPr algn="ctr" indent="0" marL="0">
              <a:buNone/>
            </a:pPr>
            <a:r>
              <a:rPr lang="en-US" sz="1300" dirty="0">
                <a:solidFill>
                  <a:srgbClr val="0B1D33"/>
                </a:solidFill>
                <a:latin typeface="Calibri" pitchFamily="34" charset="0"/>
                <a:ea typeface="Calibri" pitchFamily="34" charset="-122"/>
                <a:cs typeface="Calibri" pitchFamily="34" charset="-120"/>
              </a:rPr>
              <a:t>Dashboard</a:t>
            </a:r>
            <a:endParaRPr lang="en-US" sz="1300" dirty="0"/>
          </a:p>
        </p:txBody>
      </p:sp>
      <p:sp>
        <p:nvSpPr>
          <p:cNvPr id="5" name="client Command line"/>
          <p:cNvSpPr/>
          <p:nvPr/>
        </p:nvSpPr>
        <p:spPr>
          <a:xfrm>
            <a:off x="548640" y="1828800"/>
            <a:ext cx="2103120" cy="438912"/>
          </a:xfrm>
          <a:prstGeom prst="roundRect">
            <a:avLst>
              <a:gd name="adj" fmla="val 16667"/>
            </a:avLst>
          </a:prstGeom>
          <a:solidFill>
            <a:srgbClr val="E2E8F0"/>
          </a:solidFill>
          <a:ln w="9525">
            <a:solidFill>
              <a:srgbClr val="E2E8F0"/>
            </a:solidFill>
            <a:prstDash val="solid"/>
          </a:ln>
        </p:spPr>
      </p:sp>
      <p:sp>
        <p:nvSpPr>
          <p:cNvPr id="6" name="Text 4"/>
          <p:cNvSpPr txBox="1"/>
          <p:nvPr/>
        </p:nvSpPr>
        <p:spPr>
          <a:xfrm>
            <a:off x="603504" y="1828800"/>
            <a:ext cx="1993392" cy="438912"/>
          </a:xfrm>
          <a:prstGeom prst="rect">
            <a:avLst/>
          </a:prstGeom>
          <a:noFill/>
          <a:ln/>
        </p:spPr>
        <p:txBody>
          <a:bodyPr wrap="square" lIns="0" tIns="0" rIns="0" bIns="0" rtlCol="0" anchor="ctr"/>
          <a:lstStyle/>
          <a:p>
            <a:pPr algn="ctr" indent="0" marL="0">
              <a:buNone/>
            </a:pPr>
            <a:r>
              <a:rPr lang="en-US" sz="1300" dirty="0">
                <a:solidFill>
                  <a:srgbClr val="0B1D33"/>
                </a:solidFill>
                <a:latin typeface="Calibri" pitchFamily="34" charset="0"/>
                <a:ea typeface="Calibri" pitchFamily="34" charset="-122"/>
                <a:cs typeface="Calibri" pitchFamily="34" charset="-120"/>
              </a:rPr>
              <a:t>Command line</a:t>
            </a:r>
            <a:endParaRPr lang="en-US" sz="1300" dirty="0"/>
          </a:p>
        </p:txBody>
      </p:sp>
      <p:sp>
        <p:nvSpPr>
          <p:cNvPr id="7" name="client REST API"/>
          <p:cNvSpPr/>
          <p:nvPr/>
        </p:nvSpPr>
        <p:spPr>
          <a:xfrm>
            <a:off x="548640" y="2377440"/>
            <a:ext cx="2103120" cy="438912"/>
          </a:xfrm>
          <a:prstGeom prst="roundRect">
            <a:avLst>
              <a:gd name="adj" fmla="val 16667"/>
            </a:avLst>
          </a:prstGeom>
          <a:solidFill>
            <a:srgbClr val="E2E8F0"/>
          </a:solidFill>
          <a:ln w="9525">
            <a:solidFill>
              <a:srgbClr val="E2E8F0"/>
            </a:solidFill>
            <a:prstDash val="solid"/>
          </a:ln>
        </p:spPr>
      </p:sp>
      <p:sp>
        <p:nvSpPr>
          <p:cNvPr id="8" name="Text 6"/>
          <p:cNvSpPr txBox="1"/>
          <p:nvPr/>
        </p:nvSpPr>
        <p:spPr>
          <a:xfrm>
            <a:off x="603504" y="2377440"/>
            <a:ext cx="1993392" cy="438912"/>
          </a:xfrm>
          <a:prstGeom prst="rect">
            <a:avLst/>
          </a:prstGeom>
          <a:noFill/>
          <a:ln/>
        </p:spPr>
        <p:txBody>
          <a:bodyPr wrap="square" lIns="0" tIns="0" rIns="0" bIns="0" rtlCol="0" anchor="ctr"/>
          <a:lstStyle/>
          <a:p>
            <a:pPr algn="ctr" indent="0" marL="0">
              <a:buNone/>
            </a:pPr>
            <a:r>
              <a:rPr lang="en-US" sz="1300" dirty="0">
                <a:solidFill>
                  <a:srgbClr val="0B1D33"/>
                </a:solidFill>
                <a:latin typeface="Calibri" pitchFamily="34" charset="0"/>
                <a:ea typeface="Calibri" pitchFamily="34" charset="-122"/>
                <a:cs typeface="Calibri" pitchFamily="34" charset="-120"/>
              </a:rPr>
              <a:t>REST API</a:t>
            </a:r>
            <a:endParaRPr lang="en-US" sz="1300" dirty="0"/>
          </a:p>
        </p:txBody>
      </p:sp>
      <p:sp>
        <p:nvSpPr>
          <p:cNvPr id="9" name="client BI tools (PostgreSQL wire)"/>
          <p:cNvSpPr/>
          <p:nvPr/>
        </p:nvSpPr>
        <p:spPr>
          <a:xfrm>
            <a:off x="548640" y="2926080"/>
            <a:ext cx="2103120" cy="438912"/>
          </a:xfrm>
          <a:prstGeom prst="roundRect">
            <a:avLst>
              <a:gd name="adj" fmla="val 16667"/>
            </a:avLst>
          </a:prstGeom>
          <a:solidFill>
            <a:srgbClr val="E2E8F0"/>
          </a:solidFill>
          <a:ln w="9525">
            <a:solidFill>
              <a:srgbClr val="E2E8F0"/>
            </a:solidFill>
            <a:prstDash val="solid"/>
          </a:ln>
        </p:spPr>
      </p:sp>
      <p:sp>
        <p:nvSpPr>
          <p:cNvPr id="10" name="Text 8"/>
          <p:cNvSpPr txBox="1"/>
          <p:nvPr/>
        </p:nvSpPr>
        <p:spPr>
          <a:xfrm>
            <a:off x="603504" y="2926080"/>
            <a:ext cx="1993392" cy="438912"/>
          </a:xfrm>
          <a:prstGeom prst="rect">
            <a:avLst/>
          </a:prstGeom>
          <a:noFill/>
          <a:ln/>
        </p:spPr>
        <p:txBody>
          <a:bodyPr wrap="square" lIns="0" tIns="0" rIns="0" bIns="0" rtlCol="0" anchor="ctr"/>
          <a:lstStyle/>
          <a:p>
            <a:pPr algn="ctr" indent="0" marL="0">
              <a:buNone/>
            </a:pPr>
            <a:r>
              <a:rPr lang="en-US" sz="1300" dirty="0">
                <a:solidFill>
                  <a:srgbClr val="0B1D33"/>
                </a:solidFill>
                <a:latin typeface="Calibri" pitchFamily="34" charset="0"/>
                <a:ea typeface="Calibri" pitchFamily="34" charset="-122"/>
                <a:cs typeface="Calibri" pitchFamily="34" charset="-120"/>
              </a:rPr>
              <a:t>BI tools (PostgreSQL wire)</a:t>
            </a:r>
            <a:endParaRPr lang="en-US" sz="1300" dirty="0"/>
          </a:p>
        </p:txBody>
      </p:sp>
      <p:sp>
        <p:nvSpPr>
          <p:cNvPr id="11" name="login"/>
          <p:cNvSpPr/>
          <p:nvPr/>
        </p:nvSpPr>
        <p:spPr>
          <a:xfrm>
            <a:off x="3017520" y="1600200"/>
            <a:ext cx="1463040" cy="960120"/>
          </a:xfrm>
          <a:prstGeom prst="roundRect">
            <a:avLst>
              <a:gd name="adj" fmla="val 7619"/>
            </a:avLst>
          </a:prstGeom>
          <a:solidFill>
            <a:srgbClr val="FFFFFF"/>
          </a:solidFill>
          <a:ln w="9525">
            <a:solidFill>
              <a:srgbClr val="1E3A5F"/>
            </a:solidFill>
            <a:prstDash val="solid"/>
          </a:ln>
        </p:spPr>
      </p:sp>
      <p:sp>
        <p:nvSpPr>
          <p:cNvPr id="12" name="Text 10"/>
          <p:cNvSpPr txBox="1"/>
          <p:nvPr/>
        </p:nvSpPr>
        <p:spPr>
          <a:xfrm>
            <a:off x="3072384" y="1600200"/>
            <a:ext cx="1353312" cy="960120"/>
          </a:xfrm>
          <a:prstGeom prst="rect">
            <a:avLst/>
          </a:prstGeom>
          <a:noFill/>
          <a:ln/>
        </p:spPr>
        <p:txBody>
          <a:bodyPr wrap="square" lIns="0" tIns="0" rIns="0" bIns="0" rtlCol="0" anchor="ctr"/>
          <a:lstStyle/>
          <a:p>
            <a:pPr algn="ctr" indent="0" marL="0">
              <a:buNone/>
            </a:pPr>
            <a:r>
              <a:rPr lang="en-US" sz="1300" dirty="0">
                <a:solidFill>
                  <a:srgbClr val="0B1D33"/>
                </a:solidFill>
                <a:latin typeface="Calibri" pitchFamily="34" charset="0"/>
                <a:ea typeface="Calibri" pitchFamily="34" charset="-122"/>
                <a:cs typeface="Calibri" pitchFamily="34" charset="-120"/>
              </a:rPr>
              <a:t>1  Login</a:t>
            </a:r>
            <a:endParaRPr lang="en-US" sz="1300" dirty="0"/>
          </a:p>
          <a:p>
            <a:pPr algn="ctr" indent="0" marL="0">
              <a:buNone/>
            </a:pPr>
            <a:r>
              <a:rPr lang="en-US" sz="1300" dirty="0">
                <a:solidFill>
                  <a:srgbClr val="0B1D33"/>
                </a:solidFill>
                <a:latin typeface="Calibri" pitchFamily="34" charset="0"/>
                <a:ea typeface="Calibri" pitchFamily="34" charset="-122"/>
                <a:cs typeface="Calibri" pitchFamily="34" charset="-120"/>
              </a:rPr>
              <a:t>role from a signed token</a:t>
            </a:r>
            <a:endParaRPr lang="en-US" sz="1300" dirty="0"/>
          </a:p>
        </p:txBody>
      </p:sp>
      <p:sp>
        <p:nvSpPr>
          <p:cNvPr id="13" name="firewall"/>
          <p:cNvSpPr/>
          <p:nvPr/>
        </p:nvSpPr>
        <p:spPr>
          <a:xfrm>
            <a:off x="4709160" y="1600200"/>
            <a:ext cx="1463040" cy="960120"/>
          </a:xfrm>
          <a:prstGeom prst="roundRect">
            <a:avLst>
              <a:gd name="adj" fmla="val 7619"/>
            </a:avLst>
          </a:prstGeom>
          <a:solidFill>
            <a:srgbClr val="FFFFFF"/>
          </a:solidFill>
          <a:ln w="9525">
            <a:solidFill>
              <a:srgbClr val="1E3A5F"/>
            </a:solidFill>
            <a:prstDash val="solid"/>
          </a:ln>
        </p:spPr>
      </p:sp>
      <p:sp>
        <p:nvSpPr>
          <p:cNvPr id="14" name="Text 12"/>
          <p:cNvSpPr txBox="1"/>
          <p:nvPr/>
        </p:nvSpPr>
        <p:spPr>
          <a:xfrm>
            <a:off x="4764024" y="1600200"/>
            <a:ext cx="1353312" cy="960120"/>
          </a:xfrm>
          <a:prstGeom prst="rect">
            <a:avLst/>
          </a:prstGeom>
          <a:noFill/>
          <a:ln/>
        </p:spPr>
        <p:txBody>
          <a:bodyPr wrap="square" lIns="0" tIns="0" rIns="0" bIns="0" rtlCol="0" anchor="ctr"/>
          <a:lstStyle/>
          <a:p>
            <a:pPr algn="ctr" indent="0" marL="0">
              <a:buNone/>
            </a:pPr>
            <a:r>
              <a:rPr lang="en-US" sz="1300" dirty="0">
                <a:solidFill>
                  <a:srgbClr val="0B1D33"/>
                </a:solidFill>
                <a:latin typeface="Calibri" pitchFamily="34" charset="0"/>
                <a:ea typeface="Calibri" pitchFamily="34" charset="-122"/>
                <a:cs typeface="Calibri" pitchFamily="34" charset="-120"/>
              </a:rPr>
              <a:t>2  Safety check</a:t>
            </a:r>
            <a:endParaRPr lang="en-US" sz="1300" dirty="0"/>
          </a:p>
          <a:p>
            <a:pPr algn="ctr" indent="0" marL="0">
              <a:buNone/>
            </a:pPr>
            <a:r>
              <a:rPr lang="en-US" sz="1300" dirty="0">
                <a:solidFill>
                  <a:srgbClr val="0B1D33"/>
                </a:solidFill>
                <a:latin typeface="Calibri" pitchFamily="34" charset="0"/>
                <a:ea typeface="Calibri" pitchFamily="34" charset="-122"/>
                <a:cs typeface="Calibri" pitchFamily="34" charset="-120"/>
              </a:rPr>
              <a:t>reads only</a:t>
            </a:r>
            <a:endParaRPr lang="en-US" sz="1300" dirty="0"/>
          </a:p>
        </p:txBody>
      </p:sp>
      <p:sp>
        <p:nvSpPr>
          <p:cNvPr id="15" name="rewrite"/>
          <p:cNvSpPr/>
          <p:nvPr/>
        </p:nvSpPr>
        <p:spPr>
          <a:xfrm>
            <a:off x="6400800" y="1508760"/>
            <a:ext cx="1874520" cy="1143000"/>
          </a:xfrm>
          <a:prstGeom prst="roundRect">
            <a:avLst>
              <a:gd name="adj" fmla="val 6400"/>
            </a:avLst>
          </a:prstGeom>
          <a:solidFill>
            <a:srgbClr val="0B1D33"/>
          </a:solidFill>
          <a:ln w="9525">
            <a:solidFill>
              <a:srgbClr val="0B1D33"/>
            </a:solidFill>
            <a:prstDash val="solid"/>
          </a:ln>
        </p:spPr>
      </p:sp>
      <p:sp>
        <p:nvSpPr>
          <p:cNvPr id="16" name="Text 14"/>
          <p:cNvSpPr txBox="1"/>
          <p:nvPr/>
        </p:nvSpPr>
        <p:spPr>
          <a:xfrm>
            <a:off x="6455664" y="1508760"/>
            <a:ext cx="1764792" cy="11430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  Rewrite the query</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so the database returns masked values</a:t>
            </a:r>
            <a:endParaRPr lang="en-US" sz="1300" dirty="0"/>
          </a:p>
        </p:txBody>
      </p:sp>
      <p:sp>
        <p:nvSpPr>
          <p:cNvPr id="17" name="database"/>
          <p:cNvSpPr/>
          <p:nvPr/>
        </p:nvSpPr>
        <p:spPr>
          <a:xfrm>
            <a:off x="8823960" y="1600200"/>
            <a:ext cx="2788920" cy="960120"/>
          </a:xfrm>
          <a:prstGeom prst="roundRect">
            <a:avLst>
              <a:gd name="adj" fmla="val 7619"/>
            </a:avLst>
          </a:prstGeom>
          <a:solidFill>
            <a:srgbClr val="E6F4F1"/>
          </a:solidFill>
          <a:ln w="9525">
            <a:solidFill>
              <a:srgbClr val="E6F4F1"/>
            </a:solidFill>
            <a:prstDash val="solid"/>
          </a:ln>
        </p:spPr>
      </p:sp>
      <p:sp>
        <p:nvSpPr>
          <p:cNvPr id="18" name="Text 16"/>
          <p:cNvSpPr txBox="1"/>
          <p:nvPr/>
        </p:nvSpPr>
        <p:spPr>
          <a:xfrm>
            <a:off x="8878824" y="1600200"/>
            <a:ext cx="2679192" cy="960120"/>
          </a:xfrm>
          <a:prstGeom prst="rect">
            <a:avLst/>
          </a:prstGeom>
          <a:noFill/>
          <a:ln/>
        </p:spPr>
        <p:txBody>
          <a:bodyPr wrap="square" lIns="0" tIns="0" rIns="0" bIns="0" rtlCol="0" anchor="ctr"/>
          <a:lstStyle/>
          <a:p>
            <a:pPr algn="ctr" indent="0" marL="0">
              <a:buNone/>
            </a:pPr>
            <a:r>
              <a:rPr lang="en-US" sz="1300" dirty="0">
                <a:solidFill>
                  <a:srgbClr val="0B1D33"/>
                </a:solidFill>
                <a:latin typeface="Calibri" pitchFamily="34" charset="0"/>
                <a:ea typeface="Calibri" pitchFamily="34" charset="-122"/>
                <a:cs typeface="Calibri" pitchFamily="34" charset="-120"/>
              </a:rPr>
              <a:t>Bank database (read-only)</a:t>
            </a:r>
            <a:endParaRPr lang="en-US" sz="1300" dirty="0"/>
          </a:p>
          <a:p>
            <a:pPr algn="ctr" indent="0" marL="0">
              <a:buNone/>
            </a:pPr>
            <a:r>
              <a:rPr lang="en-US" sz="1300" dirty="0">
                <a:solidFill>
                  <a:srgbClr val="0B1D33"/>
                </a:solidFill>
                <a:latin typeface="Calibri" pitchFamily="34" charset="0"/>
                <a:ea typeface="Calibri" pitchFamily="34" charset="-122"/>
                <a:cs typeface="Calibri" pitchFamily="34" charset="-120"/>
              </a:rPr>
              <a:t>SQLite · PostgreSQL · MySQL</a:t>
            </a:r>
            <a:endParaRPr lang="en-US" sz="1300" dirty="0"/>
          </a:p>
        </p:txBody>
      </p:sp>
      <p:sp>
        <p:nvSpPr>
          <p:cNvPr id="19" name="a1"/>
          <p:cNvSpPr/>
          <p:nvPr/>
        </p:nvSpPr>
        <p:spPr>
          <a:xfrm>
            <a:off x="2651760" y="2075688"/>
            <a:ext cx="365760" cy="0"/>
          </a:xfrm>
          <a:prstGeom prst="line">
            <a:avLst/>
          </a:prstGeom>
          <a:noFill/>
          <a:ln w="19050">
            <a:solidFill>
              <a:srgbClr val="64748B"/>
            </a:solidFill>
            <a:prstDash val="solid"/>
            <a:tailEnd type="triangle"/>
          </a:ln>
        </p:spPr>
      </p:sp>
      <p:sp>
        <p:nvSpPr>
          <p:cNvPr id="20" name="a2"/>
          <p:cNvSpPr/>
          <p:nvPr/>
        </p:nvSpPr>
        <p:spPr>
          <a:xfrm>
            <a:off x="4480560" y="2075688"/>
            <a:ext cx="228600" cy="0"/>
          </a:xfrm>
          <a:prstGeom prst="line">
            <a:avLst/>
          </a:prstGeom>
          <a:noFill/>
          <a:ln w="19050">
            <a:solidFill>
              <a:srgbClr val="64748B"/>
            </a:solidFill>
            <a:prstDash val="solid"/>
            <a:tailEnd type="triangle"/>
          </a:ln>
        </p:spPr>
      </p:sp>
      <p:sp>
        <p:nvSpPr>
          <p:cNvPr id="21" name="a3"/>
          <p:cNvSpPr/>
          <p:nvPr/>
        </p:nvSpPr>
        <p:spPr>
          <a:xfrm>
            <a:off x="6172200" y="2075688"/>
            <a:ext cx="228600" cy="0"/>
          </a:xfrm>
          <a:prstGeom prst="line">
            <a:avLst/>
          </a:prstGeom>
          <a:noFill/>
          <a:ln w="19050">
            <a:solidFill>
              <a:srgbClr val="64748B"/>
            </a:solidFill>
            <a:prstDash val="solid"/>
            <a:tailEnd type="triangle"/>
          </a:ln>
        </p:spPr>
      </p:sp>
      <p:sp>
        <p:nvSpPr>
          <p:cNvPr id="22" name="a4"/>
          <p:cNvSpPr/>
          <p:nvPr/>
        </p:nvSpPr>
        <p:spPr>
          <a:xfrm>
            <a:off x="8275320" y="2075688"/>
            <a:ext cx="548640" cy="0"/>
          </a:xfrm>
          <a:prstGeom prst="line">
            <a:avLst/>
          </a:prstGeom>
          <a:noFill/>
          <a:ln w="19050">
            <a:solidFill>
              <a:srgbClr val="64748B"/>
            </a:solidFill>
            <a:prstDash val="solid"/>
            <a:tailEnd type="triangle"/>
          </a:ln>
        </p:spPr>
      </p:sp>
      <p:sp>
        <p:nvSpPr>
          <p:cNvPr id="23" name="scanner"/>
          <p:cNvSpPr/>
          <p:nvPr/>
        </p:nvSpPr>
        <p:spPr>
          <a:xfrm>
            <a:off x="3017520" y="2971800"/>
            <a:ext cx="1463040" cy="777240"/>
          </a:xfrm>
          <a:prstGeom prst="roundRect">
            <a:avLst>
              <a:gd name="adj" fmla="val 9412"/>
            </a:avLst>
          </a:prstGeom>
          <a:solidFill>
            <a:srgbClr val="FDEBD0"/>
          </a:solidFill>
          <a:ln w="9525">
            <a:solidFill>
              <a:srgbClr val="FDEBD0"/>
            </a:solidFill>
            <a:prstDash val="solid"/>
          </a:ln>
        </p:spPr>
      </p:sp>
      <p:sp>
        <p:nvSpPr>
          <p:cNvPr id="24" name="Text 22"/>
          <p:cNvSpPr txBox="1"/>
          <p:nvPr/>
        </p:nvSpPr>
        <p:spPr>
          <a:xfrm>
            <a:off x="3072384" y="2971800"/>
            <a:ext cx="1353312" cy="777240"/>
          </a:xfrm>
          <a:prstGeom prst="rect">
            <a:avLst/>
          </a:prstGeom>
          <a:noFill/>
          <a:ln/>
        </p:spPr>
        <p:txBody>
          <a:bodyPr wrap="square" lIns="0" tIns="0" rIns="0" bIns="0" rtlCol="0" anchor="ctr"/>
          <a:lstStyle/>
          <a:p>
            <a:pPr algn="ctr" indent="0" marL="0">
              <a:buNone/>
            </a:pPr>
            <a:r>
              <a:rPr lang="en-US" sz="1300" b="1" dirty="0">
                <a:solidFill>
                  <a:srgbClr val="0B1D33"/>
                </a:solidFill>
                <a:latin typeface="Calibri" pitchFamily="34" charset="0"/>
                <a:ea typeface="Calibri" pitchFamily="34" charset="-122"/>
                <a:cs typeface="Calibri" pitchFamily="34" charset="-120"/>
              </a:rPr>
              <a:t>PII scanner</a:t>
            </a:r>
            <a:endParaRPr lang="en-US" sz="1300" dirty="0"/>
          </a:p>
          <a:p>
            <a:pPr algn="ctr" indent="0" marL="0">
              <a:buNone/>
            </a:pPr>
            <a:r>
              <a:rPr lang="en-US" sz="1300" b="1" dirty="0">
                <a:solidFill>
                  <a:srgbClr val="0B1D33"/>
                </a:solidFill>
                <a:latin typeface="Calibri" pitchFamily="34" charset="0"/>
                <a:ea typeface="Calibri" pitchFamily="34" charset="-122"/>
                <a:cs typeface="Calibri" pitchFamily="34" charset="-120"/>
              </a:rPr>
              <a:t>rules + AI model</a:t>
            </a:r>
            <a:endParaRPr lang="en-US" sz="1300" dirty="0"/>
          </a:p>
        </p:txBody>
      </p:sp>
      <p:sp>
        <p:nvSpPr>
          <p:cNvPr id="25" name="review"/>
          <p:cNvSpPr/>
          <p:nvPr/>
        </p:nvSpPr>
        <p:spPr>
          <a:xfrm>
            <a:off x="4709160" y="2971800"/>
            <a:ext cx="1463040" cy="777240"/>
          </a:xfrm>
          <a:prstGeom prst="roundRect">
            <a:avLst>
              <a:gd name="adj" fmla="val 9412"/>
            </a:avLst>
          </a:prstGeom>
          <a:solidFill>
            <a:srgbClr val="F1F5F9"/>
          </a:solidFill>
          <a:ln w="9525">
            <a:solidFill>
              <a:srgbClr val="F1F5F9"/>
            </a:solidFill>
            <a:prstDash val="solid"/>
          </a:ln>
        </p:spPr>
      </p:sp>
      <p:sp>
        <p:nvSpPr>
          <p:cNvPr id="26" name="Text 24"/>
          <p:cNvSpPr txBox="1"/>
          <p:nvPr/>
        </p:nvSpPr>
        <p:spPr>
          <a:xfrm>
            <a:off x="4764024" y="2971800"/>
            <a:ext cx="1353312" cy="777240"/>
          </a:xfrm>
          <a:prstGeom prst="rect">
            <a:avLst/>
          </a:prstGeom>
          <a:noFill/>
          <a:ln/>
        </p:spPr>
        <p:txBody>
          <a:bodyPr wrap="square" lIns="0" tIns="0" rIns="0" bIns="0" rtlCol="0" anchor="ctr"/>
          <a:lstStyle/>
          <a:p>
            <a:pPr algn="ctr" indent="0" marL="0">
              <a:buNone/>
            </a:pPr>
            <a:r>
              <a:rPr lang="en-US" sz="1300" dirty="0">
                <a:solidFill>
                  <a:srgbClr val="0B1D33"/>
                </a:solidFill>
                <a:latin typeface="Calibri" pitchFamily="34" charset="0"/>
                <a:ea typeface="Calibri" pitchFamily="34" charset="-122"/>
                <a:cs typeface="Calibri" pitchFamily="34" charset="-120"/>
              </a:rPr>
              <a:t>A person</a:t>
            </a:r>
            <a:endParaRPr lang="en-US" sz="1300" dirty="0"/>
          </a:p>
          <a:p>
            <a:pPr algn="ctr" indent="0" marL="0">
              <a:buNone/>
            </a:pPr>
            <a:r>
              <a:rPr lang="en-US" sz="1300" dirty="0">
                <a:solidFill>
                  <a:srgbClr val="0B1D33"/>
                </a:solidFill>
                <a:latin typeface="Calibri" pitchFamily="34" charset="0"/>
                <a:ea typeface="Calibri" pitchFamily="34" charset="-122"/>
                <a:cs typeface="Calibri" pitchFamily="34" charset="-120"/>
              </a:rPr>
              <a:t>approves</a:t>
            </a:r>
            <a:endParaRPr lang="en-US" sz="1300" dirty="0"/>
          </a:p>
        </p:txBody>
      </p:sp>
      <p:sp>
        <p:nvSpPr>
          <p:cNvPr id="27" name="policy"/>
          <p:cNvSpPr/>
          <p:nvPr/>
        </p:nvSpPr>
        <p:spPr>
          <a:xfrm>
            <a:off x="6400800" y="2971800"/>
            <a:ext cx="1874520" cy="777240"/>
          </a:xfrm>
          <a:prstGeom prst="roundRect">
            <a:avLst>
              <a:gd name="adj" fmla="val 9412"/>
            </a:avLst>
          </a:prstGeom>
          <a:solidFill>
            <a:srgbClr val="F1F5F9"/>
          </a:solidFill>
          <a:ln w="9525">
            <a:solidFill>
              <a:srgbClr val="F1F5F9"/>
            </a:solidFill>
            <a:prstDash val="solid"/>
          </a:ln>
        </p:spPr>
      </p:sp>
      <p:sp>
        <p:nvSpPr>
          <p:cNvPr id="28" name="Text 26"/>
          <p:cNvSpPr txBox="1"/>
          <p:nvPr/>
        </p:nvSpPr>
        <p:spPr>
          <a:xfrm>
            <a:off x="6455664" y="2971800"/>
            <a:ext cx="1764792" cy="777240"/>
          </a:xfrm>
          <a:prstGeom prst="rect">
            <a:avLst/>
          </a:prstGeom>
          <a:noFill/>
          <a:ln/>
        </p:spPr>
        <p:txBody>
          <a:bodyPr wrap="square" lIns="0" tIns="0" rIns="0" bIns="0" rtlCol="0" anchor="ctr"/>
          <a:lstStyle/>
          <a:p>
            <a:pPr algn="ctr" indent="0" marL="0">
              <a:buNone/>
            </a:pPr>
            <a:r>
              <a:rPr lang="en-US" sz="1300" dirty="0">
                <a:solidFill>
                  <a:srgbClr val="0B1D33"/>
                </a:solidFill>
                <a:latin typeface="Calibri" pitchFamily="34" charset="0"/>
                <a:ea typeface="Calibri" pitchFamily="34" charset="-122"/>
                <a:cs typeface="Calibri" pitchFamily="34" charset="-120"/>
              </a:rPr>
              <a:t>Policy file</a:t>
            </a:r>
            <a:endParaRPr lang="en-US" sz="1300" dirty="0"/>
          </a:p>
          <a:p>
            <a:pPr algn="ctr" indent="0" marL="0">
              <a:buNone/>
            </a:pPr>
            <a:r>
              <a:rPr lang="en-US" sz="1300" dirty="0">
                <a:solidFill>
                  <a:srgbClr val="0B1D33"/>
                </a:solidFill>
                <a:latin typeface="Calibri" pitchFamily="34" charset="0"/>
                <a:ea typeface="Calibri" pitchFamily="34" charset="-122"/>
                <a:cs typeface="Calibri" pitchFamily="34" charset="-120"/>
              </a:rPr>
              <a:t>who sees what</a:t>
            </a:r>
            <a:endParaRPr lang="en-US" sz="1300" dirty="0"/>
          </a:p>
        </p:txBody>
      </p:sp>
      <p:sp>
        <p:nvSpPr>
          <p:cNvPr id="29" name="audit"/>
          <p:cNvSpPr/>
          <p:nvPr/>
        </p:nvSpPr>
        <p:spPr>
          <a:xfrm>
            <a:off x="8823960" y="2971800"/>
            <a:ext cx="2788920" cy="777240"/>
          </a:xfrm>
          <a:prstGeom prst="roundRect">
            <a:avLst>
              <a:gd name="adj" fmla="val 9412"/>
            </a:avLst>
          </a:prstGeom>
          <a:solidFill>
            <a:srgbClr val="F1F5F9"/>
          </a:solidFill>
          <a:ln w="9525">
            <a:solidFill>
              <a:srgbClr val="F1F5F9"/>
            </a:solidFill>
            <a:prstDash val="solid"/>
          </a:ln>
        </p:spPr>
      </p:sp>
      <p:sp>
        <p:nvSpPr>
          <p:cNvPr id="30" name="Text 28"/>
          <p:cNvSpPr txBox="1"/>
          <p:nvPr/>
        </p:nvSpPr>
        <p:spPr>
          <a:xfrm>
            <a:off x="8878824" y="2971800"/>
            <a:ext cx="2679192" cy="777240"/>
          </a:xfrm>
          <a:prstGeom prst="rect">
            <a:avLst/>
          </a:prstGeom>
          <a:noFill/>
          <a:ln/>
        </p:spPr>
        <p:txBody>
          <a:bodyPr wrap="square" lIns="0" tIns="0" rIns="0" bIns="0" rtlCol="0" anchor="ctr"/>
          <a:lstStyle/>
          <a:p>
            <a:pPr algn="ctr" indent="0" marL="0">
              <a:buNone/>
            </a:pPr>
            <a:r>
              <a:rPr lang="en-US" sz="1300" dirty="0">
                <a:solidFill>
                  <a:srgbClr val="0B1D33"/>
                </a:solidFill>
                <a:latin typeface="Calibri" pitchFamily="34" charset="0"/>
                <a:ea typeface="Calibri" pitchFamily="34" charset="-122"/>
                <a:cs typeface="Calibri" pitchFamily="34" charset="-120"/>
              </a:rPr>
              <a:t>4  Audit log, tamper-evident</a:t>
            </a:r>
            <a:endParaRPr lang="en-US" sz="1300" dirty="0"/>
          </a:p>
          <a:p>
            <a:pPr algn="ctr" indent="0" marL="0">
              <a:buNone/>
            </a:pPr>
            <a:r>
              <a:rPr lang="en-US" sz="1300" dirty="0">
                <a:solidFill>
                  <a:srgbClr val="0B1D33"/>
                </a:solidFill>
                <a:latin typeface="Calibri" pitchFamily="34" charset="0"/>
                <a:ea typeface="Calibri" pitchFamily="34" charset="-122"/>
                <a:cs typeface="Calibri" pitchFamily="34" charset="-120"/>
              </a:rPr>
              <a:t>who asked what — never the values</a:t>
            </a:r>
            <a:endParaRPr lang="en-US" sz="1300" dirty="0"/>
          </a:p>
        </p:txBody>
      </p:sp>
      <p:sp>
        <p:nvSpPr>
          <p:cNvPr id="31" name="b1"/>
          <p:cNvSpPr/>
          <p:nvPr/>
        </p:nvSpPr>
        <p:spPr>
          <a:xfrm>
            <a:off x="4480560" y="3355848"/>
            <a:ext cx="228600" cy="0"/>
          </a:xfrm>
          <a:prstGeom prst="line">
            <a:avLst/>
          </a:prstGeom>
          <a:noFill/>
          <a:ln w="19050">
            <a:solidFill>
              <a:srgbClr val="64748B"/>
            </a:solidFill>
            <a:prstDash val="solid"/>
            <a:tailEnd type="triangle"/>
          </a:ln>
        </p:spPr>
      </p:sp>
      <p:sp>
        <p:nvSpPr>
          <p:cNvPr id="32" name="b2"/>
          <p:cNvSpPr/>
          <p:nvPr/>
        </p:nvSpPr>
        <p:spPr>
          <a:xfrm>
            <a:off x="6172200" y="3355848"/>
            <a:ext cx="228600" cy="0"/>
          </a:xfrm>
          <a:prstGeom prst="line">
            <a:avLst/>
          </a:prstGeom>
          <a:noFill/>
          <a:ln w="19050">
            <a:solidFill>
              <a:srgbClr val="64748B"/>
            </a:solidFill>
            <a:prstDash val="solid"/>
            <a:tailEnd type="triangle"/>
          </a:ln>
        </p:spPr>
      </p:sp>
      <p:sp>
        <p:nvSpPr>
          <p:cNvPr id="33" name="policy up"/>
          <p:cNvSpPr/>
          <p:nvPr/>
        </p:nvSpPr>
        <p:spPr>
          <a:xfrm>
            <a:off x="7333488" y="2651760"/>
            <a:ext cx="0" cy="320040"/>
          </a:xfrm>
          <a:prstGeom prst="line">
            <a:avLst/>
          </a:prstGeom>
          <a:noFill/>
          <a:ln w="19050">
            <a:solidFill>
              <a:srgbClr val="64748B"/>
            </a:solidFill>
            <a:prstDash val="solid"/>
            <a:headEnd type="triangle"/>
          </a:ln>
        </p:spPr>
      </p:sp>
      <p:sp>
        <p:nvSpPr>
          <p:cNvPr id="34" name="rewrite to audit"/>
          <p:cNvSpPr/>
          <p:nvPr/>
        </p:nvSpPr>
        <p:spPr>
          <a:xfrm>
            <a:off x="8275320" y="2560320"/>
            <a:ext cx="548640" cy="548640"/>
          </a:xfrm>
          <a:prstGeom prst="line">
            <a:avLst/>
          </a:prstGeom>
          <a:noFill/>
          <a:ln w="19050">
            <a:solidFill>
              <a:srgbClr val="64748B"/>
            </a:solidFill>
            <a:prstDash val="solid"/>
            <a:tailEnd type="triangle"/>
          </a:ln>
        </p:spPr>
      </p:sp>
      <p:sp>
        <p:nvSpPr>
          <p:cNvPr id="35" name="Text 33"/>
          <p:cNvSpPr txBox="1"/>
          <p:nvPr/>
        </p:nvSpPr>
        <p:spPr>
          <a:xfrm>
            <a:off x="548640" y="4069080"/>
            <a:ext cx="5669280" cy="365760"/>
          </a:xfrm>
          <a:prstGeom prst="rect">
            <a:avLst/>
          </a:prstGeom>
          <a:noFill/>
          <a:ln/>
        </p:spPr>
        <p:txBody>
          <a:bodyPr wrap="square" lIns="0" tIns="0" rIns="0" bIns="0" rtlCol="0" anchor="ctr"/>
          <a:lstStyle/>
          <a:p>
            <a:pPr indent="0" marL="0">
              <a:buNone/>
            </a:pPr>
            <a:r>
              <a:rPr lang="en-US" sz="1800" b="1" dirty="0">
                <a:solidFill>
                  <a:srgbClr val="0B1D33"/>
                </a:solidFill>
                <a:latin typeface="Cambria" pitchFamily="34" charset="0"/>
                <a:ea typeface="Cambria" pitchFamily="34" charset="-122"/>
                <a:cs typeface="Cambria" pitchFamily="34" charset="-120"/>
              </a:rPr>
              <a:t>Built to last, not just for the demo</a:t>
            </a:r>
            <a:endParaRPr lang="en-US" sz="1800" dirty="0"/>
          </a:p>
        </p:txBody>
      </p:sp>
      <p:pic>
        <p:nvPicPr>
          <p:cNvPr id="36" name="tick 0" descr="yes">    </p:cNvPr>
          <p:cNvPicPr>
            <a:picLocks noChangeAspect="1"/>
          </p:cNvPicPr>
          <p:nvPr/>
        </p:nvPicPr>
        <p:blipFill>
          <a:blip r:embed="rId1"/>
          <a:stretch>
            <a:fillRect/>
          </a:stretch>
        </p:blipFill>
        <p:spPr>
          <a:xfrm>
            <a:off x="548640" y="4581144"/>
            <a:ext cx="256032" cy="256032"/>
          </a:xfrm>
          <a:prstGeom prst="rect">
            <a:avLst/>
          </a:prstGeom>
        </p:spPr>
      </p:pic>
      <p:sp>
        <p:nvSpPr>
          <p:cNvPr id="37" name="Text 34"/>
          <p:cNvSpPr txBox="1"/>
          <p:nvPr/>
        </p:nvSpPr>
        <p:spPr>
          <a:xfrm>
            <a:off x="914400" y="4526280"/>
            <a:ext cx="5486400" cy="384048"/>
          </a:xfrm>
          <a:prstGeom prst="rect">
            <a:avLst/>
          </a:prstGeom>
          <a:noFill/>
          <a:ln/>
        </p:spPr>
        <p:txBody>
          <a:bodyPr wrap="square" lIns="0" tIns="0" rIns="0" bIns="0" rtlCol="0" anchor="ctr"/>
          <a:lstStyle/>
          <a:p>
            <a:pPr indent="0" marL="0">
              <a:buNone/>
            </a:pPr>
            <a:r>
              <a:rPr lang="en-US" sz="1350" b="1" dirty="0">
                <a:solidFill>
                  <a:srgbClr val="0B1D33"/>
                </a:solidFill>
                <a:latin typeface="Calibri" pitchFamily="34" charset="0"/>
                <a:ea typeface="Calibri" pitchFamily="34" charset="-122"/>
                <a:cs typeface="Calibri" pitchFamily="34" charset="-120"/>
              </a:rPr>
              <a:t>One gate for every tool: </a:t>
            </a:r>
            <a:pPr indent="0" marL="0">
              <a:buNone/>
            </a:pPr>
            <a:r>
              <a:rPr lang="en-US" sz="1350" dirty="0">
                <a:solidFill>
                  <a:srgbClr val="1E3A5F"/>
                </a:solidFill>
                <a:latin typeface="Calibri" pitchFamily="34" charset="0"/>
                <a:ea typeface="Calibri" pitchFamily="34" charset="-122"/>
                <a:cs typeface="Calibri" pitchFamily="34" charset="-120"/>
              </a:rPr>
              <a:t>masking is written once, so it can't differ between screens</a:t>
            </a:r>
            <a:endParaRPr lang="en-US" sz="1350" dirty="0"/>
          </a:p>
        </p:txBody>
      </p:sp>
      <p:pic>
        <p:nvPicPr>
          <p:cNvPr id="38" name="tick 1" descr="yes">    </p:cNvPr>
          <p:cNvPicPr>
            <a:picLocks noChangeAspect="1"/>
          </p:cNvPicPr>
          <p:nvPr/>
        </p:nvPicPr>
        <p:blipFill>
          <a:blip r:embed="rId2"/>
          <a:stretch>
            <a:fillRect/>
          </a:stretch>
        </p:blipFill>
        <p:spPr>
          <a:xfrm>
            <a:off x="548640" y="5010912"/>
            <a:ext cx="256032" cy="256032"/>
          </a:xfrm>
          <a:prstGeom prst="rect">
            <a:avLst/>
          </a:prstGeom>
        </p:spPr>
      </p:pic>
      <p:sp>
        <p:nvSpPr>
          <p:cNvPr id="39" name="Text 35"/>
          <p:cNvSpPr txBox="1"/>
          <p:nvPr/>
        </p:nvSpPr>
        <p:spPr>
          <a:xfrm>
            <a:off x="914400" y="4956048"/>
            <a:ext cx="5486400" cy="384048"/>
          </a:xfrm>
          <a:prstGeom prst="rect">
            <a:avLst/>
          </a:prstGeom>
          <a:noFill/>
          <a:ln/>
        </p:spPr>
        <p:txBody>
          <a:bodyPr wrap="square" lIns="0" tIns="0" rIns="0" bIns="0" rtlCol="0" anchor="ctr"/>
          <a:lstStyle/>
          <a:p>
            <a:pPr indent="0" marL="0">
              <a:buNone/>
            </a:pPr>
            <a:r>
              <a:rPr lang="en-US" sz="1350" b="1" dirty="0">
                <a:solidFill>
                  <a:srgbClr val="0B1D33"/>
                </a:solidFill>
                <a:latin typeface="Calibri" pitchFamily="34" charset="0"/>
                <a:ea typeface="Calibri" pitchFamily="34" charset="-122"/>
                <a:cs typeface="Calibri" pitchFamily="34" charset="-120"/>
              </a:rPr>
              <a:t>Real SQL parsing, not text matching: </a:t>
            </a:r>
            <a:pPr indent="0" marL="0">
              <a:buNone/>
            </a:pPr>
            <a:r>
              <a:rPr lang="en-US" sz="1350" dirty="0">
                <a:solidFill>
                  <a:srgbClr val="1E3A5F"/>
                </a:solidFill>
                <a:latin typeface="Calibri" pitchFamily="34" charset="0"/>
                <a:ea typeface="Calibri" pitchFamily="34" charset="-122"/>
                <a:cs typeface="Calibri" pitchFamily="34" charset="-120"/>
              </a:rPr>
              <a:t>nested and joined queries can't slip through</a:t>
            </a:r>
            <a:endParaRPr lang="en-US" sz="1350" dirty="0"/>
          </a:p>
        </p:txBody>
      </p:sp>
      <p:pic>
        <p:nvPicPr>
          <p:cNvPr id="40" name="tick 2" descr="yes">    </p:cNvPr>
          <p:cNvPicPr>
            <a:picLocks noChangeAspect="1"/>
          </p:cNvPicPr>
          <p:nvPr/>
        </p:nvPicPr>
        <p:blipFill>
          <a:blip r:embed="rId3"/>
          <a:stretch>
            <a:fillRect/>
          </a:stretch>
        </p:blipFill>
        <p:spPr>
          <a:xfrm>
            <a:off x="548640" y="5440680"/>
            <a:ext cx="256032" cy="256032"/>
          </a:xfrm>
          <a:prstGeom prst="rect">
            <a:avLst/>
          </a:prstGeom>
        </p:spPr>
      </p:pic>
      <p:sp>
        <p:nvSpPr>
          <p:cNvPr id="41" name="Text 36"/>
          <p:cNvSpPr txBox="1"/>
          <p:nvPr/>
        </p:nvSpPr>
        <p:spPr>
          <a:xfrm>
            <a:off x="914400" y="5385816"/>
            <a:ext cx="5486400" cy="384048"/>
          </a:xfrm>
          <a:prstGeom prst="rect">
            <a:avLst/>
          </a:prstGeom>
          <a:noFill/>
          <a:ln/>
        </p:spPr>
        <p:txBody>
          <a:bodyPr wrap="square" lIns="0" tIns="0" rIns="0" bIns="0" rtlCol="0" anchor="ctr"/>
          <a:lstStyle/>
          <a:p>
            <a:pPr indent="0" marL="0">
              <a:buNone/>
            </a:pPr>
            <a:r>
              <a:rPr lang="en-US" sz="1350" b="1" dirty="0">
                <a:solidFill>
                  <a:srgbClr val="0B1D33"/>
                </a:solidFill>
                <a:latin typeface="Calibri" pitchFamily="34" charset="0"/>
                <a:ea typeface="Calibri" pitchFamily="34" charset="-122"/>
                <a:cs typeface="Calibri" pitchFamily="34" charset="-120"/>
              </a:rPr>
              <a:t>Masks run inside the database: </a:t>
            </a:r>
            <a:pPr indent="0" marL="0">
              <a:buNone/>
            </a:pPr>
            <a:r>
              <a:rPr lang="en-US" sz="1350" dirty="0">
                <a:solidFill>
                  <a:srgbClr val="1E3A5F"/>
                </a:solidFill>
                <a:latin typeface="Calibri" pitchFamily="34" charset="0"/>
                <a:ea typeface="Calibri" pitchFamily="34" charset="-122"/>
                <a:cs typeface="Calibri" pitchFamily="34" charset="-120"/>
              </a:rPr>
              <a:t>only 4–8 ms extra per query; no data copies</a:t>
            </a:r>
            <a:endParaRPr lang="en-US" sz="1350" dirty="0"/>
          </a:p>
        </p:txBody>
      </p:sp>
      <p:pic>
        <p:nvPicPr>
          <p:cNvPr id="42" name="tick 3" descr="yes">    </p:cNvPr>
          <p:cNvPicPr>
            <a:picLocks noChangeAspect="1"/>
          </p:cNvPicPr>
          <p:nvPr/>
        </p:nvPicPr>
        <p:blipFill>
          <a:blip r:embed="rId4"/>
          <a:stretch>
            <a:fillRect/>
          </a:stretch>
        </p:blipFill>
        <p:spPr>
          <a:xfrm>
            <a:off x="548640" y="5870448"/>
            <a:ext cx="256032" cy="256032"/>
          </a:xfrm>
          <a:prstGeom prst="rect">
            <a:avLst/>
          </a:prstGeom>
        </p:spPr>
      </p:pic>
      <p:sp>
        <p:nvSpPr>
          <p:cNvPr id="43" name="Text 37"/>
          <p:cNvSpPr txBox="1"/>
          <p:nvPr/>
        </p:nvSpPr>
        <p:spPr>
          <a:xfrm>
            <a:off x="914400" y="5815584"/>
            <a:ext cx="5486400" cy="384048"/>
          </a:xfrm>
          <a:prstGeom prst="rect">
            <a:avLst/>
          </a:prstGeom>
          <a:noFill/>
          <a:ln/>
        </p:spPr>
        <p:txBody>
          <a:bodyPr wrap="square" lIns="0" tIns="0" rIns="0" bIns="0" rtlCol="0" anchor="ctr"/>
          <a:lstStyle/>
          <a:p>
            <a:pPr indent="0" marL="0">
              <a:buNone/>
            </a:pPr>
            <a:r>
              <a:rPr lang="en-US" sz="1350" b="1" dirty="0">
                <a:solidFill>
                  <a:srgbClr val="0B1D33"/>
                </a:solidFill>
                <a:latin typeface="Calibri" pitchFamily="34" charset="0"/>
                <a:ea typeface="Calibri" pitchFamily="34" charset="-122"/>
                <a:cs typeface="Calibri" pitchFamily="34" charset="-120"/>
              </a:rPr>
              <a:t>Safe by default: </a:t>
            </a:r>
            <a:pPr indent="0" marL="0">
              <a:buNone/>
            </a:pPr>
            <a:r>
              <a:rPr lang="en-US" sz="1350" dirty="0">
                <a:solidFill>
                  <a:srgbClr val="1E3A5F"/>
                </a:solidFill>
                <a:latin typeface="Calibri" pitchFamily="34" charset="0"/>
                <a:ea typeface="Calibri" pitchFamily="34" charset="-122"/>
                <a:cs typeface="Calibri" pitchFamily="34" charset="-120"/>
              </a:rPr>
              <a:t>unknown columns stay hidden; unsafe settings refuse to start</a:t>
            </a:r>
            <a:endParaRPr lang="en-US" sz="1350" dirty="0"/>
          </a:p>
        </p:txBody>
      </p:sp>
      <p:sp>
        <p:nvSpPr>
          <p:cNvPr id="44" name="Text 38"/>
          <p:cNvSpPr txBox="1"/>
          <p:nvPr/>
        </p:nvSpPr>
        <p:spPr>
          <a:xfrm>
            <a:off x="6766560" y="4069080"/>
            <a:ext cx="4846320" cy="365760"/>
          </a:xfrm>
          <a:prstGeom prst="rect">
            <a:avLst/>
          </a:prstGeom>
          <a:noFill/>
          <a:ln/>
        </p:spPr>
        <p:txBody>
          <a:bodyPr wrap="square" lIns="0" tIns="0" rIns="0" bIns="0" rtlCol="0" anchor="ctr"/>
          <a:lstStyle/>
          <a:p>
            <a:pPr indent="0" marL="0">
              <a:buNone/>
            </a:pPr>
            <a:r>
              <a:rPr lang="en-US" sz="1800" b="1" dirty="0">
                <a:solidFill>
                  <a:srgbClr val="0B1D33"/>
                </a:solidFill>
                <a:latin typeface="Cambria" pitchFamily="34" charset="0"/>
                <a:ea typeface="Cambria" pitchFamily="34" charset="-122"/>
                <a:cs typeface="Cambria" pitchFamily="34" charset="-120"/>
              </a:rPr>
              <a:t>Tech stack</a:t>
            </a:r>
            <a:endParaRPr lang="en-US" sz="1800" dirty="0"/>
          </a:p>
        </p:txBody>
      </p:sp>
      <p:sp>
        <p:nvSpPr>
          <p:cNvPr id="45" name="chip Python"/>
          <p:cNvSpPr/>
          <p:nvPr/>
        </p:nvSpPr>
        <p:spPr>
          <a:xfrm>
            <a:off x="6766560" y="4526280"/>
            <a:ext cx="779069" cy="347472"/>
          </a:xfrm>
          <a:prstGeom prst="roundRect">
            <a:avLst>
              <a:gd name="adj" fmla="val 21053"/>
            </a:avLst>
          </a:prstGeom>
          <a:solidFill>
            <a:srgbClr val="E2E8F0"/>
          </a:solidFill>
          <a:ln w="9525">
            <a:solidFill>
              <a:srgbClr val="E2E8F0"/>
            </a:solidFill>
            <a:prstDash val="solid"/>
          </a:ln>
        </p:spPr>
      </p:sp>
      <p:sp>
        <p:nvSpPr>
          <p:cNvPr id="46" name="Text 40"/>
          <p:cNvSpPr txBox="1"/>
          <p:nvPr/>
        </p:nvSpPr>
        <p:spPr>
          <a:xfrm>
            <a:off x="6766560" y="4526280"/>
            <a:ext cx="779069"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Python</a:t>
            </a:r>
            <a:endParaRPr lang="en-US" sz="1250" dirty="0"/>
          </a:p>
        </p:txBody>
      </p:sp>
      <p:sp>
        <p:nvSpPr>
          <p:cNvPr id="47" name="chip sqlglot"/>
          <p:cNvSpPr/>
          <p:nvPr/>
        </p:nvSpPr>
        <p:spPr>
          <a:xfrm>
            <a:off x="7637069" y="4526280"/>
            <a:ext cx="863194" cy="347472"/>
          </a:xfrm>
          <a:prstGeom prst="roundRect">
            <a:avLst>
              <a:gd name="adj" fmla="val 21053"/>
            </a:avLst>
          </a:prstGeom>
          <a:solidFill>
            <a:srgbClr val="E2E8F0"/>
          </a:solidFill>
          <a:ln w="9525">
            <a:solidFill>
              <a:srgbClr val="E2E8F0"/>
            </a:solidFill>
            <a:prstDash val="solid"/>
          </a:ln>
        </p:spPr>
      </p:sp>
      <p:sp>
        <p:nvSpPr>
          <p:cNvPr id="48" name="Text 42"/>
          <p:cNvSpPr txBox="1"/>
          <p:nvPr/>
        </p:nvSpPr>
        <p:spPr>
          <a:xfrm>
            <a:off x="7637069" y="4526280"/>
            <a:ext cx="863194"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sqlglot</a:t>
            </a:r>
            <a:endParaRPr lang="en-US" sz="1250" dirty="0"/>
          </a:p>
        </p:txBody>
      </p:sp>
      <p:sp>
        <p:nvSpPr>
          <p:cNvPr id="49" name="chip LightGBM"/>
          <p:cNvSpPr/>
          <p:nvPr/>
        </p:nvSpPr>
        <p:spPr>
          <a:xfrm>
            <a:off x="8591702" y="4526280"/>
            <a:ext cx="947318" cy="347472"/>
          </a:xfrm>
          <a:prstGeom prst="roundRect">
            <a:avLst>
              <a:gd name="adj" fmla="val 21053"/>
            </a:avLst>
          </a:prstGeom>
          <a:solidFill>
            <a:srgbClr val="E2E8F0"/>
          </a:solidFill>
          <a:ln w="9525">
            <a:solidFill>
              <a:srgbClr val="E2E8F0"/>
            </a:solidFill>
            <a:prstDash val="solid"/>
          </a:ln>
        </p:spPr>
      </p:sp>
      <p:sp>
        <p:nvSpPr>
          <p:cNvPr id="50" name="Text 44"/>
          <p:cNvSpPr txBox="1"/>
          <p:nvPr/>
        </p:nvSpPr>
        <p:spPr>
          <a:xfrm>
            <a:off x="8591702" y="4526280"/>
            <a:ext cx="947318"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LightGBM</a:t>
            </a:r>
            <a:endParaRPr lang="en-US" sz="1250" dirty="0"/>
          </a:p>
        </p:txBody>
      </p:sp>
      <p:sp>
        <p:nvSpPr>
          <p:cNvPr id="51" name="chip scikit-learn"/>
          <p:cNvSpPr/>
          <p:nvPr/>
        </p:nvSpPr>
        <p:spPr>
          <a:xfrm>
            <a:off x="9630461" y="4526280"/>
            <a:ext cx="1283818" cy="347472"/>
          </a:xfrm>
          <a:prstGeom prst="roundRect">
            <a:avLst>
              <a:gd name="adj" fmla="val 21053"/>
            </a:avLst>
          </a:prstGeom>
          <a:solidFill>
            <a:srgbClr val="E2E8F0"/>
          </a:solidFill>
          <a:ln w="9525">
            <a:solidFill>
              <a:srgbClr val="E2E8F0"/>
            </a:solidFill>
            <a:prstDash val="solid"/>
          </a:ln>
        </p:spPr>
      </p:sp>
      <p:sp>
        <p:nvSpPr>
          <p:cNvPr id="52" name="Text 46"/>
          <p:cNvSpPr txBox="1"/>
          <p:nvPr/>
        </p:nvSpPr>
        <p:spPr>
          <a:xfrm>
            <a:off x="9630461" y="4526280"/>
            <a:ext cx="1283818"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scikit-learn</a:t>
            </a:r>
            <a:endParaRPr lang="en-US" sz="1250" dirty="0"/>
          </a:p>
        </p:txBody>
      </p:sp>
      <p:sp>
        <p:nvSpPr>
          <p:cNvPr id="53" name="chip FastAPI"/>
          <p:cNvSpPr/>
          <p:nvPr/>
        </p:nvSpPr>
        <p:spPr>
          <a:xfrm>
            <a:off x="6766560" y="4983480"/>
            <a:ext cx="863194" cy="347472"/>
          </a:xfrm>
          <a:prstGeom prst="roundRect">
            <a:avLst>
              <a:gd name="adj" fmla="val 21053"/>
            </a:avLst>
          </a:prstGeom>
          <a:solidFill>
            <a:srgbClr val="E2E8F0"/>
          </a:solidFill>
          <a:ln w="9525">
            <a:solidFill>
              <a:srgbClr val="E2E8F0"/>
            </a:solidFill>
            <a:prstDash val="solid"/>
          </a:ln>
        </p:spPr>
      </p:sp>
      <p:sp>
        <p:nvSpPr>
          <p:cNvPr id="54" name="Text 48"/>
          <p:cNvSpPr txBox="1"/>
          <p:nvPr/>
        </p:nvSpPr>
        <p:spPr>
          <a:xfrm>
            <a:off x="6766560" y="4983480"/>
            <a:ext cx="863194"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FastAPI</a:t>
            </a:r>
            <a:endParaRPr lang="en-US" sz="1250" dirty="0"/>
          </a:p>
        </p:txBody>
      </p:sp>
      <p:sp>
        <p:nvSpPr>
          <p:cNvPr id="55" name="chip Typer + Rich"/>
          <p:cNvSpPr/>
          <p:nvPr/>
        </p:nvSpPr>
        <p:spPr>
          <a:xfrm>
            <a:off x="7721194" y="4983480"/>
            <a:ext cx="1283818" cy="347472"/>
          </a:xfrm>
          <a:prstGeom prst="roundRect">
            <a:avLst>
              <a:gd name="adj" fmla="val 21053"/>
            </a:avLst>
          </a:prstGeom>
          <a:solidFill>
            <a:srgbClr val="E2E8F0"/>
          </a:solidFill>
          <a:ln w="9525">
            <a:solidFill>
              <a:srgbClr val="E2E8F0"/>
            </a:solidFill>
            <a:prstDash val="solid"/>
          </a:ln>
        </p:spPr>
      </p:sp>
      <p:sp>
        <p:nvSpPr>
          <p:cNvPr id="56" name="Text 50"/>
          <p:cNvSpPr txBox="1"/>
          <p:nvPr/>
        </p:nvSpPr>
        <p:spPr>
          <a:xfrm>
            <a:off x="7721194" y="4983480"/>
            <a:ext cx="1283818"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Typer + Rich</a:t>
            </a:r>
            <a:endParaRPr lang="en-US" sz="1250" dirty="0"/>
          </a:p>
        </p:txBody>
      </p:sp>
      <p:sp>
        <p:nvSpPr>
          <p:cNvPr id="57" name="chip SQLite"/>
          <p:cNvSpPr/>
          <p:nvPr/>
        </p:nvSpPr>
        <p:spPr>
          <a:xfrm>
            <a:off x="9096451" y="4983480"/>
            <a:ext cx="779069" cy="347472"/>
          </a:xfrm>
          <a:prstGeom prst="roundRect">
            <a:avLst>
              <a:gd name="adj" fmla="val 21053"/>
            </a:avLst>
          </a:prstGeom>
          <a:solidFill>
            <a:srgbClr val="E2E8F0"/>
          </a:solidFill>
          <a:ln w="9525">
            <a:solidFill>
              <a:srgbClr val="E2E8F0"/>
            </a:solidFill>
            <a:prstDash val="solid"/>
          </a:ln>
        </p:spPr>
      </p:sp>
      <p:sp>
        <p:nvSpPr>
          <p:cNvPr id="58" name="Text 52"/>
          <p:cNvSpPr txBox="1"/>
          <p:nvPr/>
        </p:nvSpPr>
        <p:spPr>
          <a:xfrm>
            <a:off x="9096451" y="4983480"/>
            <a:ext cx="779069"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SQLite</a:t>
            </a:r>
            <a:endParaRPr lang="en-US" sz="1250" dirty="0"/>
          </a:p>
        </p:txBody>
      </p:sp>
      <p:sp>
        <p:nvSpPr>
          <p:cNvPr id="59" name="chip PostgreSQL"/>
          <p:cNvSpPr/>
          <p:nvPr/>
        </p:nvSpPr>
        <p:spPr>
          <a:xfrm>
            <a:off x="9966960" y="4983480"/>
            <a:ext cx="1115568" cy="347472"/>
          </a:xfrm>
          <a:prstGeom prst="roundRect">
            <a:avLst>
              <a:gd name="adj" fmla="val 21053"/>
            </a:avLst>
          </a:prstGeom>
          <a:solidFill>
            <a:srgbClr val="E2E8F0"/>
          </a:solidFill>
          <a:ln w="9525">
            <a:solidFill>
              <a:srgbClr val="E2E8F0"/>
            </a:solidFill>
            <a:prstDash val="solid"/>
          </a:ln>
        </p:spPr>
      </p:sp>
      <p:sp>
        <p:nvSpPr>
          <p:cNvPr id="60" name="Text 54"/>
          <p:cNvSpPr txBox="1"/>
          <p:nvPr/>
        </p:nvSpPr>
        <p:spPr>
          <a:xfrm>
            <a:off x="9966960" y="4983480"/>
            <a:ext cx="1115568"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PostgreSQL</a:t>
            </a:r>
            <a:endParaRPr lang="en-US" sz="1250" dirty="0"/>
          </a:p>
        </p:txBody>
      </p:sp>
      <p:sp>
        <p:nvSpPr>
          <p:cNvPr id="61" name="chip MySQL"/>
          <p:cNvSpPr/>
          <p:nvPr/>
        </p:nvSpPr>
        <p:spPr>
          <a:xfrm>
            <a:off x="6766560" y="5440680"/>
            <a:ext cx="694944" cy="347472"/>
          </a:xfrm>
          <a:prstGeom prst="roundRect">
            <a:avLst>
              <a:gd name="adj" fmla="val 21053"/>
            </a:avLst>
          </a:prstGeom>
          <a:solidFill>
            <a:srgbClr val="E2E8F0"/>
          </a:solidFill>
          <a:ln w="9525">
            <a:solidFill>
              <a:srgbClr val="E2E8F0"/>
            </a:solidFill>
            <a:prstDash val="solid"/>
          </a:ln>
        </p:spPr>
      </p:sp>
      <p:sp>
        <p:nvSpPr>
          <p:cNvPr id="62" name="Text 56"/>
          <p:cNvSpPr txBox="1"/>
          <p:nvPr/>
        </p:nvSpPr>
        <p:spPr>
          <a:xfrm>
            <a:off x="6766560" y="5440680"/>
            <a:ext cx="694944"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MySQL</a:t>
            </a:r>
            <a:endParaRPr lang="en-US" sz="1250" dirty="0"/>
          </a:p>
        </p:txBody>
      </p:sp>
      <p:sp>
        <p:nvSpPr>
          <p:cNvPr id="63" name="chip Docker"/>
          <p:cNvSpPr/>
          <p:nvPr/>
        </p:nvSpPr>
        <p:spPr>
          <a:xfrm>
            <a:off x="7552944" y="5440680"/>
            <a:ext cx="779069" cy="347472"/>
          </a:xfrm>
          <a:prstGeom prst="roundRect">
            <a:avLst>
              <a:gd name="adj" fmla="val 21053"/>
            </a:avLst>
          </a:prstGeom>
          <a:solidFill>
            <a:srgbClr val="E2E8F0"/>
          </a:solidFill>
          <a:ln w="9525">
            <a:solidFill>
              <a:srgbClr val="E2E8F0"/>
            </a:solidFill>
            <a:prstDash val="solid"/>
          </a:ln>
        </p:spPr>
      </p:sp>
      <p:sp>
        <p:nvSpPr>
          <p:cNvPr id="64" name="Text 58"/>
          <p:cNvSpPr txBox="1"/>
          <p:nvPr/>
        </p:nvSpPr>
        <p:spPr>
          <a:xfrm>
            <a:off x="7552944" y="5440680"/>
            <a:ext cx="779069"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Docker</a:t>
            </a:r>
            <a:endParaRPr lang="en-US" sz="1250" dirty="0"/>
          </a:p>
        </p:txBody>
      </p:sp>
      <p:sp>
        <p:nvSpPr>
          <p:cNvPr id="65" name="chip pytest"/>
          <p:cNvSpPr/>
          <p:nvPr/>
        </p:nvSpPr>
        <p:spPr>
          <a:xfrm>
            <a:off x="8423453" y="5440680"/>
            <a:ext cx="779069" cy="347472"/>
          </a:xfrm>
          <a:prstGeom prst="roundRect">
            <a:avLst>
              <a:gd name="adj" fmla="val 21053"/>
            </a:avLst>
          </a:prstGeom>
          <a:solidFill>
            <a:srgbClr val="E2E8F0"/>
          </a:solidFill>
          <a:ln w="9525">
            <a:solidFill>
              <a:srgbClr val="E2E8F0"/>
            </a:solidFill>
            <a:prstDash val="solid"/>
          </a:ln>
        </p:spPr>
      </p:sp>
      <p:sp>
        <p:nvSpPr>
          <p:cNvPr id="66" name="Text 60"/>
          <p:cNvSpPr txBox="1"/>
          <p:nvPr/>
        </p:nvSpPr>
        <p:spPr>
          <a:xfrm>
            <a:off x="8423453" y="5440680"/>
            <a:ext cx="779069"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pytest</a:t>
            </a:r>
            <a:endParaRPr lang="en-US" sz="1250" dirty="0"/>
          </a:p>
        </p:txBody>
      </p:sp>
      <p:sp>
        <p:nvSpPr>
          <p:cNvPr id="67" name="chip GitHub Actions"/>
          <p:cNvSpPr/>
          <p:nvPr/>
        </p:nvSpPr>
        <p:spPr>
          <a:xfrm>
            <a:off x="9293962" y="5440680"/>
            <a:ext cx="1452067" cy="347472"/>
          </a:xfrm>
          <a:prstGeom prst="roundRect">
            <a:avLst>
              <a:gd name="adj" fmla="val 21053"/>
            </a:avLst>
          </a:prstGeom>
          <a:solidFill>
            <a:srgbClr val="E2E8F0"/>
          </a:solidFill>
          <a:ln w="9525">
            <a:solidFill>
              <a:srgbClr val="E2E8F0"/>
            </a:solidFill>
            <a:prstDash val="solid"/>
          </a:ln>
        </p:spPr>
      </p:sp>
      <p:sp>
        <p:nvSpPr>
          <p:cNvPr id="68" name="Text 62"/>
          <p:cNvSpPr txBox="1"/>
          <p:nvPr/>
        </p:nvSpPr>
        <p:spPr>
          <a:xfrm>
            <a:off x="9293962" y="5440680"/>
            <a:ext cx="1452067"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GitHub Actions</a:t>
            </a:r>
            <a:endParaRPr lang="en-US" sz="1250" dirty="0"/>
          </a:p>
        </p:txBody>
      </p:sp>
      <p:sp>
        <p:nvSpPr>
          <p:cNvPr id="69" name="chip PyPI"/>
          <p:cNvSpPr/>
          <p:nvPr/>
        </p:nvSpPr>
        <p:spPr>
          <a:xfrm>
            <a:off x="10837469" y="5440680"/>
            <a:ext cx="610819" cy="347472"/>
          </a:xfrm>
          <a:prstGeom prst="roundRect">
            <a:avLst>
              <a:gd name="adj" fmla="val 21053"/>
            </a:avLst>
          </a:prstGeom>
          <a:solidFill>
            <a:srgbClr val="E2E8F0"/>
          </a:solidFill>
          <a:ln w="9525">
            <a:solidFill>
              <a:srgbClr val="E2E8F0"/>
            </a:solidFill>
            <a:prstDash val="solid"/>
          </a:ln>
        </p:spPr>
      </p:sp>
      <p:sp>
        <p:nvSpPr>
          <p:cNvPr id="70" name="Text 64"/>
          <p:cNvSpPr txBox="1"/>
          <p:nvPr/>
        </p:nvSpPr>
        <p:spPr>
          <a:xfrm>
            <a:off x="10837469" y="5440680"/>
            <a:ext cx="610819" cy="347472"/>
          </a:xfrm>
          <a:prstGeom prst="rect">
            <a:avLst/>
          </a:prstGeom>
          <a:noFill/>
          <a:ln/>
        </p:spPr>
        <p:txBody>
          <a:bodyPr wrap="square" lIns="0" tIns="0" rIns="0" bIns="0" rtlCol="0" anchor="ctr"/>
          <a:lstStyle/>
          <a:p>
            <a:pPr algn="ctr" indent="0" marL="0">
              <a:buNone/>
            </a:pPr>
            <a:r>
              <a:rPr lang="en-US" sz="1250" dirty="0">
                <a:solidFill>
                  <a:srgbClr val="0B1D33"/>
                </a:solidFill>
                <a:latin typeface="Calibri" pitchFamily="34" charset="0"/>
                <a:ea typeface="Calibri" pitchFamily="34" charset="-122"/>
                <a:cs typeface="Calibri" pitchFamily="34" charset="-120"/>
              </a:rPr>
              <a:t>PyPI</a:t>
            </a:r>
            <a:endParaRPr lang="en-US" sz="125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Role of AI: it finds the data — it never decides who sees it</a:t>
            </a:r>
            <a:endParaRPr lang="en-US" sz="3000" dirty="0"/>
          </a:p>
        </p:txBody>
      </p:sp>
      <p:sp>
        <p:nvSpPr>
          <p:cNvPr id="3" name="Text 1"/>
          <p:cNvSpPr txBox="1"/>
          <p:nvPr/>
        </p:nvSpPr>
        <p:spPr>
          <a:xfrm>
            <a:off x="548640" y="1143000"/>
            <a:ext cx="11064240" cy="320040"/>
          </a:xfrm>
          <a:prstGeom prst="rect">
            <a:avLst/>
          </a:prstGeom>
          <a:noFill/>
          <a:ln/>
        </p:spPr>
        <p:txBody>
          <a:bodyPr wrap="square" lIns="0" tIns="0" rIns="0" bIns="0" rtlCol="0" anchor="ctr"/>
          <a:lstStyle/>
          <a:p>
            <a:pPr indent="0" marL="0">
              <a:buNone/>
            </a:pPr>
            <a:r>
              <a:rPr lang="en-US" sz="1400" b="1" dirty="0">
                <a:solidFill>
                  <a:srgbClr val="D97706"/>
                </a:solidFill>
                <a:latin typeface="Calibri" pitchFamily="34" charset="0"/>
                <a:ea typeface="Calibri" pitchFamily="34" charset="-122"/>
                <a:cs typeface="Calibri" pitchFamily="34" charset="-120"/>
              </a:rPr>
              <a:t>In the dashboard: what the scanner found in the organisers' data, with its reasons (never the values)</a:t>
            </a:r>
            <a:endParaRPr lang="en-US" sz="1400" dirty="0"/>
          </a:p>
        </p:txBody>
      </p:sp>
      <p:pic>
        <p:nvPicPr>
          <p:cNvPr id="4" name="discovery screenshot" descr="Control Room PII discovery on Saffron Bank: kyc_records.pan_no PII_HIGH pan; kyc_meta PII_IN_TEXT; loan_applications.col_7 PII_HIGH pan, 100% of values look like PAN numbers; support_tickets.ticket_text and notes PII_IN_TEXT with phones, Aadhaar, UPI.">    </p:cNvPr>
          <p:cNvPicPr>
            <a:picLocks noChangeAspect="1"/>
          </p:cNvPicPr>
          <p:nvPr/>
        </p:nvPicPr>
        <p:blipFill>
          <a:blip r:embed="rId1"/>
          <a:stretch>
            <a:fillRect/>
          </a:stretch>
        </p:blipFill>
        <p:spPr>
          <a:xfrm>
            <a:off x="548640" y="1508760"/>
            <a:ext cx="11064240" cy="2145108"/>
          </a:xfrm>
          <a:prstGeom prst="rect">
            <a:avLst/>
          </a:prstGeom>
        </p:spPr>
      </p:pic>
      <p:sp>
        <p:nvSpPr>
          <p:cNvPr id="5" name="ai step 1"/>
          <p:cNvSpPr/>
          <p:nvPr/>
        </p:nvSpPr>
        <p:spPr>
          <a:xfrm>
            <a:off x="548640" y="3886200"/>
            <a:ext cx="2514600" cy="2286000"/>
          </a:xfrm>
          <a:prstGeom prst="roundRect">
            <a:avLst>
              <a:gd name="adj" fmla="val 3200"/>
            </a:avLst>
          </a:prstGeom>
          <a:solidFill>
            <a:srgbClr val="F1F5F9"/>
          </a:solidFill>
          <a:ln w="9525">
            <a:solidFill>
              <a:srgbClr val="F1F5F9"/>
            </a:solidFill>
            <a:prstDash val="solid"/>
          </a:ln>
        </p:spPr>
      </p:sp>
      <p:sp>
        <p:nvSpPr>
          <p:cNvPr id="6" name="1  Rules check circle"/>
          <p:cNvSpPr/>
          <p:nvPr/>
        </p:nvSpPr>
        <p:spPr>
          <a:xfrm>
            <a:off x="731520" y="4041648"/>
            <a:ext cx="594360" cy="594360"/>
          </a:xfrm>
          <a:prstGeom prst="ellipse">
            <a:avLst/>
          </a:prstGeom>
          <a:solidFill>
            <a:srgbClr val="0B1D33"/>
          </a:solidFill>
          <a:ln w="12700">
            <a:solidFill>
              <a:srgbClr val="0B1D33"/>
            </a:solidFill>
            <a:prstDash val="solid"/>
          </a:ln>
        </p:spPr>
      </p:sp>
      <p:pic>
        <p:nvPicPr>
          <p:cNvPr id="7" name="1  Rules check icon" descr="1  Rules check">    </p:cNvPr>
          <p:cNvPicPr>
            <a:picLocks noChangeAspect="1"/>
          </p:cNvPicPr>
          <p:nvPr/>
        </p:nvPicPr>
        <p:blipFill>
          <a:blip r:embed="rId2"/>
          <a:stretch>
            <a:fillRect/>
          </a:stretch>
        </p:blipFill>
        <p:spPr>
          <a:xfrm>
            <a:off x="880110" y="4190238"/>
            <a:ext cx="297180" cy="297180"/>
          </a:xfrm>
          <a:prstGeom prst="rect">
            <a:avLst/>
          </a:prstGeom>
        </p:spPr>
      </p:pic>
      <p:sp>
        <p:nvSpPr>
          <p:cNvPr id="8" name="Text 4"/>
          <p:cNvSpPr txBox="1"/>
          <p:nvPr/>
        </p:nvSpPr>
        <p:spPr>
          <a:xfrm>
            <a:off x="731520" y="4709160"/>
            <a:ext cx="2194560" cy="548640"/>
          </a:xfrm>
          <a:prstGeom prst="rect">
            <a:avLst/>
          </a:prstGeom>
          <a:noFill/>
          <a:ln/>
        </p:spPr>
        <p:txBody>
          <a:bodyPr wrap="square" lIns="0" tIns="0" rIns="0" bIns="0" rtlCol="0" anchor="t"/>
          <a:lstStyle/>
          <a:p>
            <a:pPr indent="0" marL="0">
              <a:buNone/>
            </a:pPr>
            <a:r>
              <a:rPr lang="en-US" sz="1550" b="1" dirty="0">
                <a:solidFill>
                  <a:srgbClr val="0B1D33"/>
                </a:solidFill>
                <a:latin typeface="Calibri" pitchFamily="34" charset="0"/>
                <a:ea typeface="Calibri" pitchFamily="34" charset="-122"/>
                <a:cs typeface="Calibri" pitchFamily="34" charset="-120"/>
              </a:rPr>
              <a:t>1  Rules check</a:t>
            </a:r>
            <a:endParaRPr lang="en-US" sz="1550" dirty="0"/>
          </a:p>
        </p:txBody>
      </p:sp>
      <p:sp>
        <p:nvSpPr>
          <p:cNvPr id="9" name="Text 5"/>
          <p:cNvSpPr txBox="1"/>
          <p:nvPr/>
        </p:nvSpPr>
        <p:spPr>
          <a:xfrm>
            <a:off x="731520" y="5230368"/>
            <a:ext cx="2194560" cy="868680"/>
          </a:xfrm>
          <a:prstGeom prst="rect">
            <a:avLst/>
          </a:prstGeom>
          <a:noFill/>
          <a:ln/>
        </p:spPr>
        <p:txBody>
          <a:bodyPr wrap="square" lIns="0" tIns="0" rIns="0" bIns="0" rtlCol="0" anchor="t"/>
          <a:lstStyle/>
          <a:p>
            <a:pPr indent="0" marL="0">
              <a:buNone/>
            </a:pPr>
            <a:r>
              <a:rPr lang="en-US" sz="1300" dirty="0">
                <a:solidFill>
                  <a:srgbClr val="1E3A5F"/>
                </a:solidFill>
                <a:latin typeface="Calibri" pitchFamily="34" charset="0"/>
                <a:ea typeface="Calibri" pitchFamily="34" charset="-122"/>
                <a:cs typeface="Calibri" pitchFamily="34" charset="-120"/>
              </a:rPr>
              <a:t>Checksums prove Aadhaar, cards and IBANs for certain</a:t>
            </a:r>
            <a:endParaRPr lang="en-US" sz="1300" dirty="0"/>
          </a:p>
        </p:txBody>
      </p:sp>
      <p:pic>
        <p:nvPicPr>
          <p:cNvPr id="10" name="ai arrow 0" descr="then">    </p:cNvPr>
          <p:cNvPicPr>
            <a:picLocks noChangeAspect="1"/>
          </p:cNvPicPr>
          <p:nvPr/>
        </p:nvPicPr>
        <p:blipFill>
          <a:blip r:embed="rId3"/>
          <a:stretch>
            <a:fillRect/>
          </a:stretch>
        </p:blipFill>
        <p:spPr>
          <a:xfrm>
            <a:off x="3081528" y="4846320"/>
            <a:ext cx="182880" cy="182880"/>
          </a:xfrm>
          <a:prstGeom prst="rect">
            <a:avLst/>
          </a:prstGeom>
        </p:spPr>
      </p:pic>
      <p:sp>
        <p:nvSpPr>
          <p:cNvPr id="11" name="ai step 2"/>
          <p:cNvSpPr/>
          <p:nvPr/>
        </p:nvSpPr>
        <p:spPr>
          <a:xfrm>
            <a:off x="3291840" y="3886200"/>
            <a:ext cx="2514600" cy="2286000"/>
          </a:xfrm>
          <a:prstGeom prst="roundRect">
            <a:avLst>
              <a:gd name="adj" fmla="val 3200"/>
            </a:avLst>
          </a:prstGeom>
          <a:solidFill>
            <a:srgbClr val="F1F5F9"/>
          </a:solidFill>
          <a:ln w="9525">
            <a:solidFill>
              <a:srgbClr val="F1F5F9"/>
            </a:solidFill>
            <a:prstDash val="solid"/>
          </a:ln>
        </p:spPr>
      </p:sp>
      <p:sp>
        <p:nvSpPr>
          <p:cNvPr id="12" name="2  AI model reads the values circle"/>
          <p:cNvSpPr/>
          <p:nvPr/>
        </p:nvSpPr>
        <p:spPr>
          <a:xfrm>
            <a:off x="3474720" y="4041648"/>
            <a:ext cx="594360" cy="594360"/>
          </a:xfrm>
          <a:prstGeom prst="ellipse">
            <a:avLst/>
          </a:prstGeom>
          <a:solidFill>
            <a:srgbClr val="D97706"/>
          </a:solidFill>
          <a:ln w="12700">
            <a:solidFill>
              <a:srgbClr val="D97706"/>
            </a:solidFill>
            <a:prstDash val="solid"/>
          </a:ln>
        </p:spPr>
      </p:sp>
      <p:pic>
        <p:nvPicPr>
          <p:cNvPr id="13" name="2  AI model reads the values icon" descr="2  AI model reads the values">    </p:cNvPr>
          <p:cNvPicPr>
            <a:picLocks noChangeAspect="1"/>
          </p:cNvPicPr>
          <p:nvPr/>
        </p:nvPicPr>
        <p:blipFill>
          <a:blip r:embed="rId4"/>
          <a:stretch>
            <a:fillRect/>
          </a:stretch>
        </p:blipFill>
        <p:spPr>
          <a:xfrm>
            <a:off x="3623310" y="4190238"/>
            <a:ext cx="297180" cy="297180"/>
          </a:xfrm>
          <a:prstGeom prst="rect">
            <a:avLst/>
          </a:prstGeom>
        </p:spPr>
      </p:pic>
      <p:sp>
        <p:nvSpPr>
          <p:cNvPr id="14" name="Text 8"/>
          <p:cNvSpPr txBox="1"/>
          <p:nvPr/>
        </p:nvSpPr>
        <p:spPr>
          <a:xfrm>
            <a:off x="3474720" y="4709160"/>
            <a:ext cx="2194560" cy="548640"/>
          </a:xfrm>
          <a:prstGeom prst="rect">
            <a:avLst/>
          </a:prstGeom>
          <a:noFill/>
          <a:ln/>
        </p:spPr>
        <p:txBody>
          <a:bodyPr wrap="square" lIns="0" tIns="0" rIns="0" bIns="0" rtlCol="0" anchor="t"/>
          <a:lstStyle/>
          <a:p>
            <a:pPr indent="0" marL="0">
              <a:buNone/>
            </a:pPr>
            <a:r>
              <a:rPr lang="en-US" sz="1550" b="1" dirty="0">
                <a:solidFill>
                  <a:srgbClr val="0B1D33"/>
                </a:solidFill>
                <a:latin typeface="Calibri" pitchFamily="34" charset="0"/>
                <a:ea typeface="Calibri" pitchFamily="34" charset="-122"/>
                <a:cs typeface="Calibri" pitchFamily="34" charset="-120"/>
              </a:rPr>
              <a:t>2  AI model reads the values</a:t>
            </a:r>
            <a:endParaRPr lang="en-US" sz="1550" dirty="0"/>
          </a:p>
        </p:txBody>
      </p:sp>
      <p:sp>
        <p:nvSpPr>
          <p:cNvPr id="15" name="Text 9"/>
          <p:cNvSpPr txBox="1"/>
          <p:nvPr/>
        </p:nvSpPr>
        <p:spPr>
          <a:xfrm>
            <a:off x="3474720" y="5230368"/>
            <a:ext cx="2194560" cy="868680"/>
          </a:xfrm>
          <a:prstGeom prst="rect">
            <a:avLst/>
          </a:prstGeom>
          <a:noFill/>
          <a:ln/>
        </p:spPr>
        <p:txBody>
          <a:bodyPr wrap="square" lIns="0" tIns="0" rIns="0" bIns="0" rtlCol="0" anchor="t"/>
          <a:lstStyle/>
          <a:p>
            <a:pPr indent="0" marL="0">
              <a:buNone/>
            </a:pPr>
            <a:r>
              <a:rPr lang="en-US" sz="1300" dirty="0">
                <a:solidFill>
                  <a:srgbClr val="1E3A5F"/>
                </a:solidFill>
                <a:latin typeface="Calibri" pitchFamily="34" charset="0"/>
                <a:ea typeface="Calibri" pitchFamily="34" charset="-122"/>
                <a:cs typeface="Calibri" pitchFamily="34" charset="-120"/>
              </a:rPr>
              <a:t>Where names lie (col_7) or checks fail, LightGBM recognises the pattern</a:t>
            </a:r>
            <a:endParaRPr lang="en-US" sz="1300" dirty="0"/>
          </a:p>
        </p:txBody>
      </p:sp>
      <p:pic>
        <p:nvPicPr>
          <p:cNvPr id="16" name="ai arrow 1" descr="then">    </p:cNvPr>
          <p:cNvPicPr>
            <a:picLocks noChangeAspect="1"/>
          </p:cNvPicPr>
          <p:nvPr/>
        </p:nvPicPr>
        <p:blipFill>
          <a:blip r:embed="rId5"/>
          <a:stretch>
            <a:fillRect/>
          </a:stretch>
        </p:blipFill>
        <p:spPr>
          <a:xfrm>
            <a:off x="5824728" y="4846320"/>
            <a:ext cx="182880" cy="182880"/>
          </a:xfrm>
          <a:prstGeom prst="rect">
            <a:avLst/>
          </a:prstGeom>
        </p:spPr>
      </p:pic>
      <p:sp>
        <p:nvSpPr>
          <p:cNvPr id="17" name="ai step 3"/>
          <p:cNvSpPr/>
          <p:nvPr/>
        </p:nvSpPr>
        <p:spPr>
          <a:xfrm>
            <a:off x="6035040" y="3886200"/>
            <a:ext cx="2514600" cy="2286000"/>
          </a:xfrm>
          <a:prstGeom prst="roundRect">
            <a:avLst>
              <a:gd name="adj" fmla="val 3200"/>
            </a:avLst>
          </a:prstGeom>
          <a:solidFill>
            <a:srgbClr val="F1F5F9"/>
          </a:solidFill>
          <a:ln w="9525">
            <a:solidFill>
              <a:srgbClr val="F1F5F9"/>
            </a:solidFill>
            <a:prstDash val="solid"/>
          </a:ln>
        </p:spPr>
      </p:sp>
      <p:sp>
        <p:nvSpPr>
          <p:cNvPr id="18" name="3  A person approves circle"/>
          <p:cNvSpPr/>
          <p:nvPr/>
        </p:nvSpPr>
        <p:spPr>
          <a:xfrm>
            <a:off x="6217920" y="4041648"/>
            <a:ext cx="594360" cy="594360"/>
          </a:xfrm>
          <a:prstGeom prst="ellipse">
            <a:avLst/>
          </a:prstGeom>
          <a:solidFill>
            <a:srgbClr val="0F766E"/>
          </a:solidFill>
          <a:ln w="12700">
            <a:solidFill>
              <a:srgbClr val="0F766E"/>
            </a:solidFill>
            <a:prstDash val="solid"/>
          </a:ln>
        </p:spPr>
      </p:sp>
      <p:pic>
        <p:nvPicPr>
          <p:cNvPr id="19" name="3  A person approves icon" descr="3  A person approves">    </p:cNvPr>
          <p:cNvPicPr>
            <a:picLocks noChangeAspect="1"/>
          </p:cNvPicPr>
          <p:nvPr/>
        </p:nvPicPr>
        <p:blipFill>
          <a:blip r:embed="rId6"/>
          <a:stretch>
            <a:fillRect/>
          </a:stretch>
        </p:blipFill>
        <p:spPr>
          <a:xfrm>
            <a:off x="6366510" y="4190238"/>
            <a:ext cx="297180" cy="297180"/>
          </a:xfrm>
          <a:prstGeom prst="rect">
            <a:avLst/>
          </a:prstGeom>
        </p:spPr>
      </p:pic>
      <p:sp>
        <p:nvSpPr>
          <p:cNvPr id="20" name="Text 12"/>
          <p:cNvSpPr txBox="1"/>
          <p:nvPr/>
        </p:nvSpPr>
        <p:spPr>
          <a:xfrm>
            <a:off x="6217920" y="4709160"/>
            <a:ext cx="2194560" cy="548640"/>
          </a:xfrm>
          <a:prstGeom prst="rect">
            <a:avLst/>
          </a:prstGeom>
          <a:noFill/>
          <a:ln/>
        </p:spPr>
        <p:txBody>
          <a:bodyPr wrap="square" lIns="0" tIns="0" rIns="0" bIns="0" rtlCol="0" anchor="t"/>
          <a:lstStyle/>
          <a:p>
            <a:pPr indent="0" marL="0">
              <a:buNone/>
            </a:pPr>
            <a:r>
              <a:rPr lang="en-US" sz="1550" b="1" dirty="0">
                <a:solidFill>
                  <a:srgbClr val="0B1D33"/>
                </a:solidFill>
                <a:latin typeface="Calibri" pitchFamily="34" charset="0"/>
                <a:ea typeface="Calibri" pitchFamily="34" charset="-122"/>
                <a:cs typeface="Calibri" pitchFamily="34" charset="-120"/>
              </a:rPr>
              <a:t>3  A person approves</a:t>
            </a:r>
            <a:endParaRPr lang="en-US" sz="1550" dirty="0"/>
          </a:p>
        </p:txBody>
      </p:sp>
      <p:sp>
        <p:nvSpPr>
          <p:cNvPr id="21" name="Text 13"/>
          <p:cNvSpPr txBox="1"/>
          <p:nvPr/>
        </p:nvSpPr>
        <p:spPr>
          <a:xfrm>
            <a:off x="6217920" y="5230368"/>
            <a:ext cx="2194560" cy="868680"/>
          </a:xfrm>
          <a:prstGeom prst="rect">
            <a:avLst/>
          </a:prstGeom>
          <a:noFill/>
          <a:ln/>
        </p:spPr>
        <p:txBody>
          <a:bodyPr wrap="square" lIns="0" tIns="0" rIns="0" bIns="0" rtlCol="0" anchor="t"/>
          <a:lstStyle/>
          <a:p>
            <a:pPr indent="0" marL="0">
              <a:buNone/>
            </a:pPr>
            <a:r>
              <a:rPr lang="en-US" sz="1300" dirty="0">
                <a:solidFill>
                  <a:srgbClr val="1E3A5F"/>
                </a:solidFill>
                <a:latin typeface="Calibri" pitchFamily="34" charset="0"/>
                <a:ea typeface="Calibri" pitchFamily="34" charset="-122"/>
                <a:cs typeface="Calibri" pitchFamily="34" charset="-120"/>
              </a:rPr>
              <a:t>Anything unsure stays hidden until someone reviews it</a:t>
            </a:r>
            <a:endParaRPr lang="en-US" sz="1300" dirty="0"/>
          </a:p>
        </p:txBody>
      </p:sp>
      <p:sp>
        <p:nvSpPr>
          <p:cNvPr id="22" name="ai why"/>
          <p:cNvSpPr/>
          <p:nvPr/>
        </p:nvSpPr>
        <p:spPr>
          <a:xfrm>
            <a:off x="8823960" y="3886200"/>
            <a:ext cx="2788920" cy="2286000"/>
          </a:xfrm>
          <a:prstGeom prst="roundRect">
            <a:avLst>
              <a:gd name="adj" fmla="val 3200"/>
            </a:avLst>
          </a:prstGeom>
          <a:solidFill>
            <a:srgbClr val="0B1D33"/>
          </a:solidFill>
          <a:ln w="9525">
            <a:solidFill>
              <a:srgbClr val="0B1D33"/>
            </a:solidFill>
            <a:prstDash val="solid"/>
          </a:ln>
        </p:spPr>
      </p:sp>
      <p:sp>
        <p:nvSpPr>
          <p:cNvPr id="23" name="Text 15"/>
          <p:cNvSpPr txBox="1"/>
          <p:nvPr/>
        </p:nvSpPr>
        <p:spPr>
          <a:xfrm>
            <a:off x="9006840" y="4005072"/>
            <a:ext cx="2468880" cy="320040"/>
          </a:xfrm>
          <a:prstGeom prst="rect">
            <a:avLst/>
          </a:prstGeom>
          <a:noFill/>
          <a:ln/>
        </p:spPr>
        <p:txBody>
          <a:bodyPr wrap="square" lIns="0" tIns="0" rIns="0" bIns="0" rtlCol="0" anchor="ctr"/>
          <a:lstStyle/>
          <a:p>
            <a:pPr indent="0" marL="0">
              <a:buNone/>
            </a:pPr>
            <a:r>
              <a:rPr lang="en-US" sz="1500" b="1" dirty="0">
                <a:solidFill>
                  <a:srgbClr val="D97706"/>
                </a:solidFill>
                <a:latin typeface="Calibri" pitchFamily="34" charset="0"/>
                <a:ea typeface="Calibri" pitchFamily="34" charset="-122"/>
                <a:cs typeface="Calibri" pitchFamily="34" charset="-120"/>
              </a:rPr>
              <a:t>Why AI here</a:t>
            </a:r>
            <a:endParaRPr lang="en-US" sz="1500" dirty="0"/>
          </a:p>
        </p:txBody>
      </p:sp>
      <p:sp>
        <p:nvSpPr>
          <p:cNvPr id="24" name="Text 16"/>
          <p:cNvSpPr txBox="1"/>
          <p:nvPr/>
        </p:nvSpPr>
        <p:spPr>
          <a:xfrm>
            <a:off x="9006840" y="4343400"/>
            <a:ext cx="246888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0.999</a:t>
            </a:r>
            <a:endParaRPr lang="en-US" sz="3400" dirty="0"/>
          </a:p>
          <a:p>
            <a:pPr indent="0" marL="0">
              <a:buNone/>
            </a:pPr>
            <a:r>
              <a:rPr lang="en-US" sz="1250" dirty="0">
                <a:solidFill>
                  <a:srgbClr val="CBD5E1"/>
                </a:solidFill>
                <a:latin typeface="Calibri" pitchFamily="34" charset="0"/>
                <a:ea typeface="Calibri" pitchFamily="34" charset="-122"/>
                <a:cs typeface="Calibri" pitchFamily="34" charset="-120"/>
              </a:rPr>
              <a:t>accuracy (F1) with misleading column names, vs 0.844 for rules alone</a:t>
            </a:r>
            <a:endParaRPr lang="en-US" sz="3400" dirty="0"/>
          </a:p>
        </p:txBody>
      </p:sp>
      <p:sp>
        <p:nvSpPr>
          <p:cNvPr id="25" name="Text 17"/>
          <p:cNvSpPr txBox="1"/>
          <p:nvPr/>
        </p:nvSpPr>
        <p:spPr>
          <a:xfrm>
            <a:off x="9006840" y="5486400"/>
            <a:ext cx="2468880" cy="594360"/>
          </a:xfrm>
          <a:prstGeom prst="rect">
            <a:avLst/>
          </a:prstGeom>
          <a:noFill/>
          <a:ln/>
        </p:spPr>
        <p:txBody>
          <a:bodyPr wrap="square" lIns="0" tIns="0" rIns="0" bIns="0" rtlCol="0" anchor="t"/>
          <a:lstStyle/>
          <a:p>
            <a:pPr indent="0" marL="0">
              <a:buNone/>
            </a:pPr>
            <a:r>
              <a:rPr lang="en-US" sz="1250" b="1" dirty="0">
                <a:solidFill>
                  <a:srgbClr val="D97706"/>
                </a:solidFill>
                <a:latin typeface="Calibri" pitchFamily="34" charset="0"/>
                <a:ea typeface="Calibri" pitchFamily="34" charset="-122"/>
                <a:cs typeface="Calibri" pitchFamily="34" charset="-120"/>
              </a:rPr>
              <a:t>Who sees what = fixed rules, explainable and testable. Never AI.</a:t>
            </a:r>
            <a:endParaRPr lang="en-US" sz="125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Dashboard: one query, three organiser users</a:t>
            </a:r>
            <a:endParaRPr lang="en-US" sz="3000" dirty="0"/>
          </a:p>
        </p:txBody>
      </p:sp>
      <p:pic>
        <p:nvPicPr>
          <p:cNvPr id="3" name="dashboard admin_anita" descr="Control Room masking playground on Saffron Bank as admin_anita: Sees the real data. Every query is still logged.">    </p:cNvPr>
          <p:cNvPicPr>
            <a:picLocks noChangeAspect="1"/>
          </p:cNvPicPr>
          <p:nvPr/>
        </p:nvPicPr>
        <p:blipFill>
          <a:blip r:embed="rId1"/>
          <a:stretch>
            <a:fillRect/>
          </a:stretch>
        </p:blipFill>
        <p:spPr>
          <a:xfrm>
            <a:off x="548640" y="1188720"/>
            <a:ext cx="7818120" cy="1517030"/>
          </a:xfrm>
          <a:prstGeom prst="rect">
            <a:avLst/>
          </a:prstGeom>
        </p:spPr>
      </p:pic>
      <p:sp>
        <p:nvSpPr>
          <p:cNvPr id="4" name="admin_anita circle"/>
          <p:cNvSpPr/>
          <p:nvPr/>
        </p:nvSpPr>
        <p:spPr>
          <a:xfrm>
            <a:off x="8595360" y="1280160"/>
            <a:ext cx="566928" cy="566928"/>
          </a:xfrm>
          <a:prstGeom prst="ellipse">
            <a:avLst/>
          </a:prstGeom>
          <a:solidFill>
            <a:srgbClr val="0B1D33"/>
          </a:solidFill>
          <a:ln w="12700">
            <a:solidFill>
              <a:srgbClr val="0B1D33"/>
            </a:solidFill>
            <a:prstDash val="solid"/>
          </a:ln>
        </p:spPr>
      </p:sp>
      <p:pic>
        <p:nvPicPr>
          <p:cNvPr id="5" name="admin_anita icon" descr="admin_anita">    </p:cNvPr>
          <p:cNvPicPr>
            <a:picLocks noChangeAspect="1"/>
          </p:cNvPicPr>
          <p:nvPr/>
        </p:nvPicPr>
        <p:blipFill>
          <a:blip r:embed="rId2"/>
          <a:stretch>
            <a:fillRect/>
          </a:stretch>
        </p:blipFill>
        <p:spPr>
          <a:xfrm>
            <a:off x="8737092" y="1421892"/>
            <a:ext cx="283464" cy="283464"/>
          </a:xfrm>
          <a:prstGeom prst="rect">
            <a:avLst/>
          </a:prstGeom>
        </p:spPr>
      </p:pic>
      <p:sp>
        <p:nvSpPr>
          <p:cNvPr id="6" name="Text 2"/>
          <p:cNvSpPr txBox="1"/>
          <p:nvPr/>
        </p:nvSpPr>
        <p:spPr>
          <a:xfrm>
            <a:off x="9281160" y="1234440"/>
            <a:ext cx="2377440" cy="329184"/>
          </a:xfrm>
          <a:prstGeom prst="rect">
            <a:avLst/>
          </a:prstGeom>
          <a:noFill/>
          <a:ln/>
        </p:spPr>
        <p:txBody>
          <a:bodyPr wrap="square" lIns="0" tIns="0" rIns="0" bIns="0" rtlCol="0" anchor="ctr"/>
          <a:lstStyle/>
          <a:p>
            <a:pPr indent="0" marL="0">
              <a:buNone/>
            </a:pPr>
            <a:r>
              <a:rPr lang="en-US" sz="1400" b="1" dirty="0">
                <a:solidFill>
                  <a:srgbClr val="0B1D33"/>
                </a:solidFill>
                <a:latin typeface="Courier New" pitchFamily="34" charset="0"/>
                <a:ea typeface="Courier New" pitchFamily="34" charset="-122"/>
                <a:cs typeface="Courier New" pitchFamily="34" charset="-120"/>
              </a:rPr>
              <a:t>admin_anita</a:t>
            </a:r>
            <a:endParaRPr lang="en-US" sz="1400" dirty="0"/>
          </a:p>
        </p:txBody>
      </p:sp>
      <p:sp>
        <p:nvSpPr>
          <p:cNvPr id="7" name="Text 3"/>
          <p:cNvSpPr txBox="1"/>
          <p:nvPr/>
        </p:nvSpPr>
        <p:spPr>
          <a:xfrm>
            <a:off x="9281160" y="1572768"/>
            <a:ext cx="2377440" cy="566928"/>
          </a:xfrm>
          <a:prstGeom prst="rect">
            <a:avLst/>
          </a:prstGeom>
          <a:noFill/>
          <a:ln/>
        </p:spPr>
        <p:txBody>
          <a:bodyPr wrap="square" lIns="0" tIns="0" rIns="0" bIns="0" rtlCol="0" anchor="t"/>
          <a:lstStyle/>
          <a:p>
            <a:pPr indent="0" marL="0">
              <a:buNone/>
            </a:pPr>
            <a:r>
              <a:rPr lang="en-US" sz="1600" b="1" dirty="0">
                <a:solidFill>
                  <a:srgbClr val="0B1D33"/>
                </a:solidFill>
                <a:latin typeface="Calibri" pitchFamily="34" charset="0"/>
                <a:ea typeface="Calibri" pitchFamily="34" charset="-122"/>
                <a:cs typeface="Calibri" pitchFamily="34" charset="-120"/>
              </a:rPr>
              <a:t>Sees the real data.</a:t>
            </a:r>
            <a:endParaRPr lang="en-US" sz="1600" dirty="0"/>
          </a:p>
        </p:txBody>
      </p:sp>
      <p:sp>
        <p:nvSpPr>
          <p:cNvPr id="8" name="Text 4"/>
          <p:cNvSpPr txBox="1"/>
          <p:nvPr/>
        </p:nvSpPr>
        <p:spPr>
          <a:xfrm>
            <a:off x="9281160" y="1901952"/>
            <a:ext cx="2377440" cy="685800"/>
          </a:xfrm>
          <a:prstGeom prst="rect">
            <a:avLst/>
          </a:prstGeom>
          <a:noFill/>
          <a:ln/>
        </p:spPr>
        <p:txBody>
          <a:bodyPr wrap="square" lIns="0" tIns="0" rIns="0" bIns="0" rtlCol="0" anchor="t"/>
          <a:lstStyle/>
          <a:p>
            <a:pPr indent="0" marL="0">
              <a:buNone/>
            </a:pPr>
            <a:r>
              <a:rPr lang="en-US" sz="1300" dirty="0">
                <a:solidFill>
                  <a:srgbClr val="1E3A5F"/>
                </a:solidFill>
                <a:latin typeface="Calibri" pitchFamily="34" charset="0"/>
                <a:ea typeface="Calibri" pitchFamily="34" charset="-122"/>
                <a:cs typeface="Calibri" pitchFamily="34" charset="-120"/>
              </a:rPr>
              <a:t>Every query is still logged.</a:t>
            </a:r>
            <a:endParaRPr lang="en-US" sz="1300" dirty="0"/>
          </a:p>
        </p:txBody>
      </p:sp>
      <p:pic>
        <p:nvPicPr>
          <p:cNvPr id="9" name="dashboard support_ravi" descr="Control Room masking playground on Saffron Bank as support_ravi: Sees only the last digits. Balances rounded down to ₹10,000.">    </p:cNvPr>
          <p:cNvPicPr>
            <a:picLocks noChangeAspect="1"/>
          </p:cNvPicPr>
          <p:nvPr/>
        </p:nvPicPr>
        <p:blipFill>
          <a:blip r:embed="rId3"/>
          <a:stretch>
            <a:fillRect/>
          </a:stretch>
        </p:blipFill>
        <p:spPr>
          <a:xfrm>
            <a:off x="548640" y="2880360"/>
            <a:ext cx="7818120" cy="1538701"/>
          </a:xfrm>
          <a:prstGeom prst="rect">
            <a:avLst/>
          </a:prstGeom>
        </p:spPr>
      </p:pic>
      <p:sp>
        <p:nvSpPr>
          <p:cNvPr id="10" name="support_ravi circle"/>
          <p:cNvSpPr/>
          <p:nvPr/>
        </p:nvSpPr>
        <p:spPr>
          <a:xfrm>
            <a:off x="8595360" y="2971800"/>
            <a:ext cx="566928" cy="566928"/>
          </a:xfrm>
          <a:prstGeom prst="ellipse">
            <a:avLst/>
          </a:prstGeom>
          <a:solidFill>
            <a:srgbClr val="D97706"/>
          </a:solidFill>
          <a:ln w="12700">
            <a:solidFill>
              <a:srgbClr val="D97706"/>
            </a:solidFill>
            <a:prstDash val="solid"/>
          </a:ln>
        </p:spPr>
      </p:sp>
      <p:pic>
        <p:nvPicPr>
          <p:cNvPr id="11" name="support_ravi icon" descr="support_ravi">    </p:cNvPr>
          <p:cNvPicPr>
            <a:picLocks noChangeAspect="1"/>
          </p:cNvPicPr>
          <p:nvPr/>
        </p:nvPicPr>
        <p:blipFill>
          <a:blip r:embed="rId4"/>
          <a:stretch>
            <a:fillRect/>
          </a:stretch>
        </p:blipFill>
        <p:spPr>
          <a:xfrm>
            <a:off x="8737092" y="3113532"/>
            <a:ext cx="283464" cy="283464"/>
          </a:xfrm>
          <a:prstGeom prst="rect">
            <a:avLst/>
          </a:prstGeom>
        </p:spPr>
      </p:pic>
      <p:sp>
        <p:nvSpPr>
          <p:cNvPr id="12" name="Text 6"/>
          <p:cNvSpPr txBox="1"/>
          <p:nvPr/>
        </p:nvSpPr>
        <p:spPr>
          <a:xfrm>
            <a:off x="9281160" y="2926080"/>
            <a:ext cx="2377440" cy="329184"/>
          </a:xfrm>
          <a:prstGeom prst="rect">
            <a:avLst/>
          </a:prstGeom>
          <a:noFill/>
          <a:ln/>
        </p:spPr>
        <p:txBody>
          <a:bodyPr wrap="square" lIns="0" tIns="0" rIns="0" bIns="0" rtlCol="0" anchor="ctr"/>
          <a:lstStyle/>
          <a:p>
            <a:pPr indent="0" marL="0">
              <a:buNone/>
            </a:pPr>
            <a:r>
              <a:rPr lang="en-US" sz="1400" b="1" dirty="0">
                <a:solidFill>
                  <a:srgbClr val="D97706"/>
                </a:solidFill>
                <a:latin typeface="Courier New" pitchFamily="34" charset="0"/>
                <a:ea typeface="Courier New" pitchFamily="34" charset="-122"/>
                <a:cs typeface="Courier New" pitchFamily="34" charset="-120"/>
              </a:rPr>
              <a:t>support_ravi</a:t>
            </a:r>
            <a:endParaRPr lang="en-US" sz="1400" dirty="0"/>
          </a:p>
        </p:txBody>
      </p:sp>
      <p:sp>
        <p:nvSpPr>
          <p:cNvPr id="13" name="Text 7"/>
          <p:cNvSpPr txBox="1"/>
          <p:nvPr/>
        </p:nvSpPr>
        <p:spPr>
          <a:xfrm>
            <a:off x="9281160" y="3264408"/>
            <a:ext cx="2377440" cy="566928"/>
          </a:xfrm>
          <a:prstGeom prst="rect">
            <a:avLst/>
          </a:prstGeom>
          <a:noFill/>
          <a:ln/>
        </p:spPr>
        <p:txBody>
          <a:bodyPr wrap="square" lIns="0" tIns="0" rIns="0" bIns="0" rtlCol="0" anchor="t"/>
          <a:lstStyle/>
          <a:p>
            <a:pPr indent="0" marL="0">
              <a:buNone/>
            </a:pPr>
            <a:r>
              <a:rPr lang="en-US" sz="1600" b="1" dirty="0">
                <a:solidFill>
                  <a:srgbClr val="0B1D33"/>
                </a:solidFill>
                <a:latin typeface="Calibri" pitchFamily="34" charset="0"/>
                <a:ea typeface="Calibri" pitchFamily="34" charset="-122"/>
                <a:cs typeface="Calibri" pitchFamily="34" charset="-120"/>
              </a:rPr>
              <a:t>Sees only the last digits.</a:t>
            </a:r>
            <a:endParaRPr lang="en-US" sz="1600" dirty="0"/>
          </a:p>
        </p:txBody>
      </p:sp>
      <p:sp>
        <p:nvSpPr>
          <p:cNvPr id="14" name="Text 8"/>
          <p:cNvSpPr txBox="1"/>
          <p:nvPr/>
        </p:nvSpPr>
        <p:spPr>
          <a:xfrm>
            <a:off x="9281160" y="3593592"/>
            <a:ext cx="2377440" cy="685800"/>
          </a:xfrm>
          <a:prstGeom prst="rect">
            <a:avLst/>
          </a:prstGeom>
          <a:noFill/>
          <a:ln/>
        </p:spPr>
        <p:txBody>
          <a:bodyPr wrap="square" lIns="0" tIns="0" rIns="0" bIns="0" rtlCol="0" anchor="t"/>
          <a:lstStyle/>
          <a:p>
            <a:pPr indent="0" marL="0">
              <a:buNone/>
            </a:pPr>
            <a:r>
              <a:rPr lang="en-US" sz="1300" dirty="0">
                <a:solidFill>
                  <a:srgbClr val="1E3A5F"/>
                </a:solidFill>
                <a:latin typeface="Calibri" pitchFamily="34" charset="0"/>
                <a:ea typeface="Calibri" pitchFamily="34" charset="-122"/>
                <a:cs typeface="Calibri" pitchFamily="34" charset="-120"/>
              </a:rPr>
              <a:t>Balances rounded down to ₹10,000.</a:t>
            </a:r>
            <a:endParaRPr lang="en-US" sz="1300" dirty="0"/>
          </a:p>
        </p:txBody>
      </p:sp>
      <p:pic>
        <p:nvPicPr>
          <p:cNvPr id="15" name="dashboard analyst_kavya" descr="Control Room masking playground on Saffron Bank as analyst_kavya: Sees codes, not people. Same customer → same code, so analysis still works.">    </p:cNvPr>
          <p:cNvPicPr>
            <a:picLocks noChangeAspect="1"/>
          </p:cNvPicPr>
          <p:nvPr/>
        </p:nvPicPr>
        <p:blipFill>
          <a:blip r:embed="rId5"/>
          <a:stretch>
            <a:fillRect/>
          </a:stretch>
        </p:blipFill>
        <p:spPr>
          <a:xfrm>
            <a:off x="548640" y="4572000"/>
            <a:ext cx="7818120" cy="1538701"/>
          </a:xfrm>
          <a:prstGeom prst="rect">
            <a:avLst/>
          </a:prstGeom>
        </p:spPr>
      </p:pic>
      <p:sp>
        <p:nvSpPr>
          <p:cNvPr id="16" name="analyst_kavya circle"/>
          <p:cNvSpPr/>
          <p:nvPr/>
        </p:nvSpPr>
        <p:spPr>
          <a:xfrm>
            <a:off x="8595360" y="4663440"/>
            <a:ext cx="566928" cy="566928"/>
          </a:xfrm>
          <a:prstGeom prst="ellipse">
            <a:avLst/>
          </a:prstGeom>
          <a:solidFill>
            <a:srgbClr val="0F766E"/>
          </a:solidFill>
          <a:ln w="12700">
            <a:solidFill>
              <a:srgbClr val="0F766E"/>
            </a:solidFill>
            <a:prstDash val="solid"/>
          </a:ln>
        </p:spPr>
      </p:sp>
      <p:pic>
        <p:nvPicPr>
          <p:cNvPr id="17" name="analyst_kavya icon" descr="analyst_kavya">    </p:cNvPr>
          <p:cNvPicPr>
            <a:picLocks noChangeAspect="1"/>
          </p:cNvPicPr>
          <p:nvPr/>
        </p:nvPicPr>
        <p:blipFill>
          <a:blip r:embed="rId6"/>
          <a:stretch>
            <a:fillRect/>
          </a:stretch>
        </p:blipFill>
        <p:spPr>
          <a:xfrm>
            <a:off x="8737092" y="4805172"/>
            <a:ext cx="283464" cy="283464"/>
          </a:xfrm>
          <a:prstGeom prst="rect">
            <a:avLst/>
          </a:prstGeom>
        </p:spPr>
      </p:pic>
      <p:sp>
        <p:nvSpPr>
          <p:cNvPr id="18" name="Text 10"/>
          <p:cNvSpPr txBox="1"/>
          <p:nvPr/>
        </p:nvSpPr>
        <p:spPr>
          <a:xfrm>
            <a:off x="9281160" y="4617720"/>
            <a:ext cx="2377440" cy="329184"/>
          </a:xfrm>
          <a:prstGeom prst="rect">
            <a:avLst/>
          </a:prstGeom>
          <a:noFill/>
          <a:ln/>
        </p:spPr>
        <p:txBody>
          <a:bodyPr wrap="square" lIns="0" tIns="0" rIns="0" bIns="0" rtlCol="0" anchor="ctr"/>
          <a:lstStyle/>
          <a:p>
            <a:pPr indent="0" marL="0">
              <a:buNone/>
            </a:pPr>
            <a:r>
              <a:rPr lang="en-US" sz="1400" b="1" dirty="0">
                <a:solidFill>
                  <a:srgbClr val="0F766E"/>
                </a:solidFill>
                <a:latin typeface="Courier New" pitchFamily="34" charset="0"/>
                <a:ea typeface="Courier New" pitchFamily="34" charset="-122"/>
                <a:cs typeface="Courier New" pitchFamily="34" charset="-120"/>
              </a:rPr>
              <a:t>analyst_kavya</a:t>
            </a:r>
            <a:endParaRPr lang="en-US" sz="1400" dirty="0"/>
          </a:p>
        </p:txBody>
      </p:sp>
      <p:sp>
        <p:nvSpPr>
          <p:cNvPr id="19" name="Text 11"/>
          <p:cNvSpPr txBox="1"/>
          <p:nvPr/>
        </p:nvSpPr>
        <p:spPr>
          <a:xfrm>
            <a:off x="9281160" y="4956048"/>
            <a:ext cx="2377440" cy="566928"/>
          </a:xfrm>
          <a:prstGeom prst="rect">
            <a:avLst/>
          </a:prstGeom>
          <a:noFill/>
          <a:ln/>
        </p:spPr>
        <p:txBody>
          <a:bodyPr wrap="square" lIns="0" tIns="0" rIns="0" bIns="0" rtlCol="0" anchor="t"/>
          <a:lstStyle/>
          <a:p>
            <a:pPr indent="0" marL="0">
              <a:buNone/>
            </a:pPr>
            <a:r>
              <a:rPr lang="en-US" sz="1600" b="1" dirty="0">
                <a:solidFill>
                  <a:srgbClr val="0B1D33"/>
                </a:solidFill>
                <a:latin typeface="Calibri" pitchFamily="34" charset="0"/>
                <a:ea typeface="Calibri" pitchFamily="34" charset="-122"/>
                <a:cs typeface="Calibri" pitchFamily="34" charset="-120"/>
              </a:rPr>
              <a:t>Sees codes, not people.</a:t>
            </a:r>
            <a:endParaRPr lang="en-US" sz="1600" dirty="0"/>
          </a:p>
        </p:txBody>
      </p:sp>
      <p:sp>
        <p:nvSpPr>
          <p:cNvPr id="20" name="Text 12"/>
          <p:cNvSpPr txBox="1"/>
          <p:nvPr/>
        </p:nvSpPr>
        <p:spPr>
          <a:xfrm>
            <a:off x="9281160" y="5285232"/>
            <a:ext cx="2377440" cy="685800"/>
          </a:xfrm>
          <a:prstGeom prst="rect">
            <a:avLst/>
          </a:prstGeom>
          <a:noFill/>
          <a:ln/>
        </p:spPr>
        <p:txBody>
          <a:bodyPr wrap="square" lIns="0" tIns="0" rIns="0" bIns="0" rtlCol="0" anchor="t"/>
          <a:lstStyle/>
          <a:p>
            <a:pPr indent="0" marL="0">
              <a:buNone/>
            </a:pPr>
            <a:r>
              <a:rPr lang="en-US" sz="1300" dirty="0">
                <a:solidFill>
                  <a:srgbClr val="1E3A5F"/>
                </a:solidFill>
                <a:latin typeface="Calibri" pitchFamily="34" charset="0"/>
                <a:ea typeface="Calibri" pitchFamily="34" charset="-122"/>
                <a:cs typeface="Calibri" pitchFamily="34" charset="-120"/>
              </a:rPr>
              <a:t>Same customer → same code, so analysis still works.</a:t>
            </a:r>
            <a:endParaRPr lang="en-US" sz="1300" dirty="0"/>
          </a:p>
        </p:txBody>
      </p:sp>
      <p:sp>
        <p:nvSpPr>
          <p:cNvPr id="21" name="Text 13"/>
          <p:cNvSpPr txBox="1"/>
          <p:nvPr/>
        </p:nvSpPr>
        <p:spPr>
          <a:xfrm>
            <a:off x="548640" y="6199632"/>
            <a:ext cx="11064240" cy="201168"/>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Real screenshots of the MaskGuard Control Room on the organisers' Saffron Bank data, logged in as users from their users.csv.</a:t>
            </a:r>
            <a:endParaRPr lang="en-US" sz="10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Command line: the same engine, for IT teams and automation</a:t>
            </a:r>
            <a:endParaRPr lang="en-US" sz="3000" dirty="0"/>
          </a:p>
        </p:txBody>
      </p:sp>
      <p:pic>
        <p:nvPicPr>
          <p:cNvPr id="3" name="cli roles screenshot" descr="Real MaskGuard CLI on Saffron Bank: the same query as admin_anita, support_ravi and analyst_kavya.">    </p:cNvPr>
          <p:cNvPicPr>
            <a:picLocks noChangeAspect="1"/>
          </p:cNvPicPr>
          <p:nvPr/>
        </p:nvPicPr>
        <p:blipFill>
          <a:blip r:embed="rId1"/>
          <a:stretch>
            <a:fillRect/>
          </a:stretch>
        </p:blipFill>
        <p:spPr>
          <a:xfrm>
            <a:off x="548640" y="1188720"/>
            <a:ext cx="6766560" cy="4644350"/>
          </a:xfrm>
          <a:prstGeom prst="rect">
            <a:avLst/>
          </a:prstGeom>
        </p:spPr>
      </p:pic>
      <p:sp>
        <p:nvSpPr>
          <p:cNvPr id="4" name="commands card"/>
          <p:cNvSpPr/>
          <p:nvPr/>
        </p:nvSpPr>
        <p:spPr>
          <a:xfrm>
            <a:off x="7589520" y="1188720"/>
            <a:ext cx="4023360" cy="4644350"/>
          </a:xfrm>
          <a:prstGeom prst="roundRect">
            <a:avLst>
              <a:gd name="adj" fmla="val 1818"/>
            </a:avLst>
          </a:prstGeom>
          <a:solidFill>
            <a:srgbClr val="0B1D33"/>
          </a:solidFill>
          <a:ln w="9525">
            <a:solidFill>
              <a:srgbClr val="0B1D33"/>
            </a:solidFill>
            <a:prstDash val="solid"/>
          </a:ln>
        </p:spPr>
      </p:sp>
      <p:sp>
        <p:nvSpPr>
          <p:cNvPr id="5" name="Text 2"/>
          <p:cNvSpPr txBox="1"/>
          <p:nvPr/>
        </p:nvSpPr>
        <p:spPr>
          <a:xfrm>
            <a:off x="7818120" y="1325880"/>
            <a:ext cx="3566160" cy="365760"/>
          </a:xfrm>
          <a:prstGeom prst="rect">
            <a:avLst/>
          </a:prstGeom>
          <a:noFill/>
          <a:ln/>
        </p:spPr>
        <p:txBody>
          <a:bodyPr wrap="square" lIns="0" tIns="0" rIns="0" bIns="0" rtlCol="0" anchor="ctr"/>
          <a:lstStyle/>
          <a:p>
            <a:pPr indent="0" marL="0">
              <a:buNone/>
            </a:pPr>
            <a:r>
              <a:rPr lang="en-US" sz="1600" b="1" dirty="0">
                <a:solidFill>
                  <a:srgbClr val="D97706"/>
                </a:solidFill>
                <a:latin typeface="Calibri" pitchFamily="34" charset="0"/>
                <a:ea typeface="Calibri" pitchFamily="34" charset="-122"/>
                <a:cs typeface="Calibri" pitchFamily="34" charset="-120"/>
              </a:rPr>
              <a:t>Five commands, start to finish</a:t>
            </a:r>
            <a:endParaRPr lang="en-US" sz="1600" dirty="0"/>
          </a:p>
        </p:txBody>
      </p:sp>
      <p:sp>
        <p:nvSpPr>
          <p:cNvPr id="6" name="Text 3"/>
          <p:cNvSpPr txBox="1"/>
          <p:nvPr/>
        </p:nvSpPr>
        <p:spPr>
          <a:xfrm>
            <a:off x="7818120" y="1828800"/>
            <a:ext cx="3657600" cy="329184"/>
          </a:xfrm>
          <a:prstGeom prst="rect">
            <a:avLst/>
          </a:prstGeom>
          <a:noFill/>
          <a:ln/>
        </p:spPr>
        <p:txBody>
          <a:bodyPr wrap="square" lIns="0" tIns="0" rIns="0" bIns="0" rtlCol="0" anchor="ctr"/>
          <a:lstStyle/>
          <a:p>
            <a:pPr indent="0" marL="0">
              <a:buNone/>
            </a:pPr>
            <a:r>
              <a:rPr lang="en-US" sz="1450" b="1" dirty="0">
                <a:solidFill>
                  <a:srgbClr val="FFFFFF"/>
                </a:solidFill>
                <a:latin typeface="Courier New" pitchFamily="34" charset="0"/>
                <a:ea typeface="Courier New" pitchFamily="34" charset="-122"/>
                <a:cs typeface="Courier New" pitchFamily="34" charset="-120"/>
              </a:rPr>
              <a:t>maskguard connect</a:t>
            </a:r>
            <a:endParaRPr lang="en-US" sz="1450" dirty="0"/>
          </a:p>
        </p:txBody>
      </p:sp>
      <p:sp>
        <p:nvSpPr>
          <p:cNvPr id="7" name="Text 4"/>
          <p:cNvSpPr txBox="1"/>
          <p:nvPr/>
        </p:nvSpPr>
        <p:spPr>
          <a:xfrm>
            <a:off x="7818120" y="2157984"/>
            <a:ext cx="3657600" cy="329184"/>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connect a database; it scans it</a:t>
            </a:r>
            <a:endParaRPr lang="en-US" sz="1300" dirty="0"/>
          </a:p>
        </p:txBody>
      </p:sp>
      <p:sp>
        <p:nvSpPr>
          <p:cNvPr id="8" name="Text 5"/>
          <p:cNvSpPr txBox="1"/>
          <p:nvPr/>
        </p:nvSpPr>
        <p:spPr>
          <a:xfrm>
            <a:off x="7818120" y="2606040"/>
            <a:ext cx="3657600" cy="329184"/>
          </a:xfrm>
          <a:prstGeom prst="rect">
            <a:avLst/>
          </a:prstGeom>
          <a:noFill/>
          <a:ln/>
        </p:spPr>
        <p:txBody>
          <a:bodyPr wrap="square" lIns="0" tIns="0" rIns="0" bIns="0" rtlCol="0" anchor="ctr"/>
          <a:lstStyle/>
          <a:p>
            <a:pPr indent="0" marL="0">
              <a:buNone/>
            </a:pPr>
            <a:r>
              <a:rPr lang="en-US" sz="1450" b="1" dirty="0">
                <a:solidFill>
                  <a:srgbClr val="FFFFFF"/>
                </a:solidFill>
                <a:latin typeface="Courier New" pitchFamily="34" charset="0"/>
                <a:ea typeface="Courier New" pitchFamily="34" charset="-122"/>
                <a:cs typeface="Courier New" pitchFamily="34" charset="-120"/>
              </a:rPr>
              <a:t>maskguard pii approve</a:t>
            </a:r>
            <a:endParaRPr lang="en-US" sz="1450" dirty="0"/>
          </a:p>
        </p:txBody>
      </p:sp>
      <p:sp>
        <p:nvSpPr>
          <p:cNvPr id="9" name="Text 6"/>
          <p:cNvSpPr txBox="1"/>
          <p:nvPr/>
        </p:nvSpPr>
        <p:spPr>
          <a:xfrm>
            <a:off x="7818120" y="2935224"/>
            <a:ext cx="3657600" cy="329184"/>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a person confirms the labels</a:t>
            </a:r>
            <a:endParaRPr lang="en-US" sz="1300" dirty="0"/>
          </a:p>
        </p:txBody>
      </p:sp>
      <p:sp>
        <p:nvSpPr>
          <p:cNvPr id="10" name="Text 7"/>
          <p:cNvSpPr txBox="1"/>
          <p:nvPr/>
        </p:nvSpPr>
        <p:spPr>
          <a:xfrm>
            <a:off x="7818120" y="3383280"/>
            <a:ext cx="3657600" cy="329184"/>
          </a:xfrm>
          <a:prstGeom prst="rect">
            <a:avLst/>
          </a:prstGeom>
          <a:noFill/>
          <a:ln/>
        </p:spPr>
        <p:txBody>
          <a:bodyPr wrap="square" lIns="0" tIns="0" rIns="0" bIns="0" rtlCol="0" anchor="ctr"/>
          <a:lstStyle/>
          <a:p>
            <a:pPr indent="0" marL="0">
              <a:buNone/>
            </a:pPr>
            <a:r>
              <a:rPr lang="en-US" sz="1450" b="1" dirty="0">
                <a:solidFill>
                  <a:srgbClr val="FFFFFF"/>
                </a:solidFill>
                <a:latin typeface="Courier New" pitchFamily="34" charset="0"/>
                <a:ea typeface="Courier New" pitchFamily="34" charset="-122"/>
                <a:cs typeface="Courier New" pitchFamily="34" charset="-120"/>
              </a:rPr>
              <a:t>maskguard compare</a:t>
            </a:r>
            <a:endParaRPr lang="en-US" sz="1450" dirty="0"/>
          </a:p>
        </p:txBody>
      </p:sp>
      <p:sp>
        <p:nvSpPr>
          <p:cNvPr id="11" name="Text 8"/>
          <p:cNvSpPr txBox="1"/>
          <p:nvPr/>
        </p:nvSpPr>
        <p:spPr>
          <a:xfrm>
            <a:off x="7818120" y="3712464"/>
            <a:ext cx="3657600" cy="329184"/>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same query, roles side by side</a:t>
            </a:r>
            <a:endParaRPr lang="en-US" sz="1300" dirty="0"/>
          </a:p>
        </p:txBody>
      </p:sp>
      <p:sp>
        <p:nvSpPr>
          <p:cNvPr id="12" name="Text 9"/>
          <p:cNvSpPr txBox="1"/>
          <p:nvPr/>
        </p:nvSpPr>
        <p:spPr>
          <a:xfrm>
            <a:off x="7818120" y="4160520"/>
            <a:ext cx="3657600" cy="329184"/>
          </a:xfrm>
          <a:prstGeom prst="rect">
            <a:avLst/>
          </a:prstGeom>
          <a:noFill/>
          <a:ln/>
        </p:spPr>
        <p:txBody>
          <a:bodyPr wrap="square" lIns="0" tIns="0" rIns="0" bIns="0" rtlCol="0" anchor="ctr"/>
          <a:lstStyle/>
          <a:p>
            <a:pPr indent="0" marL="0">
              <a:buNone/>
            </a:pPr>
            <a:r>
              <a:rPr lang="en-US" sz="1450" b="1" dirty="0">
                <a:solidFill>
                  <a:srgbClr val="FFFFFF"/>
                </a:solidFill>
                <a:latin typeface="Courier New" pitchFamily="34" charset="0"/>
                <a:ea typeface="Courier New" pitchFamily="34" charset="-122"/>
                <a:cs typeface="Courier New" pitchFamily="34" charset="-120"/>
              </a:rPr>
              <a:t>maskguard attack</a:t>
            </a:r>
            <a:endParaRPr lang="en-US" sz="1450" dirty="0"/>
          </a:p>
        </p:txBody>
      </p:sp>
      <p:sp>
        <p:nvSpPr>
          <p:cNvPr id="13" name="Text 10"/>
          <p:cNvSpPr txBox="1"/>
          <p:nvPr/>
        </p:nvSpPr>
        <p:spPr>
          <a:xfrm>
            <a:off x="7818120" y="4489704"/>
            <a:ext cx="3657600" cy="329184"/>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17 known attacks: 0 leak</a:t>
            </a:r>
            <a:endParaRPr lang="en-US" sz="1300" dirty="0"/>
          </a:p>
        </p:txBody>
      </p:sp>
      <p:sp>
        <p:nvSpPr>
          <p:cNvPr id="14" name="Text 11"/>
          <p:cNvSpPr txBox="1"/>
          <p:nvPr/>
        </p:nvSpPr>
        <p:spPr>
          <a:xfrm>
            <a:off x="7818120" y="4937760"/>
            <a:ext cx="3657600" cy="329184"/>
          </a:xfrm>
          <a:prstGeom prst="rect">
            <a:avLst/>
          </a:prstGeom>
          <a:noFill/>
          <a:ln/>
        </p:spPr>
        <p:txBody>
          <a:bodyPr wrap="square" lIns="0" tIns="0" rIns="0" bIns="0" rtlCol="0" anchor="ctr"/>
          <a:lstStyle/>
          <a:p>
            <a:pPr indent="0" marL="0">
              <a:buNone/>
            </a:pPr>
            <a:r>
              <a:rPr lang="en-US" sz="1450" b="1" dirty="0">
                <a:solidFill>
                  <a:srgbClr val="FFFFFF"/>
                </a:solidFill>
                <a:latin typeface="Courier New" pitchFamily="34" charset="0"/>
                <a:ea typeface="Courier New" pitchFamily="34" charset="-122"/>
                <a:cs typeface="Courier New" pitchFamily="34" charset="-120"/>
              </a:rPr>
              <a:t>maskguard integrity proof</a:t>
            </a:r>
            <a:endParaRPr lang="en-US" sz="1450" dirty="0"/>
          </a:p>
        </p:txBody>
      </p:sp>
      <p:sp>
        <p:nvSpPr>
          <p:cNvPr id="15" name="Text 12"/>
          <p:cNvSpPr txBox="1"/>
          <p:nvPr/>
        </p:nvSpPr>
        <p:spPr>
          <a:xfrm>
            <a:off x="7818120" y="5266944"/>
            <a:ext cx="3657600" cy="329184"/>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data unchanged, audit intact</a:t>
            </a:r>
            <a:endParaRPr lang="en-US" sz="1300" dirty="0"/>
          </a:p>
        </p:txBody>
      </p:sp>
      <p:sp>
        <p:nvSpPr>
          <p:cNvPr id="16" name="Text 13"/>
          <p:cNvSpPr txBox="1"/>
          <p:nvPr/>
        </p:nvSpPr>
        <p:spPr>
          <a:xfrm>
            <a:off x="548640" y="5970230"/>
            <a:ext cx="11064240" cy="365760"/>
          </a:xfrm>
          <a:prstGeom prst="rect">
            <a:avLst/>
          </a:prstGeom>
          <a:noFill/>
          <a:ln/>
        </p:spPr>
        <p:txBody>
          <a:bodyPr wrap="square" lIns="0" tIns="0" rIns="0" bIns="0" rtlCol="0" anchor="ctr"/>
          <a:lstStyle/>
          <a:p>
            <a:pPr indent="0" marL="0">
              <a:buNone/>
            </a:pPr>
            <a:r>
              <a:rPr lang="en-US" sz="1400" b="1" dirty="0">
                <a:solidFill>
                  <a:srgbClr val="0B1D33"/>
                </a:solidFill>
                <a:latin typeface="Calibri" pitchFamily="34" charset="0"/>
                <a:ea typeface="Calibri" pitchFamily="34" charset="-122"/>
                <a:cs typeface="Calibri" pitchFamily="34" charset="-120"/>
              </a:rPr>
              <a:t>Also: </a:t>
            </a:r>
            <a:pPr indent="0" marL="0">
              <a:buNone/>
            </a:pPr>
            <a:r>
              <a:rPr lang="en-US" sz="1400" dirty="0">
                <a:solidFill>
                  <a:srgbClr val="1E3A5F"/>
                </a:solidFill>
                <a:latin typeface="Calibri" pitchFamily="34" charset="0"/>
                <a:ea typeface="Calibri" pitchFamily="34" charset="-122"/>
                <a:cs typeface="Calibri" pitchFamily="34" charset="-120"/>
              </a:rPr>
              <a:t>writes are refused for every role (exit code 3) · JSON output for scripts and CI · pip install maskguard</a:t>
            </a:r>
            <a:endParaRPr lang="en-US" sz="14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Proof on the organisers' own data — on all 3 databases</a:t>
            </a:r>
            <a:endParaRPr lang="en-US" sz="3000" dirty="0"/>
          </a:p>
        </p:txBody>
      </p:sp>
      <p:sp>
        <p:nvSpPr>
          <p:cNvPr id="3" name="proof 1"/>
          <p:cNvSpPr/>
          <p:nvPr/>
        </p:nvSpPr>
        <p:spPr>
          <a:xfrm>
            <a:off x="548640" y="1234440"/>
            <a:ext cx="3520440" cy="1965960"/>
          </a:xfrm>
          <a:prstGeom prst="roundRect">
            <a:avLst>
              <a:gd name="adj" fmla="val 3721"/>
            </a:avLst>
          </a:prstGeom>
          <a:solidFill>
            <a:srgbClr val="0B1D33"/>
          </a:solidFill>
          <a:ln w="9525">
            <a:solidFill>
              <a:srgbClr val="0B1D33"/>
            </a:solidFill>
            <a:prstDash val="solid"/>
          </a:ln>
        </p:spPr>
      </p:sp>
      <p:sp>
        <p:nvSpPr>
          <p:cNvPr id="4" name="Text 2"/>
          <p:cNvSpPr txBox="1"/>
          <p:nvPr/>
        </p:nvSpPr>
        <p:spPr>
          <a:xfrm>
            <a:off x="822960" y="1399032"/>
            <a:ext cx="3017520" cy="731520"/>
          </a:xfrm>
          <a:prstGeom prst="rect">
            <a:avLst/>
          </a:prstGeom>
          <a:noFill/>
          <a:ln/>
        </p:spPr>
        <p:txBody>
          <a:bodyPr wrap="square" lIns="0" tIns="0" rIns="0" bIns="0" rtlCol="0" anchor="ctr"/>
          <a:lstStyle/>
          <a:p>
            <a:pPr indent="0" marL="0">
              <a:buNone/>
            </a:pPr>
            <a:r>
              <a:rPr lang="en-US" sz="4000" b="1" dirty="0">
                <a:solidFill>
                  <a:srgbClr val="D97706"/>
                </a:solidFill>
                <a:latin typeface="Cambria" pitchFamily="34" charset="0"/>
                <a:ea typeface="Cambria" pitchFamily="34" charset="-122"/>
                <a:cs typeface="Cambria" pitchFamily="34" charset="-120"/>
              </a:rPr>
              <a:t>35 / 35</a:t>
            </a:r>
            <a:endParaRPr lang="en-US" sz="4000" dirty="0"/>
          </a:p>
        </p:txBody>
      </p:sp>
      <p:sp>
        <p:nvSpPr>
          <p:cNvPr id="5" name="Text 3"/>
          <p:cNvSpPr txBox="1"/>
          <p:nvPr/>
        </p:nvSpPr>
        <p:spPr>
          <a:xfrm>
            <a:off x="822960" y="2148840"/>
            <a:ext cx="306324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sensitive columns found</a:t>
            </a:r>
            <a:endParaRPr lang="en-US" sz="1700" dirty="0"/>
          </a:p>
        </p:txBody>
      </p:sp>
      <p:sp>
        <p:nvSpPr>
          <p:cNvPr id="6" name="Text 4"/>
          <p:cNvSpPr txBox="1"/>
          <p:nvPr/>
        </p:nvSpPr>
        <p:spPr>
          <a:xfrm>
            <a:off x="822960" y="2532888"/>
            <a:ext cx="3063240" cy="59436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first try 22; we fixed the general causes, not the dataset</a:t>
            </a:r>
            <a:endParaRPr lang="en-US" sz="1300" dirty="0"/>
          </a:p>
        </p:txBody>
      </p:sp>
      <p:sp>
        <p:nvSpPr>
          <p:cNvPr id="7" name="proof 2"/>
          <p:cNvSpPr/>
          <p:nvPr/>
        </p:nvSpPr>
        <p:spPr>
          <a:xfrm>
            <a:off x="4297680" y="1234440"/>
            <a:ext cx="3520440" cy="1965960"/>
          </a:xfrm>
          <a:prstGeom prst="roundRect">
            <a:avLst>
              <a:gd name="adj" fmla="val 3721"/>
            </a:avLst>
          </a:prstGeom>
          <a:solidFill>
            <a:srgbClr val="0B1D33"/>
          </a:solidFill>
          <a:ln w="9525">
            <a:solidFill>
              <a:srgbClr val="0B1D33"/>
            </a:solidFill>
            <a:prstDash val="solid"/>
          </a:ln>
        </p:spPr>
      </p:sp>
      <p:sp>
        <p:nvSpPr>
          <p:cNvPr id="8" name="Text 6"/>
          <p:cNvSpPr txBox="1"/>
          <p:nvPr/>
        </p:nvSpPr>
        <p:spPr>
          <a:xfrm>
            <a:off x="4572000" y="1399032"/>
            <a:ext cx="3017520" cy="731520"/>
          </a:xfrm>
          <a:prstGeom prst="rect">
            <a:avLst/>
          </a:prstGeom>
          <a:noFill/>
          <a:ln/>
        </p:spPr>
        <p:txBody>
          <a:bodyPr wrap="square" lIns="0" tIns="0" rIns="0" bIns="0" rtlCol="0" anchor="ctr"/>
          <a:lstStyle/>
          <a:p>
            <a:pPr indent="0" marL="0">
              <a:buNone/>
            </a:pPr>
            <a:r>
              <a:rPr lang="en-US" sz="4000" b="1" dirty="0">
                <a:solidFill>
                  <a:srgbClr val="D97706"/>
                </a:solidFill>
                <a:latin typeface="Cambria" pitchFamily="34" charset="0"/>
                <a:ea typeface="Cambria" pitchFamily="34" charset="-122"/>
                <a:cs typeface="Cambria" pitchFamily="34" charset="-120"/>
              </a:rPr>
              <a:t>0</a:t>
            </a:r>
            <a:endParaRPr lang="en-US" sz="4000" dirty="0"/>
          </a:p>
        </p:txBody>
      </p:sp>
      <p:sp>
        <p:nvSpPr>
          <p:cNvPr id="9" name="Text 7"/>
          <p:cNvSpPr txBox="1"/>
          <p:nvPr/>
        </p:nvSpPr>
        <p:spPr>
          <a:xfrm>
            <a:off x="4572000" y="2148840"/>
            <a:ext cx="306324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real values leaked</a:t>
            </a:r>
            <a:endParaRPr lang="en-US" sz="1700" dirty="0"/>
          </a:p>
        </p:txBody>
      </p:sp>
      <p:sp>
        <p:nvSpPr>
          <p:cNvPr id="10" name="Text 8"/>
          <p:cNvSpPr txBox="1"/>
          <p:nvPr/>
        </p:nvSpPr>
        <p:spPr>
          <a:xfrm>
            <a:off x="4572000" y="2532888"/>
            <a:ext cx="3063240" cy="59436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in 13,700 masked cells, per database</a:t>
            </a:r>
            <a:endParaRPr lang="en-US" sz="1300" dirty="0"/>
          </a:p>
        </p:txBody>
      </p:sp>
      <p:sp>
        <p:nvSpPr>
          <p:cNvPr id="11" name="proof 3"/>
          <p:cNvSpPr/>
          <p:nvPr/>
        </p:nvSpPr>
        <p:spPr>
          <a:xfrm>
            <a:off x="8046720" y="1234440"/>
            <a:ext cx="3520440" cy="1965960"/>
          </a:xfrm>
          <a:prstGeom prst="roundRect">
            <a:avLst>
              <a:gd name="adj" fmla="val 3721"/>
            </a:avLst>
          </a:prstGeom>
          <a:solidFill>
            <a:srgbClr val="F1F5F9"/>
          </a:solidFill>
          <a:ln w="9525">
            <a:solidFill>
              <a:srgbClr val="F1F5F9"/>
            </a:solidFill>
            <a:prstDash val="solid"/>
          </a:ln>
        </p:spPr>
      </p:sp>
      <p:sp>
        <p:nvSpPr>
          <p:cNvPr id="12" name="Text 10"/>
          <p:cNvSpPr txBox="1"/>
          <p:nvPr/>
        </p:nvSpPr>
        <p:spPr>
          <a:xfrm>
            <a:off x="8321040" y="1399032"/>
            <a:ext cx="3017520" cy="731520"/>
          </a:xfrm>
          <a:prstGeom prst="rect">
            <a:avLst/>
          </a:prstGeom>
          <a:noFill/>
          <a:ln/>
        </p:spPr>
        <p:txBody>
          <a:bodyPr wrap="square" lIns="0" tIns="0" rIns="0" bIns="0" rtlCol="0" anchor="ctr"/>
          <a:lstStyle/>
          <a:p>
            <a:pPr indent="0" marL="0">
              <a:buNone/>
            </a:pPr>
            <a:r>
              <a:rPr lang="en-US" sz="4000" b="1" dirty="0">
                <a:solidFill>
                  <a:srgbClr val="0B1D33"/>
                </a:solidFill>
                <a:latin typeface="Cambria" pitchFamily="34" charset="0"/>
                <a:ea typeface="Cambria" pitchFamily="34" charset="-122"/>
                <a:cs typeface="Cambria" pitchFamily="34" charset="-120"/>
              </a:rPr>
              <a:t>0 rows</a:t>
            </a:r>
            <a:endParaRPr lang="en-US" sz="4000" dirty="0"/>
          </a:p>
        </p:txBody>
      </p:sp>
      <p:sp>
        <p:nvSpPr>
          <p:cNvPr id="13" name="Text 11"/>
          <p:cNvSpPr txBox="1"/>
          <p:nvPr/>
        </p:nvSpPr>
        <p:spPr>
          <a:xfrm>
            <a:off x="8321040" y="2148840"/>
            <a:ext cx="3063240" cy="365760"/>
          </a:xfrm>
          <a:prstGeom prst="rect">
            <a:avLst/>
          </a:prstGeom>
          <a:noFill/>
          <a:ln/>
        </p:spPr>
        <p:txBody>
          <a:bodyPr wrap="square" lIns="0" tIns="0" rIns="0" bIns="0" rtlCol="0" anchor="ctr"/>
          <a:lstStyle/>
          <a:p>
            <a:pPr indent="0" marL="0">
              <a:buNone/>
            </a:pPr>
            <a:r>
              <a:rPr lang="en-US" sz="1700" b="1" dirty="0">
                <a:solidFill>
                  <a:srgbClr val="0B1D33"/>
                </a:solidFill>
                <a:latin typeface="Calibri" pitchFamily="34" charset="0"/>
                <a:ea typeface="Calibri" pitchFamily="34" charset="-122"/>
                <a:cs typeface="Calibri" pitchFamily="34" charset="-120"/>
              </a:rPr>
              <a:t>for a guessed real PAN</a:t>
            </a:r>
            <a:endParaRPr lang="en-US" sz="1700" dirty="0"/>
          </a:p>
        </p:txBody>
      </p:sp>
      <p:sp>
        <p:nvSpPr>
          <p:cNvPr id="14" name="Text 12"/>
          <p:cNvSpPr txBox="1"/>
          <p:nvPr/>
        </p:nvSpPr>
        <p:spPr>
          <a:xfrm>
            <a:off x="8321040" y="2532888"/>
            <a:ext cx="3063240" cy="5943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Admin finds 1 row; Support and Analyst find 0</a:t>
            </a:r>
            <a:endParaRPr lang="en-US" sz="1300" dirty="0"/>
          </a:p>
        </p:txBody>
      </p:sp>
      <p:sp>
        <p:nvSpPr>
          <p:cNvPr id="15" name="proof 4"/>
          <p:cNvSpPr/>
          <p:nvPr/>
        </p:nvSpPr>
        <p:spPr>
          <a:xfrm>
            <a:off x="548640" y="3383280"/>
            <a:ext cx="3520440" cy="1965960"/>
          </a:xfrm>
          <a:prstGeom prst="roundRect">
            <a:avLst>
              <a:gd name="adj" fmla="val 3721"/>
            </a:avLst>
          </a:prstGeom>
          <a:solidFill>
            <a:srgbClr val="F1F5F9"/>
          </a:solidFill>
          <a:ln w="9525">
            <a:solidFill>
              <a:srgbClr val="F1F5F9"/>
            </a:solidFill>
            <a:prstDash val="solid"/>
          </a:ln>
        </p:spPr>
      </p:sp>
      <p:sp>
        <p:nvSpPr>
          <p:cNvPr id="16" name="Text 14"/>
          <p:cNvSpPr txBox="1"/>
          <p:nvPr/>
        </p:nvSpPr>
        <p:spPr>
          <a:xfrm>
            <a:off x="822960" y="3547872"/>
            <a:ext cx="3017520" cy="731520"/>
          </a:xfrm>
          <a:prstGeom prst="rect">
            <a:avLst/>
          </a:prstGeom>
          <a:noFill/>
          <a:ln/>
        </p:spPr>
        <p:txBody>
          <a:bodyPr wrap="square" lIns="0" tIns="0" rIns="0" bIns="0" rtlCol="0" anchor="ctr"/>
          <a:lstStyle/>
          <a:p>
            <a:pPr indent="0" marL="0">
              <a:buNone/>
            </a:pPr>
            <a:r>
              <a:rPr lang="en-US" sz="4000" b="1" dirty="0">
                <a:solidFill>
                  <a:srgbClr val="0B1D33"/>
                </a:solidFill>
                <a:latin typeface="Cambria" pitchFamily="34" charset="0"/>
                <a:ea typeface="Cambria" pitchFamily="34" charset="-122"/>
                <a:cs typeface="Cambria" pitchFamily="34" charset="-120"/>
              </a:rPr>
              <a:t>4 / 4</a:t>
            </a:r>
            <a:endParaRPr lang="en-US" sz="4000" dirty="0"/>
          </a:p>
        </p:txBody>
      </p:sp>
      <p:sp>
        <p:nvSpPr>
          <p:cNvPr id="17" name="Text 15"/>
          <p:cNvSpPr txBox="1"/>
          <p:nvPr/>
        </p:nvSpPr>
        <p:spPr>
          <a:xfrm>
            <a:off x="822960" y="4297680"/>
            <a:ext cx="3063240" cy="365760"/>
          </a:xfrm>
          <a:prstGeom prst="rect">
            <a:avLst/>
          </a:prstGeom>
          <a:noFill/>
          <a:ln/>
        </p:spPr>
        <p:txBody>
          <a:bodyPr wrap="square" lIns="0" tIns="0" rIns="0" bIns="0" rtlCol="0" anchor="ctr"/>
          <a:lstStyle/>
          <a:p>
            <a:pPr indent="0" marL="0">
              <a:buNone/>
            </a:pPr>
            <a:r>
              <a:rPr lang="en-US" sz="1700" b="1" dirty="0">
                <a:solidFill>
                  <a:srgbClr val="0B1D33"/>
                </a:solidFill>
                <a:latin typeface="Calibri" pitchFamily="34" charset="0"/>
                <a:ea typeface="Calibri" pitchFamily="34" charset="-122"/>
                <a:cs typeface="Calibri" pitchFamily="34" charset="-120"/>
              </a:rPr>
              <a:t>data changes refused</a:t>
            </a:r>
            <a:endParaRPr lang="en-US" sz="1700" dirty="0"/>
          </a:p>
        </p:txBody>
      </p:sp>
      <p:sp>
        <p:nvSpPr>
          <p:cNvPr id="18" name="Text 16"/>
          <p:cNvSpPr txBox="1"/>
          <p:nvPr/>
        </p:nvSpPr>
        <p:spPr>
          <a:xfrm>
            <a:off x="822960" y="4681728"/>
            <a:ext cx="3063240" cy="5943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UPDATE, DELETE, DROP, INSERT — for every role</a:t>
            </a:r>
            <a:endParaRPr lang="en-US" sz="1300" dirty="0"/>
          </a:p>
        </p:txBody>
      </p:sp>
      <p:sp>
        <p:nvSpPr>
          <p:cNvPr id="19" name="proof 5"/>
          <p:cNvSpPr/>
          <p:nvPr/>
        </p:nvSpPr>
        <p:spPr>
          <a:xfrm>
            <a:off x="4297680" y="3383280"/>
            <a:ext cx="3520440" cy="1965960"/>
          </a:xfrm>
          <a:prstGeom prst="roundRect">
            <a:avLst>
              <a:gd name="adj" fmla="val 3721"/>
            </a:avLst>
          </a:prstGeom>
          <a:solidFill>
            <a:srgbClr val="F1F5F9"/>
          </a:solidFill>
          <a:ln w="9525">
            <a:solidFill>
              <a:srgbClr val="F1F5F9"/>
            </a:solidFill>
            <a:prstDash val="solid"/>
          </a:ln>
        </p:spPr>
      </p:sp>
      <p:sp>
        <p:nvSpPr>
          <p:cNvPr id="20" name="Text 18"/>
          <p:cNvSpPr txBox="1"/>
          <p:nvPr/>
        </p:nvSpPr>
        <p:spPr>
          <a:xfrm>
            <a:off x="4572000" y="3547872"/>
            <a:ext cx="3017520" cy="731520"/>
          </a:xfrm>
          <a:prstGeom prst="rect">
            <a:avLst/>
          </a:prstGeom>
          <a:noFill/>
          <a:ln/>
        </p:spPr>
        <p:txBody>
          <a:bodyPr wrap="square" lIns="0" tIns="0" rIns="0" bIns="0" rtlCol="0" anchor="ctr"/>
          <a:lstStyle/>
          <a:p>
            <a:pPr indent="0" marL="0">
              <a:buNone/>
            </a:pPr>
            <a:r>
              <a:rPr lang="en-US" sz="4000" b="1" dirty="0">
                <a:solidFill>
                  <a:srgbClr val="0B1D33"/>
                </a:solidFill>
                <a:latin typeface="Cambria" pitchFamily="34" charset="0"/>
                <a:ea typeface="Cambria" pitchFamily="34" charset="-122"/>
                <a:cs typeface="Cambria" pitchFamily="34" charset="-120"/>
              </a:rPr>
              <a:t>0 / 17</a:t>
            </a:r>
            <a:endParaRPr lang="en-US" sz="4000" dirty="0"/>
          </a:p>
        </p:txBody>
      </p:sp>
      <p:sp>
        <p:nvSpPr>
          <p:cNvPr id="21" name="Text 19"/>
          <p:cNvSpPr txBox="1"/>
          <p:nvPr/>
        </p:nvSpPr>
        <p:spPr>
          <a:xfrm>
            <a:off x="4572000" y="4297680"/>
            <a:ext cx="3063240" cy="365760"/>
          </a:xfrm>
          <a:prstGeom prst="rect">
            <a:avLst/>
          </a:prstGeom>
          <a:noFill/>
          <a:ln/>
        </p:spPr>
        <p:txBody>
          <a:bodyPr wrap="square" lIns="0" tIns="0" rIns="0" bIns="0" rtlCol="0" anchor="ctr"/>
          <a:lstStyle/>
          <a:p>
            <a:pPr indent="0" marL="0">
              <a:buNone/>
            </a:pPr>
            <a:r>
              <a:rPr lang="en-US" sz="1700" b="1" dirty="0">
                <a:solidFill>
                  <a:srgbClr val="0B1D33"/>
                </a:solidFill>
                <a:latin typeface="Calibri" pitchFamily="34" charset="0"/>
                <a:ea typeface="Calibri" pitchFamily="34" charset="-122"/>
                <a:cs typeface="Calibri" pitchFamily="34" charset="-120"/>
              </a:rPr>
              <a:t>known attacks leak</a:t>
            </a:r>
            <a:endParaRPr lang="en-US" sz="1700" dirty="0"/>
          </a:p>
        </p:txBody>
      </p:sp>
      <p:sp>
        <p:nvSpPr>
          <p:cNvPr id="22" name="Text 20"/>
          <p:cNvSpPr txBox="1"/>
          <p:nvPr/>
        </p:nvSpPr>
        <p:spPr>
          <a:xfrm>
            <a:off x="4572000" y="4681728"/>
            <a:ext cx="3063240" cy="5943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simple screen masking leaks 14 of the same 17</a:t>
            </a:r>
            <a:endParaRPr lang="en-US" sz="1300" dirty="0"/>
          </a:p>
        </p:txBody>
      </p:sp>
      <p:sp>
        <p:nvSpPr>
          <p:cNvPr id="23" name="proof 6"/>
          <p:cNvSpPr/>
          <p:nvPr/>
        </p:nvSpPr>
        <p:spPr>
          <a:xfrm>
            <a:off x="8046720" y="3383280"/>
            <a:ext cx="3520440" cy="1965960"/>
          </a:xfrm>
          <a:prstGeom prst="roundRect">
            <a:avLst>
              <a:gd name="adj" fmla="val 3721"/>
            </a:avLst>
          </a:prstGeom>
          <a:solidFill>
            <a:srgbClr val="F1F5F9"/>
          </a:solidFill>
          <a:ln w="9525">
            <a:solidFill>
              <a:srgbClr val="F1F5F9"/>
            </a:solidFill>
            <a:prstDash val="solid"/>
          </a:ln>
        </p:spPr>
      </p:sp>
      <p:sp>
        <p:nvSpPr>
          <p:cNvPr id="24" name="Text 22"/>
          <p:cNvSpPr txBox="1"/>
          <p:nvPr/>
        </p:nvSpPr>
        <p:spPr>
          <a:xfrm>
            <a:off x="8321040" y="3547872"/>
            <a:ext cx="3017520" cy="731520"/>
          </a:xfrm>
          <a:prstGeom prst="rect">
            <a:avLst/>
          </a:prstGeom>
          <a:noFill/>
          <a:ln/>
        </p:spPr>
        <p:txBody>
          <a:bodyPr wrap="square" lIns="0" tIns="0" rIns="0" bIns="0" rtlCol="0" anchor="ctr"/>
          <a:lstStyle/>
          <a:p>
            <a:pPr indent="0" marL="0">
              <a:buNone/>
            </a:pPr>
            <a:r>
              <a:rPr lang="en-US" sz="4000" b="1" dirty="0">
                <a:solidFill>
                  <a:srgbClr val="0B1D33"/>
                </a:solidFill>
                <a:latin typeface="Cambria" pitchFamily="34" charset="0"/>
                <a:ea typeface="Cambria" pitchFamily="34" charset="-122"/>
                <a:cs typeface="Cambria" pitchFamily="34" charset="-120"/>
              </a:rPr>
              <a:t>4–8 ms</a:t>
            </a:r>
            <a:endParaRPr lang="en-US" sz="4000" dirty="0"/>
          </a:p>
        </p:txBody>
      </p:sp>
      <p:sp>
        <p:nvSpPr>
          <p:cNvPr id="25" name="Text 23"/>
          <p:cNvSpPr txBox="1"/>
          <p:nvPr/>
        </p:nvSpPr>
        <p:spPr>
          <a:xfrm>
            <a:off x="8321040" y="4297680"/>
            <a:ext cx="3063240" cy="365760"/>
          </a:xfrm>
          <a:prstGeom prst="rect">
            <a:avLst/>
          </a:prstGeom>
          <a:noFill/>
          <a:ln/>
        </p:spPr>
        <p:txBody>
          <a:bodyPr wrap="square" lIns="0" tIns="0" rIns="0" bIns="0" rtlCol="0" anchor="ctr"/>
          <a:lstStyle/>
          <a:p>
            <a:pPr indent="0" marL="0">
              <a:buNone/>
            </a:pPr>
            <a:r>
              <a:rPr lang="en-US" sz="1700" b="1" dirty="0">
                <a:solidFill>
                  <a:srgbClr val="0B1D33"/>
                </a:solidFill>
                <a:latin typeface="Calibri" pitchFamily="34" charset="0"/>
                <a:ea typeface="Calibri" pitchFamily="34" charset="-122"/>
                <a:cs typeface="Calibri" pitchFamily="34" charset="-120"/>
              </a:rPr>
              <a:t>extra time per query</a:t>
            </a:r>
            <a:endParaRPr lang="en-US" sz="1700" dirty="0"/>
          </a:p>
        </p:txBody>
      </p:sp>
      <p:sp>
        <p:nvSpPr>
          <p:cNvPr id="26" name="Text 24"/>
          <p:cNvSpPr txBox="1"/>
          <p:nvPr/>
        </p:nvSpPr>
        <p:spPr>
          <a:xfrm>
            <a:off x="8321040" y="4681728"/>
            <a:ext cx="3063240" cy="5943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from 300 to 100,000 rows (MySQL 6–22 ms)</a:t>
            </a:r>
            <a:endParaRPr lang="en-US" sz="1300" dirty="0"/>
          </a:p>
        </p:txBody>
      </p:sp>
      <p:sp>
        <p:nvSpPr>
          <p:cNvPr id="27" name="Text 25"/>
          <p:cNvSpPr txBox="1"/>
          <p:nvPr/>
        </p:nvSpPr>
        <p:spPr>
          <a:xfrm>
            <a:off x="548640" y="5623560"/>
            <a:ext cx="11064240" cy="548640"/>
          </a:xfrm>
          <a:prstGeom prst="rect">
            <a:avLst/>
          </a:prstGeom>
          <a:noFill/>
          <a:ln/>
        </p:spPr>
        <p:txBody>
          <a:bodyPr wrap="square" lIns="0" tIns="0" rIns="0" bIns="0" rtlCol="0" anchor="ctr"/>
          <a:lstStyle/>
          <a:p>
            <a:pPr indent="0" marL="0">
              <a:buNone/>
            </a:pPr>
            <a:r>
              <a:rPr lang="en-US" sz="1400" b="1" dirty="0">
                <a:solidFill>
                  <a:srgbClr val="0B1D33"/>
                </a:solidFill>
                <a:latin typeface="Calibri" pitchFamily="34" charset="0"/>
                <a:ea typeface="Calibri" pitchFamily="34" charset="-122"/>
                <a:cs typeface="Calibri" pitchFamily="34" charset="-120"/>
              </a:rPr>
              <a:t>Same results on SQLite, PostgreSQL 16 and MySQL 8.4</a:t>
            </a:r>
            <a:pPr indent="0" marL="0">
              <a:buNone/>
            </a:pPr>
            <a:r>
              <a:rPr lang="en-US" sz="1400" dirty="0">
                <a:solidFill>
                  <a:srgbClr val="1E3A5F"/>
                </a:solidFill>
                <a:latin typeface="Calibri" pitchFamily="34" charset="0"/>
                <a:ea typeface="Calibri" pitchFamily="34" charset="-122"/>
                <a:cs typeface="Calibri" pitchFamily="34" charset="-120"/>
              </a:rPr>
              <a:t>  ·  9 organiser users  ·  129,260 rows checked identical across all copies  ·  1,235 automated tests on every change</a:t>
            </a:r>
            <a:endParaRPr lang="en-US" sz="14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Why MaskGuard: what other approaches miss</a:t>
            </a:r>
            <a:endParaRPr lang="en-US" sz="3000" dirty="0"/>
          </a:p>
        </p:txBody>
      </p:sp>
      <p:sp>
        <p:nvSpPr>
          <p:cNvPr id="3" name="maskguard column"/>
          <p:cNvSpPr/>
          <p:nvPr/>
        </p:nvSpPr>
        <p:spPr>
          <a:xfrm>
            <a:off x="4480560" y="1143000"/>
            <a:ext cx="1783080" cy="2706624"/>
          </a:xfrm>
          <a:prstGeom prst="roundRect">
            <a:avLst>
              <a:gd name="adj" fmla="val 4103"/>
            </a:avLst>
          </a:prstGeom>
          <a:solidFill>
            <a:srgbClr val="FDEBD0"/>
          </a:solidFill>
          <a:ln w="9525">
            <a:solidFill>
              <a:srgbClr val="FDEBD0"/>
            </a:solidFill>
            <a:prstDash val="solid"/>
          </a:ln>
        </p:spPr>
      </p:sp>
      <p:sp>
        <p:nvSpPr>
          <p:cNvPr id="4" name="Text 2"/>
          <p:cNvSpPr txBox="1"/>
          <p:nvPr/>
        </p:nvSpPr>
        <p:spPr>
          <a:xfrm>
            <a:off x="4480560" y="1179576"/>
            <a:ext cx="1783080" cy="566928"/>
          </a:xfrm>
          <a:prstGeom prst="rect">
            <a:avLst/>
          </a:prstGeom>
          <a:noFill/>
          <a:ln/>
        </p:spPr>
        <p:txBody>
          <a:bodyPr wrap="square" lIns="0" tIns="0" rIns="0" bIns="0" rtlCol="0" anchor="ctr"/>
          <a:lstStyle/>
          <a:p>
            <a:pPr algn="ctr" indent="0" marL="0">
              <a:buNone/>
            </a:pPr>
            <a:r>
              <a:rPr lang="en-US" sz="1700" b="1" dirty="0">
                <a:solidFill>
                  <a:srgbClr val="D97706"/>
                </a:solidFill>
                <a:latin typeface="Calibri" pitchFamily="34" charset="0"/>
                <a:ea typeface="Calibri" pitchFamily="34" charset="-122"/>
                <a:cs typeface="Calibri" pitchFamily="34" charset="-120"/>
              </a:rPr>
              <a:t>MaskGuard</a:t>
            </a:r>
            <a:endParaRPr lang="en-US" sz="1700" dirty="0"/>
          </a:p>
        </p:txBody>
      </p:sp>
      <p:sp>
        <p:nvSpPr>
          <p:cNvPr id="5" name="Text 3"/>
          <p:cNvSpPr txBox="1"/>
          <p:nvPr/>
        </p:nvSpPr>
        <p:spPr>
          <a:xfrm>
            <a:off x="6263640" y="1179576"/>
            <a:ext cx="1783080" cy="566928"/>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Encryption</a:t>
            </a:r>
            <a:endParaRPr lang="en-US" sz="1300" dirty="0"/>
          </a:p>
          <a:p>
            <a:pPr algn="ctr" indent="0" marL="0">
              <a:buNone/>
            </a:pPr>
            <a:r>
              <a:rPr lang="en-US" sz="1300" b="1" dirty="0">
                <a:solidFill>
                  <a:srgbClr val="1E3A5F"/>
                </a:solidFill>
                <a:latin typeface="Calibri" pitchFamily="34" charset="0"/>
                <a:ea typeface="Calibri" pitchFamily="34" charset="-122"/>
                <a:cs typeface="Calibri" pitchFamily="34" charset="-120"/>
              </a:rPr>
              <a:t>(incl. quantum-safe)</a:t>
            </a:r>
            <a:endParaRPr lang="en-US" sz="1300" dirty="0"/>
          </a:p>
        </p:txBody>
      </p:sp>
      <p:sp>
        <p:nvSpPr>
          <p:cNvPr id="6" name="Text 4"/>
          <p:cNvSpPr txBox="1"/>
          <p:nvPr/>
        </p:nvSpPr>
        <p:spPr>
          <a:xfrm>
            <a:off x="8046720" y="1179576"/>
            <a:ext cx="1783080" cy="566928"/>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Masked copy</a:t>
            </a:r>
            <a:endParaRPr lang="en-US" sz="1300" dirty="0"/>
          </a:p>
          <a:p>
            <a:pPr algn="ctr" indent="0" marL="0">
              <a:buNone/>
            </a:pPr>
            <a:r>
              <a:rPr lang="en-US" sz="1300" b="1" dirty="0">
                <a:solidFill>
                  <a:srgbClr val="1E3A5F"/>
                </a:solidFill>
                <a:latin typeface="Calibri" pitchFamily="34" charset="0"/>
                <a:ea typeface="Calibri" pitchFamily="34" charset="-122"/>
                <a:cs typeface="Calibri" pitchFamily="34" charset="-120"/>
              </a:rPr>
              <a:t>of the database</a:t>
            </a:r>
            <a:endParaRPr lang="en-US" sz="1300" dirty="0"/>
          </a:p>
        </p:txBody>
      </p:sp>
      <p:sp>
        <p:nvSpPr>
          <p:cNvPr id="7" name="Text 5"/>
          <p:cNvSpPr txBox="1"/>
          <p:nvPr/>
        </p:nvSpPr>
        <p:spPr>
          <a:xfrm>
            <a:off x="9829800" y="1179576"/>
            <a:ext cx="1783080" cy="566928"/>
          </a:xfrm>
          <a:prstGeom prst="rect">
            <a:avLst/>
          </a:prstGeom>
          <a:noFill/>
          <a:ln/>
        </p:spPr>
        <p:txBody>
          <a:bodyPr wrap="square" lIns="0" tIns="0" rIns="0" bIns="0" rtlCol="0" anchor="ctr"/>
          <a:lstStyle/>
          <a:p>
            <a:pPr algn="ctr" indent="0" marL="0">
              <a:buNone/>
            </a:pPr>
            <a:r>
              <a:rPr lang="en-US" sz="1300" b="1" dirty="0">
                <a:solidFill>
                  <a:srgbClr val="1E3A5F"/>
                </a:solidFill>
                <a:latin typeface="Calibri" pitchFamily="34" charset="0"/>
                <a:ea typeface="Calibri" pitchFamily="34" charset="-122"/>
                <a:cs typeface="Calibri" pitchFamily="34" charset="-120"/>
              </a:rPr>
              <a:t>Screen-only</a:t>
            </a:r>
            <a:endParaRPr lang="en-US" sz="1300" dirty="0"/>
          </a:p>
          <a:p>
            <a:pPr algn="ctr" indent="0" marL="0">
              <a:buNone/>
            </a:pPr>
            <a:r>
              <a:rPr lang="en-US" sz="1300" b="1" dirty="0">
                <a:solidFill>
                  <a:srgbClr val="1E3A5F"/>
                </a:solidFill>
                <a:latin typeface="Calibri" pitchFamily="34" charset="0"/>
                <a:ea typeface="Calibri" pitchFamily="34" charset="-122"/>
                <a:cs typeface="Calibri" pitchFamily="34" charset="-120"/>
              </a:rPr>
              <a:t>masking</a:t>
            </a:r>
            <a:endParaRPr lang="en-US" sz="1300" dirty="0"/>
          </a:p>
        </p:txBody>
      </p:sp>
      <p:sp>
        <p:nvSpPr>
          <p:cNvPr id="8" name="row line 0"/>
          <p:cNvSpPr/>
          <p:nvPr/>
        </p:nvSpPr>
        <p:spPr>
          <a:xfrm>
            <a:off x="548640" y="1783080"/>
            <a:ext cx="11064240" cy="0"/>
          </a:xfrm>
          <a:prstGeom prst="line">
            <a:avLst/>
          </a:prstGeom>
          <a:noFill/>
          <a:ln w="9525">
            <a:solidFill>
              <a:srgbClr val="CBD5E1"/>
            </a:solidFill>
            <a:prstDash val="solid"/>
          </a:ln>
        </p:spPr>
      </p:sp>
      <p:sp>
        <p:nvSpPr>
          <p:cNvPr id="9" name="Text 7"/>
          <p:cNvSpPr txBox="1"/>
          <p:nvPr/>
        </p:nvSpPr>
        <p:spPr>
          <a:xfrm>
            <a:off x="548640" y="1783080"/>
            <a:ext cx="3840480" cy="502920"/>
          </a:xfrm>
          <a:prstGeom prst="rect">
            <a:avLst/>
          </a:prstGeom>
          <a:noFill/>
          <a:ln/>
        </p:spPr>
        <p:txBody>
          <a:bodyPr wrap="square" lIns="0" tIns="0" rIns="0" bIns="0" rtlCol="0" anchor="ctr"/>
          <a:lstStyle/>
          <a:p>
            <a:pPr indent="0" marL="0">
              <a:buNone/>
            </a:pPr>
            <a:r>
              <a:rPr lang="en-US" sz="1500" b="1" dirty="0">
                <a:solidFill>
                  <a:srgbClr val="0B1D33"/>
                </a:solidFill>
                <a:latin typeface="Calibri" pitchFamily="34" charset="0"/>
                <a:ea typeface="Calibri" pitchFamily="34" charset="-122"/>
                <a:cs typeface="Calibri" pitchFamily="34" charset="-120"/>
              </a:rPr>
              <a:t>Finds personal data by itself</a:t>
            </a:r>
            <a:endParaRPr lang="en-US" sz="1500" dirty="0"/>
          </a:p>
        </p:txBody>
      </p:sp>
      <p:pic>
        <p:nvPicPr>
          <p:cNvPr id="10" name="cell 0 0" descr="MaskGuard: Finds personal data by itself: yes">    </p:cNvPr>
          <p:cNvPicPr>
            <a:picLocks noChangeAspect="1"/>
          </p:cNvPicPr>
          <p:nvPr/>
        </p:nvPicPr>
        <p:blipFill>
          <a:blip r:embed="rId1"/>
          <a:stretch>
            <a:fillRect/>
          </a:stretch>
        </p:blipFill>
        <p:spPr>
          <a:xfrm>
            <a:off x="5234940" y="1897380"/>
            <a:ext cx="274320" cy="274320"/>
          </a:xfrm>
          <a:prstGeom prst="rect">
            <a:avLst/>
          </a:prstGeom>
        </p:spPr>
      </p:pic>
      <p:pic>
        <p:nvPicPr>
          <p:cNvPr id="11" name="cell 0 1" descr="Encryption (incl. quantum-safe): Finds personal data by itself: no">    </p:cNvPr>
          <p:cNvPicPr>
            <a:picLocks noChangeAspect="1"/>
          </p:cNvPicPr>
          <p:nvPr/>
        </p:nvPicPr>
        <p:blipFill>
          <a:blip r:embed="rId2"/>
          <a:stretch>
            <a:fillRect/>
          </a:stretch>
        </p:blipFill>
        <p:spPr>
          <a:xfrm>
            <a:off x="7018020" y="1897380"/>
            <a:ext cx="274320" cy="274320"/>
          </a:xfrm>
          <a:prstGeom prst="rect">
            <a:avLst/>
          </a:prstGeom>
        </p:spPr>
      </p:pic>
      <p:pic>
        <p:nvPicPr>
          <p:cNvPr id="12" name="cell 0 2" descr="Masked copy of the database: Finds personal data by itself: no">    </p:cNvPr>
          <p:cNvPicPr>
            <a:picLocks noChangeAspect="1"/>
          </p:cNvPicPr>
          <p:nvPr/>
        </p:nvPicPr>
        <p:blipFill>
          <a:blip r:embed="rId3"/>
          <a:stretch>
            <a:fillRect/>
          </a:stretch>
        </p:blipFill>
        <p:spPr>
          <a:xfrm>
            <a:off x="8801100" y="1897380"/>
            <a:ext cx="274320" cy="274320"/>
          </a:xfrm>
          <a:prstGeom prst="rect">
            <a:avLst/>
          </a:prstGeom>
        </p:spPr>
      </p:pic>
      <p:pic>
        <p:nvPicPr>
          <p:cNvPr id="13" name="cell 0 3" descr="Screen-only masking: Finds personal data by itself: no">    </p:cNvPr>
          <p:cNvPicPr>
            <a:picLocks noChangeAspect="1"/>
          </p:cNvPicPr>
          <p:nvPr/>
        </p:nvPicPr>
        <p:blipFill>
          <a:blip r:embed="rId4"/>
          <a:stretch>
            <a:fillRect/>
          </a:stretch>
        </p:blipFill>
        <p:spPr>
          <a:xfrm>
            <a:off x="10584180" y="1897380"/>
            <a:ext cx="274320" cy="274320"/>
          </a:xfrm>
          <a:prstGeom prst="rect">
            <a:avLst/>
          </a:prstGeom>
        </p:spPr>
      </p:pic>
      <p:sp>
        <p:nvSpPr>
          <p:cNvPr id="14" name="row line 1"/>
          <p:cNvSpPr/>
          <p:nvPr/>
        </p:nvSpPr>
        <p:spPr>
          <a:xfrm>
            <a:off x="548640" y="2286000"/>
            <a:ext cx="11064240" cy="0"/>
          </a:xfrm>
          <a:prstGeom prst="line">
            <a:avLst/>
          </a:prstGeom>
          <a:noFill/>
          <a:ln w="9525">
            <a:solidFill>
              <a:srgbClr val="CBD5E1"/>
            </a:solidFill>
            <a:prstDash val="solid"/>
          </a:ln>
        </p:spPr>
      </p:sp>
      <p:sp>
        <p:nvSpPr>
          <p:cNvPr id="15" name="Text 9"/>
          <p:cNvSpPr txBox="1"/>
          <p:nvPr/>
        </p:nvSpPr>
        <p:spPr>
          <a:xfrm>
            <a:off x="548640" y="2286000"/>
            <a:ext cx="3840480" cy="502920"/>
          </a:xfrm>
          <a:prstGeom prst="rect">
            <a:avLst/>
          </a:prstGeom>
          <a:noFill/>
          <a:ln/>
        </p:spPr>
        <p:txBody>
          <a:bodyPr wrap="square" lIns="0" tIns="0" rIns="0" bIns="0" rtlCol="0" anchor="ctr"/>
          <a:lstStyle/>
          <a:p>
            <a:pPr indent="0" marL="0">
              <a:buNone/>
            </a:pPr>
            <a:r>
              <a:rPr lang="en-US" sz="1500" b="1" dirty="0">
                <a:solidFill>
                  <a:srgbClr val="0B1D33"/>
                </a:solidFill>
                <a:latin typeface="Calibri" pitchFamily="34" charset="0"/>
                <a:ea typeface="Calibri" pitchFamily="34" charset="-122"/>
                <a:cs typeface="Calibri" pitchFamily="34" charset="-120"/>
              </a:rPr>
              <a:t>A different view for each role</a:t>
            </a:r>
            <a:endParaRPr lang="en-US" sz="1500" dirty="0"/>
          </a:p>
        </p:txBody>
      </p:sp>
      <p:pic>
        <p:nvPicPr>
          <p:cNvPr id="16" name="cell 1 0" descr="MaskGuard: A different view for each role: yes">    </p:cNvPr>
          <p:cNvPicPr>
            <a:picLocks noChangeAspect="1"/>
          </p:cNvPicPr>
          <p:nvPr/>
        </p:nvPicPr>
        <p:blipFill>
          <a:blip r:embed="rId5"/>
          <a:stretch>
            <a:fillRect/>
          </a:stretch>
        </p:blipFill>
        <p:spPr>
          <a:xfrm>
            <a:off x="5234940" y="2400300"/>
            <a:ext cx="274320" cy="274320"/>
          </a:xfrm>
          <a:prstGeom prst="rect">
            <a:avLst/>
          </a:prstGeom>
        </p:spPr>
      </p:pic>
      <p:pic>
        <p:nvPicPr>
          <p:cNvPr id="17" name="cell 1 1" descr="Encryption (incl. quantum-safe): A different view for each role: no">    </p:cNvPr>
          <p:cNvPicPr>
            <a:picLocks noChangeAspect="1"/>
          </p:cNvPicPr>
          <p:nvPr/>
        </p:nvPicPr>
        <p:blipFill>
          <a:blip r:embed="rId6"/>
          <a:stretch>
            <a:fillRect/>
          </a:stretch>
        </p:blipFill>
        <p:spPr>
          <a:xfrm>
            <a:off x="7018020" y="2400300"/>
            <a:ext cx="274320" cy="274320"/>
          </a:xfrm>
          <a:prstGeom prst="rect">
            <a:avLst/>
          </a:prstGeom>
        </p:spPr>
      </p:pic>
      <p:pic>
        <p:nvPicPr>
          <p:cNvPr id="18" name="cell 1 2" descr="Masked copy of the database: A different view for each role: no">    </p:cNvPr>
          <p:cNvPicPr>
            <a:picLocks noChangeAspect="1"/>
          </p:cNvPicPr>
          <p:nvPr/>
        </p:nvPicPr>
        <p:blipFill>
          <a:blip r:embed="rId7"/>
          <a:stretch>
            <a:fillRect/>
          </a:stretch>
        </p:blipFill>
        <p:spPr>
          <a:xfrm>
            <a:off x="8801100" y="2400300"/>
            <a:ext cx="274320" cy="274320"/>
          </a:xfrm>
          <a:prstGeom prst="rect">
            <a:avLst/>
          </a:prstGeom>
        </p:spPr>
      </p:pic>
      <p:pic>
        <p:nvPicPr>
          <p:cNvPr id="19" name="cell 1 3" descr="Screen-only masking: A different view for each role: yes">    </p:cNvPr>
          <p:cNvPicPr>
            <a:picLocks noChangeAspect="1"/>
          </p:cNvPicPr>
          <p:nvPr/>
        </p:nvPicPr>
        <p:blipFill>
          <a:blip r:embed="rId8"/>
          <a:stretch>
            <a:fillRect/>
          </a:stretch>
        </p:blipFill>
        <p:spPr>
          <a:xfrm>
            <a:off x="10584180" y="2400300"/>
            <a:ext cx="274320" cy="274320"/>
          </a:xfrm>
          <a:prstGeom prst="rect">
            <a:avLst/>
          </a:prstGeom>
        </p:spPr>
      </p:pic>
      <p:sp>
        <p:nvSpPr>
          <p:cNvPr id="20" name="row line 2"/>
          <p:cNvSpPr/>
          <p:nvPr/>
        </p:nvSpPr>
        <p:spPr>
          <a:xfrm>
            <a:off x="548640" y="2788920"/>
            <a:ext cx="11064240" cy="0"/>
          </a:xfrm>
          <a:prstGeom prst="line">
            <a:avLst/>
          </a:prstGeom>
          <a:noFill/>
          <a:ln w="9525">
            <a:solidFill>
              <a:srgbClr val="CBD5E1"/>
            </a:solidFill>
            <a:prstDash val="solid"/>
          </a:ln>
        </p:spPr>
      </p:sp>
      <p:sp>
        <p:nvSpPr>
          <p:cNvPr id="21" name="Text 11"/>
          <p:cNvSpPr txBox="1"/>
          <p:nvPr/>
        </p:nvSpPr>
        <p:spPr>
          <a:xfrm>
            <a:off x="548640" y="2788920"/>
            <a:ext cx="3840480" cy="502920"/>
          </a:xfrm>
          <a:prstGeom prst="rect">
            <a:avLst/>
          </a:prstGeom>
          <a:noFill/>
          <a:ln/>
        </p:spPr>
        <p:txBody>
          <a:bodyPr wrap="square" lIns="0" tIns="0" rIns="0" bIns="0" rtlCol="0" anchor="ctr"/>
          <a:lstStyle/>
          <a:p>
            <a:pPr indent="0" marL="0">
              <a:buNone/>
            </a:pPr>
            <a:r>
              <a:rPr lang="en-US" sz="1500" b="1" dirty="0">
                <a:solidFill>
                  <a:srgbClr val="0B1D33"/>
                </a:solidFill>
                <a:latin typeface="Calibri" pitchFamily="34" charset="0"/>
                <a:ea typeface="Calibri" pitchFamily="34" charset="-122"/>
                <a:cs typeface="Calibri" pitchFamily="34" charset="-120"/>
              </a:rPr>
              <a:t>Stops guessing a value through a search</a:t>
            </a:r>
            <a:endParaRPr lang="en-US" sz="1500" dirty="0"/>
          </a:p>
        </p:txBody>
      </p:sp>
      <p:pic>
        <p:nvPicPr>
          <p:cNvPr id="22" name="cell 2 0" descr="MaskGuard: Stops guessing a value through a search: yes">    </p:cNvPr>
          <p:cNvPicPr>
            <a:picLocks noChangeAspect="1"/>
          </p:cNvPicPr>
          <p:nvPr/>
        </p:nvPicPr>
        <p:blipFill>
          <a:blip r:embed="rId9"/>
          <a:stretch>
            <a:fillRect/>
          </a:stretch>
        </p:blipFill>
        <p:spPr>
          <a:xfrm>
            <a:off x="5234940" y="2903220"/>
            <a:ext cx="274320" cy="274320"/>
          </a:xfrm>
          <a:prstGeom prst="rect">
            <a:avLst/>
          </a:prstGeom>
        </p:spPr>
      </p:pic>
      <p:pic>
        <p:nvPicPr>
          <p:cNvPr id="23" name="cell 2 1" descr="Encryption (incl. quantum-safe): Stops guessing a value through a search: no">    </p:cNvPr>
          <p:cNvPicPr>
            <a:picLocks noChangeAspect="1"/>
          </p:cNvPicPr>
          <p:nvPr/>
        </p:nvPicPr>
        <p:blipFill>
          <a:blip r:embed="rId10"/>
          <a:stretch>
            <a:fillRect/>
          </a:stretch>
        </p:blipFill>
        <p:spPr>
          <a:xfrm>
            <a:off x="7018020" y="2903220"/>
            <a:ext cx="274320" cy="274320"/>
          </a:xfrm>
          <a:prstGeom prst="rect">
            <a:avLst/>
          </a:prstGeom>
        </p:spPr>
      </p:pic>
      <p:pic>
        <p:nvPicPr>
          <p:cNvPr id="24" name="cell 2 2" descr="Masked copy of the database: Stops guessing a value through a search: yes">    </p:cNvPr>
          <p:cNvPicPr>
            <a:picLocks noChangeAspect="1"/>
          </p:cNvPicPr>
          <p:nvPr/>
        </p:nvPicPr>
        <p:blipFill>
          <a:blip r:embed="rId11"/>
          <a:stretch>
            <a:fillRect/>
          </a:stretch>
        </p:blipFill>
        <p:spPr>
          <a:xfrm>
            <a:off x="8801100" y="2903220"/>
            <a:ext cx="274320" cy="274320"/>
          </a:xfrm>
          <a:prstGeom prst="rect">
            <a:avLst/>
          </a:prstGeom>
        </p:spPr>
      </p:pic>
      <p:pic>
        <p:nvPicPr>
          <p:cNvPr id="25" name="cell 2 3" descr="Screen-only masking: Stops guessing a value through a search: no">    </p:cNvPr>
          <p:cNvPicPr>
            <a:picLocks noChangeAspect="1"/>
          </p:cNvPicPr>
          <p:nvPr/>
        </p:nvPicPr>
        <p:blipFill>
          <a:blip r:embed="rId12"/>
          <a:stretch>
            <a:fillRect/>
          </a:stretch>
        </p:blipFill>
        <p:spPr>
          <a:xfrm>
            <a:off x="10584180" y="2903220"/>
            <a:ext cx="274320" cy="274320"/>
          </a:xfrm>
          <a:prstGeom prst="rect">
            <a:avLst/>
          </a:prstGeom>
        </p:spPr>
      </p:pic>
      <p:sp>
        <p:nvSpPr>
          <p:cNvPr id="26" name="row line 3"/>
          <p:cNvSpPr/>
          <p:nvPr/>
        </p:nvSpPr>
        <p:spPr>
          <a:xfrm>
            <a:off x="548640" y="3291840"/>
            <a:ext cx="11064240" cy="0"/>
          </a:xfrm>
          <a:prstGeom prst="line">
            <a:avLst/>
          </a:prstGeom>
          <a:noFill/>
          <a:ln w="9525">
            <a:solidFill>
              <a:srgbClr val="CBD5E1"/>
            </a:solidFill>
            <a:prstDash val="solid"/>
          </a:ln>
        </p:spPr>
      </p:sp>
      <p:sp>
        <p:nvSpPr>
          <p:cNvPr id="27" name="Text 13"/>
          <p:cNvSpPr txBox="1"/>
          <p:nvPr/>
        </p:nvSpPr>
        <p:spPr>
          <a:xfrm>
            <a:off x="548640" y="3291840"/>
            <a:ext cx="3840480" cy="502920"/>
          </a:xfrm>
          <a:prstGeom prst="rect">
            <a:avLst/>
          </a:prstGeom>
          <a:noFill/>
          <a:ln/>
        </p:spPr>
        <p:txBody>
          <a:bodyPr wrap="square" lIns="0" tIns="0" rIns="0" bIns="0" rtlCol="0" anchor="ctr"/>
          <a:lstStyle/>
          <a:p>
            <a:pPr indent="0" marL="0">
              <a:buNone/>
            </a:pPr>
            <a:r>
              <a:rPr lang="en-US" sz="1500" b="1" dirty="0">
                <a:solidFill>
                  <a:srgbClr val="0B1D33"/>
                </a:solidFill>
                <a:latin typeface="Calibri" pitchFamily="34" charset="0"/>
                <a:ea typeface="Calibri" pitchFamily="34" charset="-122"/>
                <a:cs typeface="Calibri" pitchFamily="34" charset="-120"/>
              </a:rPr>
              <a:t>Data stays in place, never copied</a:t>
            </a:r>
            <a:endParaRPr lang="en-US" sz="1500" dirty="0"/>
          </a:p>
        </p:txBody>
      </p:sp>
      <p:pic>
        <p:nvPicPr>
          <p:cNvPr id="28" name="cell 3 0" descr="MaskGuard: Data stays in place, never copied: yes">    </p:cNvPr>
          <p:cNvPicPr>
            <a:picLocks noChangeAspect="1"/>
          </p:cNvPicPr>
          <p:nvPr/>
        </p:nvPicPr>
        <p:blipFill>
          <a:blip r:embed="rId13"/>
          <a:stretch>
            <a:fillRect/>
          </a:stretch>
        </p:blipFill>
        <p:spPr>
          <a:xfrm>
            <a:off x="5234940" y="3406140"/>
            <a:ext cx="274320" cy="274320"/>
          </a:xfrm>
          <a:prstGeom prst="rect">
            <a:avLst/>
          </a:prstGeom>
        </p:spPr>
      </p:pic>
      <p:pic>
        <p:nvPicPr>
          <p:cNvPr id="29" name="cell 3 1" descr="Encryption (incl. quantum-safe): Data stays in place, never copied: yes">    </p:cNvPr>
          <p:cNvPicPr>
            <a:picLocks noChangeAspect="1"/>
          </p:cNvPicPr>
          <p:nvPr/>
        </p:nvPicPr>
        <p:blipFill>
          <a:blip r:embed="rId14"/>
          <a:stretch>
            <a:fillRect/>
          </a:stretch>
        </p:blipFill>
        <p:spPr>
          <a:xfrm>
            <a:off x="7018020" y="3406140"/>
            <a:ext cx="274320" cy="274320"/>
          </a:xfrm>
          <a:prstGeom prst="rect">
            <a:avLst/>
          </a:prstGeom>
        </p:spPr>
      </p:pic>
      <p:pic>
        <p:nvPicPr>
          <p:cNvPr id="30" name="cell 3 2" descr="Masked copy of the database: Data stays in place, never copied: no">    </p:cNvPr>
          <p:cNvPicPr>
            <a:picLocks noChangeAspect="1"/>
          </p:cNvPicPr>
          <p:nvPr/>
        </p:nvPicPr>
        <p:blipFill>
          <a:blip r:embed="rId15"/>
          <a:stretch>
            <a:fillRect/>
          </a:stretch>
        </p:blipFill>
        <p:spPr>
          <a:xfrm>
            <a:off x="8801100" y="3406140"/>
            <a:ext cx="274320" cy="274320"/>
          </a:xfrm>
          <a:prstGeom prst="rect">
            <a:avLst/>
          </a:prstGeom>
        </p:spPr>
      </p:pic>
      <p:pic>
        <p:nvPicPr>
          <p:cNvPr id="31" name="cell 3 3" descr="Screen-only masking: Data stays in place, never copied: yes">    </p:cNvPr>
          <p:cNvPicPr>
            <a:picLocks noChangeAspect="1"/>
          </p:cNvPicPr>
          <p:nvPr/>
        </p:nvPicPr>
        <p:blipFill>
          <a:blip r:embed="rId16"/>
          <a:stretch>
            <a:fillRect/>
          </a:stretch>
        </p:blipFill>
        <p:spPr>
          <a:xfrm>
            <a:off x="10584180" y="3406140"/>
            <a:ext cx="274320" cy="274320"/>
          </a:xfrm>
          <a:prstGeom prst="rect">
            <a:avLst/>
          </a:prstGeom>
        </p:spPr>
      </p:pic>
      <p:sp>
        <p:nvSpPr>
          <p:cNvPr id="32" name="key message"/>
          <p:cNvSpPr/>
          <p:nvPr/>
        </p:nvSpPr>
        <p:spPr>
          <a:xfrm>
            <a:off x="548640" y="3931920"/>
            <a:ext cx="11064240" cy="868680"/>
          </a:xfrm>
          <a:prstGeom prst="roundRect">
            <a:avLst>
              <a:gd name="adj" fmla="val 8421"/>
            </a:avLst>
          </a:prstGeom>
          <a:solidFill>
            <a:srgbClr val="0B1D33"/>
          </a:solidFill>
          <a:ln w="9525">
            <a:solidFill>
              <a:srgbClr val="0B1D33"/>
            </a:solidFill>
            <a:prstDash val="solid"/>
          </a:ln>
        </p:spPr>
      </p:sp>
      <p:sp>
        <p:nvSpPr>
          <p:cNvPr id="33" name="lock circle"/>
          <p:cNvSpPr/>
          <p:nvPr/>
        </p:nvSpPr>
        <p:spPr>
          <a:xfrm>
            <a:off x="731520" y="4050792"/>
            <a:ext cx="621792" cy="621792"/>
          </a:xfrm>
          <a:prstGeom prst="ellipse">
            <a:avLst/>
          </a:prstGeom>
          <a:solidFill>
            <a:srgbClr val="D97706"/>
          </a:solidFill>
          <a:ln w="12700">
            <a:solidFill>
              <a:srgbClr val="D97706"/>
            </a:solidFill>
            <a:prstDash val="solid"/>
          </a:ln>
        </p:spPr>
      </p:sp>
      <p:pic>
        <p:nvPicPr>
          <p:cNvPr id="34" name="lock icon" descr="lock">    </p:cNvPr>
          <p:cNvPicPr>
            <a:picLocks noChangeAspect="1"/>
          </p:cNvPicPr>
          <p:nvPr/>
        </p:nvPicPr>
        <p:blipFill>
          <a:blip r:embed="rId17"/>
          <a:stretch>
            <a:fillRect/>
          </a:stretch>
        </p:blipFill>
        <p:spPr>
          <a:xfrm>
            <a:off x="886968" y="4206240"/>
            <a:ext cx="310896" cy="310896"/>
          </a:xfrm>
          <a:prstGeom prst="rect">
            <a:avLst/>
          </a:prstGeom>
        </p:spPr>
      </p:pic>
      <p:sp>
        <p:nvSpPr>
          <p:cNvPr id="35" name="Text 16"/>
          <p:cNvSpPr txBox="1"/>
          <p:nvPr/>
        </p:nvSpPr>
        <p:spPr>
          <a:xfrm>
            <a:off x="1554480" y="3931920"/>
            <a:ext cx="9875520" cy="8686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Encryption — even quantum-safe — keeps outsiders out. </a:t>
            </a:r>
            <a:pPr indent="0" marL="0">
              <a:buNone/>
            </a:pPr>
            <a:r>
              <a:rPr lang="en-US" sz="1500" dirty="0">
                <a:solidFill>
                  <a:srgbClr val="CBD5E1"/>
                </a:solidFill>
                <a:latin typeface="Calibri" pitchFamily="34" charset="0"/>
                <a:ea typeface="Calibri" pitchFamily="34" charset="-122"/>
                <a:cs typeface="Calibri" pitchFamily="34" charset="-120"/>
              </a:rPr>
              <a:t>But once the bank's own app decrypts the data, every insider sees all of it. MaskGuard decides what each insider sees, so use both.</a:t>
            </a:r>
            <a:endParaRPr lang="en-US" sz="1500" dirty="0"/>
          </a:p>
        </p:txBody>
      </p:sp>
      <p:sp>
        <p:nvSpPr>
          <p:cNvPr id="36" name="Text 17"/>
          <p:cNvSpPr txBox="1"/>
          <p:nvPr/>
        </p:nvSpPr>
        <p:spPr>
          <a:xfrm>
            <a:off x="548640" y="4892040"/>
            <a:ext cx="2743200" cy="274320"/>
          </a:xfrm>
          <a:prstGeom prst="rect">
            <a:avLst/>
          </a:prstGeom>
          <a:noFill/>
          <a:ln/>
        </p:spPr>
        <p:txBody>
          <a:bodyPr wrap="square" lIns="0" tIns="0" rIns="0" bIns="0" rtlCol="0" anchor="ctr"/>
          <a:lstStyle/>
          <a:p>
            <a:pPr indent="0" marL="0">
              <a:buNone/>
            </a:pPr>
            <a:r>
              <a:rPr lang="en-US" sz="1500" b="1" dirty="0">
                <a:solidFill>
                  <a:srgbClr val="0B1D33"/>
                </a:solidFill>
                <a:latin typeface="Cambria" pitchFamily="34" charset="0"/>
                <a:ea typeface="Cambria" pitchFamily="34" charset="-122"/>
                <a:cs typeface="Cambria" pitchFamily="34" charset="-120"/>
              </a:rPr>
              <a:t>The market</a:t>
            </a:r>
            <a:endParaRPr lang="en-US" sz="1500" dirty="0"/>
          </a:p>
        </p:txBody>
      </p:sp>
      <p:sp>
        <p:nvSpPr>
          <p:cNvPr id="37" name="market 0"/>
          <p:cNvSpPr/>
          <p:nvPr/>
        </p:nvSpPr>
        <p:spPr>
          <a:xfrm>
            <a:off x="548640" y="5212080"/>
            <a:ext cx="2514600" cy="896112"/>
          </a:xfrm>
          <a:prstGeom prst="roundRect">
            <a:avLst>
              <a:gd name="adj" fmla="val 8163"/>
            </a:avLst>
          </a:prstGeom>
          <a:solidFill>
            <a:srgbClr val="F1F5F9"/>
          </a:solidFill>
          <a:ln w="9525">
            <a:solidFill>
              <a:srgbClr val="F1F5F9"/>
            </a:solidFill>
            <a:prstDash val="solid"/>
          </a:ln>
        </p:spPr>
      </p:sp>
      <p:sp>
        <p:nvSpPr>
          <p:cNvPr id="38" name="Text 19"/>
          <p:cNvSpPr txBox="1"/>
          <p:nvPr/>
        </p:nvSpPr>
        <p:spPr>
          <a:xfrm>
            <a:off x="713232" y="5266944"/>
            <a:ext cx="2240280" cy="411480"/>
          </a:xfrm>
          <a:prstGeom prst="rect">
            <a:avLst/>
          </a:prstGeom>
          <a:noFill/>
          <a:ln/>
        </p:spPr>
        <p:txBody>
          <a:bodyPr wrap="square" lIns="0" tIns="0" rIns="0" bIns="0" rtlCol="0" anchor="ctr"/>
          <a:lstStyle/>
          <a:p>
            <a:pPr indent="0" marL="0">
              <a:buNone/>
            </a:pPr>
            <a:r>
              <a:rPr lang="en-US" sz="1900" b="1" dirty="0">
                <a:solidFill>
                  <a:srgbClr val="0B1D33"/>
                </a:solidFill>
                <a:latin typeface="Cambria" pitchFamily="34" charset="0"/>
                <a:ea typeface="Cambria" pitchFamily="34" charset="-122"/>
                <a:cs typeface="Cambria" pitchFamily="34" charset="-120"/>
              </a:rPr>
              <a:t>$1.47 B → $2.6 B</a:t>
            </a:r>
            <a:endParaRPr lang="en-US" sz="1900" dirty="0"/>
          </a:p>
        </p:txBody>
      </p:sp>
      <p:sp>
        <p:nvSpPr>
          <p:cNvPr id="39" name="Text 20"/>
          <p:cNvSpPr txBox="1"/>
          <p:nvPr/>
        </p:nvSpPr>
        <p:spPr>
          <a:xfrm>
            <a:off x="713232" y="5669280"/>
            <a:ext cx="2286000" cy="384048"/>
          </a:xfrm>
          <a:prstGeom prst="rect">
            <a:avLst/>
          </a:prstGeom>
          <a:noFill/>
          <a:ln/>
        </p:spPr>
        <p:txBody>
          <a:bodyPr wrap="square" lIns="0" tIns="0" rIns="0" bIns="0" rtlCol="0" anchor="t"/>
          <a:lstStyle/>
          <a:p>
            <a:pPr indent="0" marL="0">
              <a:buNone/>
            </a:pPr>
            <a:r>
              <a:rPr lang="en-US" sz="1200" dirty="0">
                <a:solidFill>
                  <a:srgbClr val="1E3A5F"/>
                </a:solidFill>
                <a:latin typeface="Calibri" pitchFamily="34" charset="0"/>
                <a:ea typeface="Calibri" pitchFamily="34" charset="-122"/>
                <a:cs typeface="Calibri" pitchFamily="34" charset="-120"/>
              </a:rPr>
              <a:t>data-masking market, 2025 → 2030</a:t>
            </a:r>
            <a:endParaRPr lang="en-US" sz="1200" dirty="0"/>
          </a:p>
        </p:txBody>
      </p:sp>
      <p:sp>
        <p:nvSpPr>
          <p:cNvPr id="40" name="market 1"/>
          <p:cNvSpPr/>
          <p:nvPr/>
        </p:nvSpPr>
        <p:spPr>
          <a:xfrm>
            <a:off x="3246120" y="5212080"/>
            <a:ext cx="2514600" cy="896112"/>
          </a:xfrm>
          <a:prstGeom prst="roundRect">
            <a:avLst>
              <a:gd name="adj" fmla="val 8163"/>
            </a:avLst>
          </a:prstGeom>
          <a:solidFill>
            <a:srgbClr val="F1F5F9"/>
          </a:solidFill>
          <a:ln w="9525">
            <a:solidFill>
              <a:srgbClr val="F1F5F9"/>
            </a:solidFill>
            <a:prstDash val="solid"/>
          </a:ln>
        </p:spPr>
      </p:sp>
      <p:sp>
        <p:nvSpPr>
          <p:cNvPr id="41" name="Text 22"/>
          <p:cNvSpPr txBox="1"/>
          <p:nvPr/>
        </p:nvSpPr>
        <p:spPr>
          <a:xfrm>
            <a:off x="3410712" y="5266944"/>
            <a:ext cx="2240280" cy="411480"/>
          </a:xfrm>
          <a:prstGeom prst="rect">
            <a:avLst/>
          </a:prstGeom>
          <a:noFill/>
          <a:ln/>
        </p:spPr>
        <p:txBody>
          <a:bodyPr wrap="square" lIns="0" tIns="0" rIns="0" bIns="0" rtlCol="0" anchor="ctr"/>
          <a:lstStyle/>
          <a:p>
            <a:pPr indent="0" marL="0">
              <a:buNone/>
            </a:pPr>
            <a:r>
              <a:rPr lang="en-US" sz="1900" b="1" dirty="0">
                <a:solidFill>
                  <a:srgbClr val="0B1D33"/>
                </a:solidFill>
                <a:latin typeface="Cambria" pitchFamily="34" charset="0"/>
                <a:ea typeface="Cambria" pitchFamily="34" charset="-122"/>
                <a:cs typeface="Cambria" pitchFamily="34" charset="-120"/>
              </a:rPr>
              <a:t>May 2027</a:t>
            </a:r>
            <a:endParaRPr lang="en-US" sz="1900" dirty="0"/>
          </a:p>
        </p:txBody>
      </p:sp>
      <p:sp>
        <p:nvSpPr>
          <p:cNvPr id="42" name="Text 23"/>
          <p:cNvSpPr txBox="1"/>
          <p:nvPr/>
        </p:nvSpPr>
        <p:spPr>
          <a:xfrm>
            <a:off x="3410712" y="5669280"/>
            <a:ext cx="2286000" cy="384048"/>
          </a:xfrm>
          <a:prstGeom prst="rect">
            <a:avLst/>
          </a:prstGeom>
          <a:noFill/>
          <a:ln/>
        </p:spPr>
        <p:txBody>
          <a:bodyPr wrap="square" lIns="0" tIns="0" rIns="0" bIns="0" rtlCol="0" anchor="t"/>
          <a:lstStyle/>
          <a:p>
            <a:pPr indent="0" marL="0">
              <a:buNone/>
            </a:pPr>
            <a:r>
              <a:rPr lang="en-US" sz="1200" dirty="0">
                <a:solidFill>
                  <a:srgbClr val="1E3A5F"/>
                </a:solidFill>
                <a:latin typeface="Calibri" pitchFamily="34" charset="0"/>
                <a:ea typeface="Calibri" pitchFamily="34" charset="-122"/>
                <a:cs typeface="Calibri" pitchFamily="34" charset="-120"/>
              </a:rPr>
              <a:t>DPDP rules apply to every bank</a:t>
            </a:r>
            <a:endParaRPr lang="en-US" sz="1200" dirty="0"/>
          </a:p>
        </p:txBody>
      </p:sp>
      <p:sp>
        <p:nvSpPr>
          <p:cNvPr id="43" name="market 2"/>
          <p:cNvSpPr/>
          <p:nvPr/>
        </p:nvSpPr>
        <p:spPr>
          <a:xfrm>
            <a:off x="5943600" y="5212080"/>
            <a:ext cx="2514600" cy="896112"/>
          </a:xfrm>
          <a:prstGeom prst="roundRect">
            <a:avLst>
              <a:gd name="adj" fmla="val 8163"/>
            </a:avLst>
          </a:prstGeom>
          <a:solidFill>
            <a:srgbClr val="F1F5F9"/>
          </a:solidFill>
          <a:ln w="9525">
            <a:solidFill>
              <a:srgbClr val="F1F5F9"/>
            </a:solidFill>
            <a:prstDash val="solid"/>
          </a:ln>
        </p:spPr>
      </p:sp>
      <p:sp>
        <p:nvSpPr>
          <p:cNvPr id="44" name="Text 25"/>
          <p:cNvSpPr txBox="1"/>
          <p:nvPr/>
        </p:nvSpPr>
        <p:spPr>
          <a:xfrm>
            <a:off x="6108192" y="5266944"/>
            <a:ext cx="2240280" cy="411480"/>
          </a:xfrm>
          <a:prstGeom prst="rect">
            <a:avLst/>
          </a:prstGeom>
          <a:noFill/>
          <a:ln/>
        </p:spPr>
        <p:txBody>
          <a:bodyPr wrap="square" lIns="0" tIns="0" rIns="0" bIns="0" rtlCol="0" anchor="ctr"/>
          <a:lstStyle/>
          <a:p>
            <a:pPr indent="0" marL="0">
              <a:buNone/>
            </a:pPr>
            <a:r>
              <a:rPr lang="en-US" sz="1900" b="1" dirty="0">
                <a:solidFill>
                  <a:srgbClr val="0B1D33"/>
                </a:solidFill>
                <a:latin typeface="Cambria" pitchFamily="34" charset="0"/>
                <a:ea typeface="Cambria" pitchFamily="34" charset="-122"/>
                <a:cs typeface="Cambria" pitchFamily="34" charset="-120"/>
              </a:rPr>
              <a:t>Open source</a:t>
            </a:r>
            <a:endParaRPr lang="en-US" sz="1900" dirty="0"/>
          </a:p>
        </p:txBody>
      </p:sp>
      <p:sp>
        <p:nvSpPr>
          <p:cNvPr id="45" name="Text 26"/>
          <p:cNvSpPr txBox="1"/>
          <p:nvPr/>
        </p:nvSpPr>
        <p:spPr>
          <a:xfrm>
            <a:off x="6108192" y="5669280"/>
            <a:ext cx="2286000" cy="384048"/>
          </a:xfrm>
          <a:prstGeom prst="rect">
            <a:avLst/>
          </a:prstGeom>
          <a:noFill/>
          <a:ln/>
        </p:spPr>
        <p:txBody>
          <a:bodyPr wrap="square" lIns="0" tIns="0" rIns="0" bIns="0" rtlCol="0" anchor="t"/>
          <a:lstStyle/>
          <a:p>
            <a:pPr indent="0" marL="0">
              <a:buNone/>
            </a:pPr>
            <a:r>
              <a:rPr lang="en-US" sz="1200" dirty="0">
                <a:solidFill>
                  <a:srgbClr val="1E3A5F"/>
                </a:solidFill>
                <a:latin typeface="Calibri" pitchFamily="34" charset="0"/>
                <a:ea typeface="Calibri" pitchFamily="34" charset="-122"/>
                <a:cs typeface="Calibri" pitchFamily="34" charset="-120"/>
              </a:rPr>
              <a:t>vs platforms at ≈ $100k–370k a year*</a:t>
            </a:r>
            <a:endParaRPr lang="en-US" sz="1200" dirty="0"/>
          </a:p>
        </p:txBody>
      </p:sp>
      <p:sp>
        <p:nvSpPr>
          <p:cNvPr id="46" name="buyers"/>
          <p:cNvSpPr/>
          <p:nvPr/>
        </p:nvSpPr>
        <p:spPr>
          <a:xfrm>
            <a:off x="8732520" y="4892040"/>
            <a:ext cx="2880360" cy="1216152"/>
          </a:xfrm>
          <a:prstGeom prst="roundRect">
            <a:avLst>
              <a:gd name="adj" fmla="val 6015"/>
            </a:avLst>
          </a:prstGeom>
          <a:solidFill>
            <a:srgbClr val="FDEBD0"/>
          </a:solidFill>
          <a:ln w="9525">
            <a:solidFill>
              <a:srgbClr val="FDEBD0"/>
            </a:solidFill>
            <a:prstDash val="solid"/>
          </a:ln>
        </p:spPr>
      </p:sp>
      <p:sp>
        <p:nvSpPr>
          <p:cNvPr id="47" name="Text 28"/>
          <p:cNvSpPr txBox="1"/>
          <p:nvPr/>
        </p:nvSpPr>
        <p:spPr>
          <a:xfrm>
            <a:off x="8887968" y="4956048"/>
            <a:ext cx="2606040" cy="274320"/>
          </a:xfrm>
          <a:prstGeom prst="rect">
            <a:avLst/>
          </a:prstGeom>
          <a:noFill/>
          <a:ln/>
        </p:spPr>
        <p:txBody>
          <a:bodyPr wrap="square" lIns="0" tIns="0" rIns="0" bIns="0" rtlCol="0" anchor="ctr"/>
          <a:lstStyle/>
          <a:p>
            <a:pPr indent="0" marL="0">
              <a:buNone/>
            </a:pPr>
            <a:r>
              <a:rPr lang="en-US" sz="1400" b="1" dirty="0">
                <a:solidFill>
                  <a:srgbClr val="D97706"/>
                </a:solidFill>
                <a:latin typeface="Calibri" pitchFamily="34" charset="0"/>
                <a:ea typeface="Calibri" pitchFamily="34" charset="-122"/>
                <a:cs typeface="Calibri" pitchFamily="34" charset="-120"/>
              </a:rPr>
              <a:t>Who buys first</a:t>
            </a:r>
            <a:endParaRPr lang="en-US" sz="1400" dirty="0"/>
          </a:p>
        </p:txBody>
      </p:sp>
      <p:sp>
        <p:nvSpPr>
          <p:cNvPr id="48" name="Text 29"/>
          <p:cNvSpPr txBox="1"/>
          <p:nvPr/>
        </p:nvSpPr>
        <p:spPr>
          <a:xfrm>
            <a:off x="8887968" y="5239512"/>
            <a:ext cx="2606040" cy="841248"/>
          </a:xfrm>
          <a:prstGeom prst="rect">
            <a:avLst/>
          </a:prstGeom>
          <a:noFill/>
          <a:ln/>
        </p:spPr>
        <p:txBody>
          <a:bodyPr wrap="square" lIns="0" tIns="0" rIns="0" bIns="0" rtlCol="0" anchor="t"/>
          <a:lstStyle/>
          <a:p>
            <a:pPr indent="0" marL="0">
              <a:buNone/>
            </a:pPr>
            <a:r>
              <a:rPr lang="en-US" sz="1200" dirty="0">
                <a:solidFill>
                  <a:srgbClr val="0B1D33"/>
                </a:solidFill>
                <a:latin typeface="Calibri" pitchFamily="34" charset="0"/>
                <a:ea typeface="Calibri" pitchFamily="34" charset="-122"/>
                <a:cs typeface="Calibri" pitchFamily="34" charset="-120"/>
              </a:rPr>
              <a:t>NBFCs, co-op and small finance banks, fintechs, hospitals: DPDP applies, no budget for big platforms.</a:t>
            </a:r>
            <a:endParaRPr lang="en-US" sz="1200" dirty="0"/>
          </a:p>
        </p:txBody>
      </p:sp>
      <p:sp>
        <p:nvSpPr>
          <p:cNvPr id="49" name="Text 30"/>
          <p:cNvSpPr txBox="1"/>
          <p:nvPr/>
        </p:nvSpPr>
        <p:spPr>
          <a:xfrm>
            <a:off x="548640" y="6181344"/>
            <a:ext cx="11064240" cy="237744"/>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 review-site estimates for Immuta / Delphix; vendors don't publish prices. Market: Knowledge Sourcing Intelligence. Other databases' built-in masking (SQL Server DDM) masks results only; Microsoft documents it doesn't stop inference.</a:t>
            </a:r>
            <a:endParaRPr lang="en-US" sz="9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Ready today. Honest about what's next.</a:t>
            </a:r>
            <a:endParaRPr lang="en-US" sz="3000" dirty="0"/>
          </a:p>
        </p:txBody>
      </p:sp>
      <p:sp>
        <p:nvSpPr>
          <p:cNvPr id="3" name="close card 0"/>
          <p:cNvSpPr/>
          <p:nvPr/>
        </p:nvSpPr>
        <p:spPr>
          <a:xfrm>
            <a:off x="548640" y="1280160"/>
            <a:ext cx="3520440" cy="3246120"/>
          </a:xfrm>
          <a:prstGeom prst="roundRect">
            <a:avLst>
              <a:gd name="adj" fmla="val 2254"/>
            </a:avLst>
          </a:prstGeom>
          <a:solidFill>
            <a:srgbClr val="13294B"/>
          </a:solidFill>
          <a:ln w="9525">
            <a:solidFill>
              <a:srgbClr val="1E3A5F"/>
            </a:solidFill>
            <a:prstDash val="solid"/>
          </a:ln>
        </p:spPr>
      </p:sp>
      <p:pic>
        <p:nvPicPr>
          <p:cNvPr id="4" name="Ready now icon" descr="Ready now">    </p:cNvPr>
          <p:cNvPicPr>
            <a:picLocks noChangeAspect="1"/>
          </p:cNvPicPr>
          <p:nvPr/>
        </p:nvPicPr>
        <p:blipFill>
          <a:blip r:embed="rId1"/>
          <a:stretch>
            <a:fillRect/>
          </a:stretch>
        </p:blipFill>
        <p:spPr>
          <a:xfrm>
            <a:off x="777240" y="1481328"/>
            <a:ext cx="384048" cy="384048"/>
          </a:xfrm>
          <a:prstGeom prst="rect">
            <a:avLst/>
          </a:prstGeom>
        </p:spPr>
      </p:pic>
      <p:sp>
        <p:nvSpPr>
          <p:cNvPr id="5" name="Text 2"/>
          <p:cNvSpPr txBox="1"/>
          <p:nvPr/>
        </p:nvSpPr>
        <p:spPr>
          <a:xfrm>
            <a:off x="1325880" y="1444752"/>
            <a:ext cx="2651760" cy="45720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Ready now</a:t>
            </a:r>
            <a:endParaRPr lang="en-US" sz="2100" dirty="0"/>
          </a:p>
        </p:txBody>
      </p:sp>
      <p:sp>
        <p:nvSpPr>
          <p:cNvPr id="6" name="Text 3"/>
          <p:cNvSpPr txBox="1"/>
          <p:nvPr/>
        </p:nvSpPr>
        <p:spPr>
          <a:xfrm>
            <a:off x="777240" y="2103120"/>
            <a:ext cx="3108960" cy="26517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E2E8F0"/>
                </a:solidFill>
                <a:latin typeface="Calibri" pitchFamily="34" charset="0"/>
                <a:ea typeface="Calibri" pitchFamily="34" charset="-122"/>
                <a:cs typeface="Calibri" pitchFamily="34" charset="-120"/>
              </a:rPr>
              <a:t>Dashboard + command line + API</a:t>
            </a:r>
            <a:endParaRPr lang="en-US" sz="1500" dirty="0"/>
          </a:p>
          <a:p>
            <a:pPr marL="342900" indent="-342900">
              <a:spcAft>
                <a:spcPts val="900"/>
              </a:spcAft>
              <a:buSzPct val="100000"/>
              <a:buChar char="•"/>
            </a:pPr>
            <a:r>
              <a:rPr lang="en-US" sz="1500" dirty="0">
                <a:solidFill>
                  <a:srgbClr val="E2E8F0"/>
                </a:solidFill>
                <a:latin typeface="Calibri" pitchFamily="34" charset="0"/>
                <a:ea typeface="Calibri" pitchFamily="34" charset="-122"/>
                <a:cs typeface="Calibri" pitchFamily="34" charset="-120"/>
              </a:rPr>
              <a:t>Tested on your data, 3 databases</a:t>
            </a:r>
            <a:endParaRPr lang="en-US" sz="1500" dirty="0"/>
          </a:p>
          <a:p>
            <a:pPr marL="342900" indent="-342900">
              <a:spcAft>
                <a:spcPts val="900"/>
              </a:spcAft>
              <a:buSzPct val="100000"/>
              <a:buChar char="•"/>
            </a:pPr>
            <a:r>
              <a:rPr lang="en-US" sz="1500" dirty="0">
                <a:solidFill>
                  <a:srgbClr val="E2E8F0"/>
                </a:solidFill>
                <a:latin typeface="Calibri" pitchFamily="34" charset="0"/>
                <a:ea typeface="Calibri" pitchFamily="34" charset="-122"/>
                <a:cs typeface="Calibri" pitchFamily="34" charset="-120"/>
              </a:rPr>
              <a:t>Refuses to start if settings are unsafe</a:t>
            </a:r>
            <a:endParaRPr lang="en-US" sz="1500" dirty="0"/>
          </a:p>
          <a:p>
            <a:pPr marL="342900" indent="-342900">
              <a:spcAft>
                <a:spcPts val="900"/>
              </a:spcAft>
              <a:buSzPct val="100000"/>
              <a:buChar char="•"/>
            </a:pPr>
            <a:r>
              <a:rPr lang="en-US" sz="1500" dirty="0">
                <a:solidFill>
                  <a:srgbClr val="E2E8F0"/>
                </a:solidFill>
                <a:latin typeface="Calibri" pitchFamily="34" charset="0"/>
                <a:ea typeface="Calibri" pitchFamily="34" charset="-122"/>
                <a:cs typeface="Calibri" pitchFamily="34" charset="-120"/>
              </a:rPr>
              <a:t>pip install maskguard</a:t>
            </a:r>
            <a:endParaRPr lang="en-US" sz="1500" dirty="0"/>
          </a:p>
        </p:txBody>
      </p:sp>
      <p:sp>
        <p:nvSpPr>
          <p:cNvPr id="7" name="close card 1"/>
          <p:cNvSpPr/>
          <p:nvPr/>
        </p:nvSpPr>
        <p:spPr>
          <a:xfrm>
            <a:off x="4297680" y="1280160"/>
            <a:ext cx="3520440" cy="3246120"/>
          </a:xfrm>
          <a:prstGeom prst="roundRect">
            <a:avLst>
              <a:gd name="adj" fmla="val 2254"/>
            </a:avLst>
          </a:prstGeom>
          <a:solidFill>
            <a:srgbClr val="13294B"/>
          </a:solidFill>
          <a:ln w="9525">
            <a:solidFill>
              <a:srgbClr val="1E3A5F"/>
            </a:solidFill>
            <a:prstDash val="solid"/>
          </a:ln>
        </p:spPr>
      </p:sp>
      <p:pic>
        <p:nvPicPr>
          <p:cNvPr id="8" name="Limits we state icon" descr="Limits we state">    </p:cNvPr>
          <p:cNvPicPr>
            <a:picLocks noChangeAspect="1"/>
          </p:cNvPicPr>
          <p:nvPr/>
        </p:nvPicPr>
        <p:blipFill>
          <a:blip r:embed="rId2"/>
          <a:stretch>
            <a:fillRect/>
          </a:stretch>
        </p:blipFill>
        <p:spPr>
          <a:xfrm>
            <a:off x="4526280" y="1481328"/>
            <a:ext cx="384048" cy="384048"/>
          </a:xfrm>
          <a:prstGeom prst="rect">
            <a:avLst/>
          </a:prstGeom>
        </p:spPr>
      </p:pic>
      <p:sp>
        <p:nvSpPr>
          <p:cNvPr id="9" name="Text 5"/>
          <p:cNvSpPr txBox="1"/>
          <p:nvPr/>
        </p:nvSpPr>
        <p:spPr>
          <a:xfrm>
            <a:off x="5074920" y="1444752"/>
            <a:ext cx="2651760" cy="45720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Limits we state</a:t>
            </a:r>
            <a:endParaRPr lang="en-US" sz="2100" dirty="0"/>
          </a:p>
        </p:txBody>
      </p:sp>
      <p:sp>
        <p:nvSpPr>
          <p:cNvPr id="10" name="Text 6"/>
          <p:cNvSpPr txBox="1"/>
          <p:nvPr/>
        </p:nvSpPr>
        <p:spPr>
          <a:xfrm>
            <a:off x="4526280" y="2103120"/>
            <a:ext cx="3108960" cy="26517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E2E8F0"/>
                </a:solidFill>
                <a:latin typeface="Calibri" pitchFamily="34" charset="0"/>
                <a:ea typeface="Calibri" pitchFamily="34" charset="-122"/>
                <a:cs typeface="Calibri" pitchFamily="34" charset="-120"/>
              </a:rPr>
              <a:t>Names inside free text need a language model (next)</a:t>
            </a:r>
            <a:endParaRPr lang="en-US" sz="1500" dirty="0"/>
          </a:p>
          <a:p>
            <a:pPr marL="342900" indent="-342900">
              <a:spcAft>
                <a:spcPts val="900"/>
              </a:spcAft>
              <a:buSzPct val="100000"/>
              <a:buChar char="•"/>
            </a:pPr>
            <a:r>
              <a:rPr lang="en-US" sz="1500" dirty="0">
                <a:solidFill>
                  <a:srgbClr val="E2E8F0"/>
                </a:solidFill>
                <a:latin typeface="Calibri" pitchFamily="34" charset="0"/>
                <a:ea typeface="Calibri" pitchFamily="34" charset="-122"/>
                <a:cs typeface="Calibri" pitchFamily="34" charset="-120"/>
              </a:rPr>
              <a:t>Business-rule inference between columns is out of scope for masking</a:t>
            </a:r>
            <a:endParaRPr lang="en-US" sz="1500" dirty="0"/>
          </a:p>
          <a:p>
            <a:pPr marL="342900" indent="-342900">
              <a:spcAft>
                <a:spcPts val="900"/>
              </a:spcAft>
              <a:buSzPct val="100000"/>
              <a:buChar char="•"/>
            </a:pPr>
            <a:r>
              <a:rPr lang="en-US" sz="1500" dirty="0">
                <a:solidFill>
                  <a:srgbClr val="E2E8F0"/>
                </a:solidFill>
                <a:latin typeface="Calibri" pitchFamily="34" charset="0"/>
                <a:ea typeface="Calibri" pitchFamily="34" charset="-122"/>
                <a:cs typeface="Calibri" pitchFamily="34" charset="-120"/>
              </a:rPr>
              <a:t>BI proxy: local network only in production</a:t>
            </a:r>
            <a:endParaRPr lang="en-US" sz="1500" dirty="0"/>
          </a:p>
        </p:txBody>
      </p:sp>
      <p:sp>
        <p:nvSpPr>
          <p:cNvPr id="11" name="close card 2"/>
          <p:cNvSpPr/>
          <p:nvPr/>
        </p:nvSpPr>
        <p:spPr>
          <a:xfrm>
            <a:off x="8046720" y="1280160"/>
            <a:ext cx="3520440" cy="3246120"/>
          </a:xfrm>
          <a:prstGeom prst="roundRect">
            <a:avLst>
              <a:gd name="adj" fmla="val 2254"/>
            </a:avLst>
          </a:prstGeom>
          <a:solidFill>
            <a:srgbClr val="13294B"/>
          </a:solidFill>
          <a:ln w="9525">
            <a:solidFill>
              <a:srgbClr val="1E3A5F"/>
            </a:solidFill>
            <a:prstDash val="solid"/>
          </a:ln>
        </p:spPr>
      </p:sp>
      <p:pic>
        <p:nvPicPr>
          <p:cNvPr id="12" name="Next 90 days icon" descr="Next 90 days">    </p:cNvPr>
          <p:cNvPicPr>
            <a:picLocks noChangeAspect="1"/>
          </p:cNvPicPr>
          <p:nvPr/>
        </p:nvPicPr>
        <p:blipFill>
          <a:blip r:embed="rId3"/>
          <a:stretch>
            <a:fillRect/>
          </a:stretch>
        </p:blipFill>
        <p:spPr>
          <a:xfrm>
            <a:off x="8275320" y="1481328"/>
            <a:ext cx="384048" cy="384048"/>
          </a:xfrm>
          <a:prstGeom prst="rect">
            <a:avLst/>
          </a:prstGeom>
        </p:spPr>
      </p:pic>
      <p:sp>
        <p:nvSpPr>
          <p:cNvPr id="13" name="Text 8"/>
          <p:cNvSpPr txBox="1"/>
          <p:nvPr/>
        </p:nvSpPr>
        <p:spPr>
          <a:xfrm>
            <a:off x="8823960" y="1444752"/>
            <a:ext cx="2651760" cy="45720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Next 90 days</a:t>
            </a:r>
            <a:endParaRPr lang="en-US" sz="2100" dirty="0"/>
          </a:p>
        </p:txBody>
      </p:sp>
      <p:sp>
        <p:nvSpPr>
          <p:cNvPr id="14" name="Text 9"/>
          <p:cNvSpPr txBox="1"/>
          <p:nvPr/>
        </p:nvSpPr>
        <p:spPr>
          <a:xfrm>
            <a:off x="8275320" y="2103120"/>
            <a:ext cx="3108960" cy="26517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E2E8F0"/>
                </a:solidFill>
                <a:latin typeface="Calibri" pitchFamily="34" charset="0"/>
                <a:ea typeface="Calibri" pitchFamily="34" charset="-122"/>
                <a:cs typeface="Calibri" pitchFamily="34" charset="-120"/>
              </a:rPr>
              <a:t>Names in free text, benchmarked first</a:t>
            </a:r>
            <a:endParaRPr lang="en-US" sz="1500" dirty="0"/>
          </a:p>
          <a:p>
            <a:pPr marL="342900" indent="-342900">
              <a:spcAft>
                <a:spcPts val="900"/>
              </a:spcAft>
              <a:buSzPct val="100000"/>
              <a:buChar char="•"/>
            </a:pPr>
            <a:r>
              <a:rPr lang="en-US" sz="1500" dirty="0">
                <a:solidFill>
                  <a:srgbClr val="E2E8F0"/>
                </a:solidFill>
                <a:latin typeface="Calibri" pitchFamily="34" charset="0"/>
                <a:ea typeface="Calibri" pitchFamily="34" charset="-122"/>
                <a:cs typeface="Calibri" pitchFamily="34" charset="-120"/>
              </a:rPr>
              <a:t>Pilot with one NBFC or co-op bank</a:t>
            </a:r>
            <a:endParaRPr lang="en-US" sz="1500" dirty="0"/>
          </a:p>
          <a:p>
            <a:pPr marL="342900" indent="-342900">
              <a:spcAft>
                <a:spcPts val="900"/>
              </a:spcAft>
              <a:buSzPct val="100000"/>
              <a:buChar char="•"/>
            </a:pPr>
            <a:r>
              <a:rPr lang="en-US" sz="1500" dirty="0">
                <a:solidFill>
                  <a:srgbClr val="E2E8F0"/>
                </a:solidFill>
                <a:latin typeface="Calibri" pitchFamily="34" charset="0"/>
                <a:ea typeface="Calibri" pitchFamily="34" charset="-122"/>
                <a:cs typeface="Calibri" pitchFamily="34" charset="-120"/>
              </a:rPr>
              <a:t>One-click DPDP report: what is hidden, from whom, why</a:t>
            </a:r>
            <a:endParaRPr lang="en-US" sz="1500" dirty="0"/>
          </a:p>
        </p:txBody>
      </p:sp>
      <p:sp>
        <p:nvSpPr>
          <p:cNvPr id="15" name="Text 10"/>
          <p:cNvSpPr txBox="1"/>
          <p:nvPr/>
        </p:nvSpPr>
        <p:spPr>
          <a:xfrm>
            <a:off x="548640" y="4892040"/>
            <a:ext cx="11064240" cy="6858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Finds it. Hides it. Proves it.</a:t>
            </a:r>
            <a:endParaRPr lang="en-US" sz="3600" dirty="0"/>
          </a:p>
        </p:txBody>
      </p:sp>
      <p:sp>
        <p:nvSpPr>
          <p:cNvPr id="16" name="Text 11"/>
          <p:cNvSpPr txBox="1"/>
          <p:nvPr/>
        </p:nvSpPr>
        <p:spPr>
          <a:xfrm>
            <a:off x="548640" y="5669280"/>
            <a:ext cx="11064240" cy="411480"/>
          </a:xfrm>
          <a:prstGeom prst="rect">
            <a:avLst/>
          </a:prstGeom>
          <a:noFill/>
          <a:ln/>
        </p:spPr>
        <p:txBody>
          <a:bodyPr wrap="square" lIns="0" tIns="0" rIns="0" bIns="0" rtlCol="0" anchor="ctr"/>
          <a:lstStyle/>
          <a:p>
            <a:pPr indent="0" marL="0">
              <a:buNone/>
            </a:pPr>
            <a:r>
              <a:rPr lang="en-US" sz="1600" b="1" dirty="0">
                <a:solidFill>
                  <a:srgbClr val="D97706"/>
                </a:solidFill>
                <a:latin typeface="Courier New" pitchFamily="34" charset="0"/>
                <a:ea typeface="Courier New" pitchFamily="34" charset="-122"/>
                <a:cs typeface="Courier New" pitchFamily="34" charset="-120"/>
              </a:rPr>
              <a:t>pip install maskguard</a:t>
            </a:r>
            <a:pPr indent="0" marL="0">
              <a:buNone/>
            </a:pPr>
            <a:r>
              <a:rPr lang="en-US" sz="1600" dirty="0">
                <a:solidFill>
                  <a:srgbClr val="CBD5E1"/>
                </a:solidFill>
                <a:latin typeface="Calibri" pitchFamily="34" charset="0"/>
                <a:ea typeface="Calibri" pitchFamily="34" charset="-122"/>
                <a:cs typeface="Calibri" pitchFamily="34" charset="-120"/>
              </a:rPr>
              <a:t>     github.com/hotaro6754/mask     12-minute video: docs/demo_full.mp4</a:t>
            </a:r>
            <a:endParaRPr lang="en-US" sz="1600" dirty="0"/>
          </a:p>
        </p:txBody>
      </p:sp>
      <p:sp>
        <p:nvSpPr>
          <p:cNvPr id="25" name="Slide Number Placeholder 0"/>
          <p:cNvSpPr>
            <a:spLocks noGrp="1"/>
          </p:cNvSpPr>
          <p:nvPr>
            <p:ph type="sldNum" sz="quarter" idx="4294967295"/>
          </p:nvPr>
        </p:nvSpPr>
        <p:spPr>
          <a:xfrm>
            <a:off x="111099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MaskGuard Saffron">
  <a:themeElements>
    <a:clrScheme name="MaskGuard Saffron">
      <a:dk1>
        <a:srgbClr val="0B1D33"/>
      </a:dk1>
      <a:lt1>
        <a:srgbClr val="FFFFFF"/>
      </a:lt1>
      <a:dk2>
        <a:srgbClr val="1E3A5F"/>
      </a:dk2>
      <a:lt2>
        <a:srgbClr val="F1F5F9"/>
      </a:lt2>
      <a:accent1>
        <a:srgbClr val="D97706"/>
      </a:accent1>
      <a:accent2>
        <a:srgbClr val="0F766E"/>
      </a:accent2>
      <a:accent3>
        <a:srgbClr val="64748B"/>
      </a:accent3>
      <a:accent4>
        <a:srgbClr val="B42318"/>
      </a:accent4>
      <a:accent5>
        <a:srgbClr val="1E3A5F"/>
      </a:accent5>
      <a:accent6>
        <a:srgbClr val="F59E0B"/>
      </a:accent6>
      <a:hlink>
        <a:srgbClr val="0F766E"/>
      </a:hlink>
      <a:folHlink>
        <a:srgbClr val="64748B"/>
      </a:folHlink>
    </a:clrScheme>
    <a:fontScheme name="MaskGuard Saffr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TalentAP Mega Hackathon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MaskGuard: smart data masking for PII</dc:title>
  <dc:subject>PptxGenJS Presentation</dc:subject>
  <dc:creator>MaskGuard team</dc:creator>
  <cp:lastModifiedBy>MaskGuard team</cp:lastModifiedBy>
  <cp:revision>1</cp:revision>
  <dcterms:created xsi:type="dcterms:W3CDTF">2026-10-30T08:43:59Z</dcterms:created>
  <dcterms:modified xsi:type="dcterms:W3CDTF">2026-10-30T08:43:59Z</dcterms:modified>
</cp:coreProperties>
</file>