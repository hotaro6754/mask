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458c562-c4d9-d024-bd8a-439fa16a5d92}">
          <p14:sldIdLst>
            <p14:sldId id="256"/>
          </p14:sldIdLst>
        </p14:section>
        <p14:section name="Problem" id="{d5611114-b3cb-6271-b932-ea08cb98aaad}">
          <p14:sldIdLst>
            <p14:sldId id="257"/>
          </p14:sldIdLst>
        </p14:section>
        <p14:section name="Solution" id="{0d38e9e4-5f1b-5dd7-0bc0-6590523d91dd}">
          <p14:sldIdLst>
            <p14:sldId id="258"/>
          </p14:sldIdLst>
        </p14:section>
        <p14:section name="Architecture" id="{4ec5d668-0154-ce01-223f-b85c6fe52652}">
          <p14:sldIdLst>
            <p14:sldId id="259"/>
          </p14:sldIdLst>
        </p14:section>
        <p14:section name="Role of AI" id="{e896d3a6-e882-4dbc-7c1d-8fc2f4f09817}">
          <p14:sldIdLst>
            <p14:sldId id="260"/>
          </p14:sldIdLst>
        </p14:section>
        <p14:section name="Validation" id="{0d66ede3-f7e4-1819-c587-6ada5785ae66}">
          <p14:sldIdLst>
            <p14:sldId id="261"/>
          </p14:sldIdLst>
        </p14:section>
        <p14:section name="Demo" id="{ac221f0e-98a2-826c-e775-8167d985433d}">
          <p14:sldIdLst>
            <p14:sldId id="262"/>
          </p14:sldIdLst>
        </p14:section>
        <p14:section name="Evidence" id="{c76fcce8-9f7b-6dfe-c57d-823f63cf9e19}">
          <p14:sldIdLst>
            <p14:sldId id="263"/>
          </p14:sldIdLst>
        </p14:section>
        <p14:section name="Market" id="{2a4bdfe3-235e-ab9f-d05a-24386ddd37ef}">
          <p14:sldIdLst>
            <p14:sldId id="264"/>
          </p14:sldIdLst>
        </p14:section>
        <p14:section name="Close" id="{1cf825b9-e586-9d1e-fc0e-71d633ae4a2b}">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D33"/>
                </a:solidFill>
                <a:latin typeface="+mn-lt"/>
              </a:defRPr>
            </a:pPr>
            <a:r>
              <a:rPr sz="1400" b="0" i="0" u="none" strike="noStrike">
                <a:solidFill>
                  <a:srgbClr val="0B1D33"/>
                </a:solidFill>
                <a:latin typeface="+mn-lt"/>
              </a:rPr>
              <a:t>Sensitive columns found (of 35), Saffron Bank</a:t>
            </a:r>
          </a:p>
        </c:rich>
      </c:tx>
      <c:layout/>
      <c:overlay val="0"/>
    </c:title>
    <c:autoTitleDeleted val="0"/>
    <c:plotArea>
      <c:layout/>
      <c:barChart>
        <c:barDir val="bar"/>
        <c:grouping val="stacked"/>
        <c:varyColors val="0"/>
        <c:ser>
          <c:idx val="0"/>
          <c:order val="0"/>
          <c:tx>
            <c:strRef>
              <c:f>Sheet1!$B$1</c:f>
              <c:strCache>
                <c:ptCount val="1"/>
                <c:pt idx="0">
                  <c:v>Tagged with the right kind</c:v>
                </c:pt>
              </c:strCache>
            </c:strRef>
          </c:tx>
          <c:spPr>
            <a:solidFill>
              <a:srgbClr val="0B1D33"/>
            </a:solidFill>
            <a:effectLst/>
          </c:spPr>
          <c:invertIfNegative val="0"/>
          <c:dLbls>
            <c:numFmt formatCode="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After general fixes</c:v>
                  </c:pt>
                  <c:pt idx="1">
                    <c:v>First contact</c:v>
                  </c:pt>
                </c:lvl>
              </c:multiLvlStrCache>
            </c:multiLvlStrRef>
          </c:cat>
          <c:val>
            <c:numRef>
              <c:f>Sheet1!$B$2:$B$3</c:f>
              <c:numCache>
                <c:formatCode>General</c:formatCode>
                <c:ptCount val="2"/>
                <c:pt idx="0">
                  <c:v>35</c:v>
                </c:pt>
                <c:pt idx="1">
                  <c:v>22</c:v>
                </c:pt>
              </c:numCache>
            </c:numRef>
          </c:val>
        </c:ser>
        <c:ser>
          <c:idx val="1"/>
          <c:order val="1"/>
          <c:tx>
            <c:strRef>
              <c:f>Sheet1!$C$1</c:f>
              <c:strCache>
                <c:ptCount val="1"/>
                <c:pt idx="0">
                  <c:v>Not tagged, still masked</c:v>
                </c:pt>
              </c:strCache>
            </c:strRef>
          </c:tx>
          <c:spPr>
            <a:solidFill>
              <a:srgbClr val="0F766E"/>
            </a:solidFill>
            <a:effectLst/>
          </c:spPr>
          <c:invertIfNegative val="0"/>
          <c:dLbls>
            <c:numFmt formatCode="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After general fixes</c:v>
                  </c:pt>
                  <c:pt idx="1">
                    <c:v>First contact</c:v>
                  </c:pt>
                </c:lvl>
              </c:multiLvlStrCache>
            </c:multiLvlStrRef>
          </c:cat>
          <c:val>
            <c:numRef>
              <c:f>Sheet1!$C$2:$C$3</c:f>
              <c:numCache>
                <c:formatCode>General</c:formatCode>
                <c:ptCount val="2"/>
                <c:pt idx="0">
                  <c:v>0</c:v>
                </c:pt>
                <c:pt idx="1">
                  <c:v>11</c:v>
                </c:pt>
              </c:numCache>
            </c:numRef>
          </c:val>
        </c:ser>
        <c:ser>
          <c:idx val="2"/>
          <c:order val="2"/>
          <c:tx>
            <c:strRef>
              <c:f>Sheet1!$D$1</c:f>
              <c:strCache>
                <c:ptCount val="1"/>
                <c:pt idx="0">
                  <c:v>Wrongly suggested PUBLIC</c:v>
                </c:pt>
              </c:strCache>
            </c:strRef>
          </c:tx>
          <c:spPr>
            <a:solidFill>
              <a:srgbClr val="B42318"/>
            </a:solidFill>
            <a:effectLst/>
          </c:spPr>
          <c:invertIfNegative val="0"/>
          <c:dLbls>
            <c:numFmt formatCode="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After general fixes</c:v>
                  </c:pt>
                  <c:pt idx="1">
                    <c:v>First contact</c:v>
                  </c:pt>
                </c:lvl>
              </c:multiLvlStrCache>
            </c:multiLvlStrRef>
          </c:cat>
          <c:val>
            <c:numRef>
              <c:f>Sheet1!$D$2:$D$3</c:f>
              <c:numCache>
                <c:formatCode>General</c:formatCode>
                <c:ptCount val="2"/>
                <c:pt idx="0">
                  <c:v>0</c:v>
                </c:pt>
                <c:pt idx="1">
                  <c:v>2</c:v>
                </c:pt>
              </c:numCache>
            </c:numRef>
          </c:val>
        </c:ser>
        <c:dLbls>
          <c:numFmt formatCode="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3A5F"/>
                </a:solidFill>
                <a:latin typeface="+mn-lt"/>
              </a:defRPr>
            </a:pPr>
            <a:endParaRPr lang="en-US"/>
          </a:p>
        </c:txPr>
        <c:crossAx val="2094734552"/>
        <c:crosses val="autoZero"/>
        <c:auto val="1"/>
        <c:lblAlgn val="ctr"/>
        <c:noMultiLvlLbl val="1"/>
      </c:catAx>
      <c:valAx>
        <c:axId val="2094734552"/>
        <c:scaling>
          <c:orientation val="minMax"/>
          <c:max val="35"/>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E3A5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1D33"/>
                </a:solidFill>
                <a:latin typeface="+mn-lt"/>
              </a:defRPr>
            </a:pPr>
            <a:r>
              <a:rPr sz="1300" b="0" i="0" u="none" strike="noStrike">
                <a:solidFill>
                  <a:srgbClr val="0B1D33"/>
                </a:solidFill>
                <a:latin typeface="+mn-lt"/>
              </a:rPr>
              <a:t>Macro-F1, misleading column names · bharat-pii-bench</a:t>
            </a:r>
          </a:p>
        </c:rich>
      </c:tx>
      <c:layout/>
      <c:overlay val="0"/>
    </c:title>
    <c:autoTitleDeleted val="0"/>
    <c:plotArea>
      <c:layout/>
      <c:barChart>
        <c:barDir val="col"/>
        <c:grouping val="clustered"/>
        <c:varyColors val="0"/>
        <c:ser>
          <c:idx val="0"/>
          <c:order val="0"/>
          <c:tx>
            <c:strRef>
              <c:f>Sheet1!$B$1</c:f>
              <c:strCache>
                <c:ptCount val="1"/>
                <c:pt idx="0">
                  <c:v>Macro-F1, misleading column names</c:v>
                </c:pt>
              </c:strCache>
            </c:strRef>
          </c:tx>
          <c:spPr>
            <a:solidFill>
              <a:srgbClr val="64748B"/>
            </a:solidFill>
            <a:effectLst/>
          </c:spPr>
          <c:invertIfNegative val="0"/>
          <c:dLbls>
            <c:numFmt formatCode="0.000" sourceLinked="0"/>
            <c:txPr>
              <a:bodyPr/>
              <a:lstStyle/>
              <a:p>
                <a:pPr>
                  <a:defRPr b="0" i="0" strike="noStrike" sz="1300" u="none">
                    <a:solidFill>
                      <a:srgbClr val="0B1D33"/>
                    </a:solidFill>
                    <a:latin typeface="+mn-lt"/>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0B1D33"/>
              </a:solidFill>
              <a:effectLst/>
            </c:spPr>
          </c:dPt>
          <c:dPt>
            <c:idx val="2"/>
            <c:invertIfNegative val="0"/>
            <c:bubble3D val="0"/>
            <c:spPr>
              <a:solidFill>
                <a:srgbClr val="0B1D33"/>
              </a:solidFill>
              <a:effectLst/>
            </c:spPr>
          </c:dPt>
          <c:dPt>
            <c:idx val="3"/>
            <c:invertIfNegative val="0"/>
            <c:bubble3D val="0"/>
            <c:spPr>
              <a:solidFill>
                <a:srgbClr val="0B1D33"/>
              </a:solidFill>
              <a:effectLst/>
            </c:spPr>
          </c:dPt>
          <c:cat>
            <c:multiLvlStrRef>
              <c:f>Sheet1!$A$2:$A$5</c:f>
              <c:multiLvlStrCache>
                <c:ptCount val="4"/>
                <c:lvl>
                  <c:pt idx="0">
                    <c:v>Regex + checksum baseline</c:v>
                  </c:pt>
                  <c:pt idx="1">
                    <c:v>MaskGuard, 5 values</c:v>
                  </c:pt>
                  <c:pt idx="2">
                    <c:v>MaskGuard, 20 values</c:v>
                  </c:pt>
                  <c:pt idx="3">
                    <c:v>MaskGuard, 200 values</c:v>
                  </c:pt>
                </c:lvl>
              </c:multiLvlStrCache>
            </c:multiLvlStrRef>
          </c:cat>
          <c:val>
            <c:numRef>
              <c:f>Sheet1!$B$2:$B$5</c:f>
              <c:numCache>
                <c:formatCode>General</c:formatCode>
                <c:ptCount val="4"/>
                <c:pt idx="0">
                  <c:v>0.844</c:v>
                </c:pt>
                <c:pt idx="1">
                  <c:v>0.968</c:v>
                </c:pt>
                <c:pt idx="2">
                  <c:v>0.999</c:v>
                </c:pt>
                <c:pt idx="3">
                  <c:v>1</c:v>
                </c:pt>
              </c:numCache>
            </c:numRef>
          </c:val>
        </c:ser>
        <c:dLbls>
          <c:numFmt formatCode="0.000" sourceLinked="0"/>
          <c:txPr>
            <a:bodyPr/>
            <a:lstStyle/>
            <a:p>
              <a:pPr>
                <a:defRPr b="0" i="0" strike="noStrike" sz="1300" u="none">
                  <a:solidFill>
                    <a:srgbClr val="0B1D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E3A5F"/>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2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Open with the claim, not the team. 'MaskGuard finds personal data in any bank database by itself and hides it inside every query. We ran it on the organisers' own Saffron Bank data: 35 of 35 sensitive columns found, zero values leaked across three databases.' Then move straight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[0:30–2:00 · Parameter 1: context and problem understanding] Two problems, both visible in the organisers' own dataset. One: you cannot protect what you cannot find — col_7 holds PANs, Aadhaar numbers fail their own checksum, phone numbers hide in Hinglish notes. Two: masking only the screen leaks — WHERE pan_no = guess still runs on the real value. The cost: ₹22 crore per breach in India (IBM 2025), DPDP penalties up to ₹250 crore with obligations from May 2027. Sources are on the slide; say 'up to' for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Walk the four verbs left to right, then the sequence: support_ravi guesses a real PAN. The gateway rewrites the query so the WHERE clause runs on the masked column, so the guess finds nothing — and the audit log records the attempt without the value. Key line: 'the database never sees an unmasked query from a non-admin, and the data is never copied or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[3:00–5:00 · Parameter 2: architecture and tech stack] Every channel — CLI, REST API, the PostgreSQL wire proxy for BI tools, the dashboard — goes through the same gateway, so there is one place to get masking right. Long-term choices: an AST, not regex, so nested SQL can't slip through; masking inside the query, so WHERE/JOIN/AVG see masked values; a read-only database account; no data copies. Short-term shortcuts we refused are on the right. If asked about scale: masks run inside the database as functions, so MaskGuard adds 4–8 ms per query on SQLite/PostgreSQL and 6–22 ms on MySQL up to 100,000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[5:00–7:00 · Parameter 3: role of AI — deliberate, not decorative] Say it plainly: we use AI in exactly two places, discovery (LightGBM column classifier) and insider-threat scoring (IsolationForest), because both are pattern problems where rules fail — column names lie, identifiers fail checksums. We deliberately keep AI out of the access decision: that is a deterministic policy, so every masked value is explainable and testable. Evidence: 0.999 vs 0.844 on misleading names. And be open that we built with AI pair-programming — every change gated by 1,235 tests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[7:00–9:00 · Parameter 4: solution completeness, functional not prototype] This is the slide that answers 'does it actually work'. We loaded the organisers' pack on all three databases, verified the data is identical, and wrote an answer key for all 120 columns BEFORE changing anything. First contact: 22 of 35 found, nothing exposed (the rest stayed masked as UNREVIEWED), but two account-number columns were wrongly suggested as public. We fixed the general causes, not the dataset: banking abbreviations, identifiers that fail their checksums. Now 35 of 35, and the external benchmark did not regress. Then we logged in as the organisers' own users: 0 raw values in 13,700 masked cells on three databases. Full write-up: docs/SAFFRON_VALIDATION.md.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[9:00–12:00 · Parameter 5: presentation and demo] Switch to the live demo here (rehearsed script in the prep notes). 1) maskguard compare with the customer query as admin, support, analyst. 2) As support, guess a real PAN: 0 rows. 3) As support, try UPDATE: refused, exit code 3. 4) maskguard integrity proof: tables unchanged. 5) If time: Control Room playground. If the live demo fails, this slide is the fallback: it is real output, captured on 30 Oct.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[12:00–13:30 · accuracy and baselines, for the AI-evaluation share] Every number has a script and a result file in the repo (docs/EVALUATION.md). Discovery: external benchmark, unseen seeds, against the benchmark's own regex+checksum baseline. Enforcement: 17 named attacks plus a 672-case matrix on three databases; the naive baseline leaks 14 of 17. Cost: 4–8 ms added. Say 'evidence for these shapes, not proof for every query' if challenged — it is in our known-limits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[13:30–14:30] Position, don't over-claim: we are not the first masking tool. What is new is the combination: discovery from values (including Indian identifiers and misleading names) + masking inside the query + three databases + open source. Microsoft itself warns its DDM doesn't stop inference — that is exactly the gap. Market figures differ by publisher ($0.8–3 B in 2025, 12–17% CAGR); we quote one source and name it. Competitor prices are review-site estimates, marked with an asterisk.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[14:30–15:00] Close on readiness and honesty: what runs in production today, the limits we state ourselves, and the next 90 days. Last line: 'Finds it. Hides it. Proves it.' Then invite questions — the prep notes have answers for the twelve most likely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B1D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188720"/>
          </a:xfrm>
          <a:prstGeom prst="rect">
            <a:avLst/>
          </a:prstGeom>
          <a:noFill/>
          <a:ln/>
        </p:spPr>
        <p:txBody>
          <a:bodyPr wrap="square" rtlCol="0"/>
          <a:lstStyle>
            <a:lvl1pPr indent="0" marL="0">
              <a:buNone/>
              <a:defRPr lang="en-US" sz="5400" b="1" dirty="0">
                <a:solidFill>
                  <a:schemeClr val="bg1"/>
                </a:solidFill>
                <a:latin typeface="Cambria" pitchFamily="34" charset="0"/>
                <a:ea typeface="Cambria" pitchFamily="34" charset="-122"/>
                <a:cs typeface="Cambria" pitchFamily="34" charset="-120"/>
              </a:defRPr>
            </a:lvl1pPr>
          </a:lstStyle>
          <a:p>
            <a:pPr indent="0" marL="0">
              <a:buNone/>
            </a:pPr>
            <a:endParaRPr lang="en-US" sz="5400" dirty="0"/>
          </a:p>
        </p:txBody>
      </p:sp>
      <p:sp>
        <p:nvSpPr>
          <p:cNvPr id="3" name="Text 0"/>
          <p:cNvSpPr/>
          <p:nvPr>
            <p:ph idx="101" type="body" hasCustomPrompt="1"/>
          </p:nvPr>
        </p:nvSpPr>
        <p:spPr>
          <a:xfrm>
            <a:off x="731520" y="3429000"/>
            <a:ext cx="10058400" cy="100584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8686800" cy="274320"/>
          </a:xfrm>
          <a:prstGeom prst="rect">
            <a:avLst/>
          </a:prstGeom>
          <a:noFill/>
          <a:ln/>
        </p:spPr>
        <p:txBody>
          <a:bodyPr wrap="square" rtlCol="0" anchor="ctr"/>
          <a:lstStyle/>
          <a:p>
            <a:pPr indent="0" marL="0">
              <a:buNone/>
            </a:pPr>
            <a:r>
              <a:rPr lang="en-US" sz="1000" dirty="0">
                <a:solidFill>
                  <a:schemeClr val="accent3"/>
                </a:solidFill>
              </a:rPr>
              <a:t>MaskGuard · TalentAP Mega Hackathon 2026 · Problem B1 · Smart Data Masking for PII</a:t>
            </a:r>
            <a:endParaRPr lang="en-US" sz="1000" dirty="0"/>
          </a:p>
        </p:txBody>
      </p:sp>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0B1D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17320"/>
            <a:ext cx="10698480" cy="365760"/>
          </a:xfrm>
          <a:prstGeom prst="rect">
            <a:avLst/>
          </a:prstGeom>
          <a:noFill/>
          <a:ln/>
        </p:spPr>
        <p:txBody>
          <a:bodyPr wrap="square" lIns="0" tIns="0" rIns="0" bIns="0" rtlCol="0" anchor="ctr"/>
          <a:lstStyle/>
          <a:p>
            <a:pPr indent="0" marL="0">
              <a:buNone/>
            </a:pPr>
            <a:r>
              <a:rPr lang="en-US" sz="1400" b="1" spc="200" kern="0" dirty="0">
                <a:solidFill>
                  <a:srgbClr val="D97706"/>
                </a:solidFill>
                <a:latin typeface="Calibri" pitchFamily="34" charset="0"/>
                <a:ea typeface="Calibri" pitchFamily="34" charset="-122"/>
                <a:cs typeface="Calibri" pitchFamily="34" charset="-120"/>
              </a:rPr>
              <a:t>TALENTAP MEGA HACKATHON 2026  ·  PROBLEM B1  ·  SMART DATA MASKING FOR PII</a:t>
            </a:r>
            <a:endParaRPr lang="en-US" sz="1400" dirty="0"/>
          </a:p>
        </p:txBody>
      </p:sp>
      <p:sp>
        <p:nvSpPr>
          <p:cNvPr id="3" name="Text 0"/>
          <p:cNvSpPr/>
          <p:nvPr>
            <p:ph idx="100" type="title" hasCustomPrompt="1"/>
          </p:nvPr>
        </p:nvSpPr>
        <p:spPr>
          <a:xfrm>
            <a:off x="731520" y="2148840"/>
            <a:ext cx="10698480" cy="118872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Mask</a:t>
            </a:r>
            <a:pPr indent="0" marL="0">
              <a:buNone/>
            </a:pPr>
            <a:r>
              <a:rPr lang="en-US" sz="5400" b="1" dirty="0">
                <a:solidFill>
                  <a:srgbClr val="D97706"/>
                </a:solidFill>
                <a:latin typeface="Cambria" pitchFamily="34" charset="0"/>
                <a:ea typeface="Cambria" pitchFamily="34" charset="-122"/>
                <a:cs typeface="Cambria" pitchFamily="34" charset="-120"/>
              </a:rPr>
              <a:t>Guard</a:t>
            </a:r>
            <a:endParaRPr lang="en-US" sz="5400" dirty="0"/>
          </a:p>
        </p:txBody>
      </p:sp>
      <p:sp>
        <p:nvSpPr>
          <p:cNvPr id="4" name="Text 0"/>
          <p:cNvSpPr/>
          <p:nvPr>
            <p:ph idx="101" type="body" hasCustomPrompt="1"/>
          </p:nvPr>
        </p:nvSpPr>
        <p:spPr>
          <a:xfrm>
            <a:off x="731520" y="3429000"/>
            <a:ext cx="10058400" cy="1005840"/>
          </a:xfrm>
          <a:prstGeom prst="rect">
            <a:avLst/>
          </a:prstGeom>
          <a:noFill/>
          <a:ln/>
        </p:spPr>
        <p:txBody>
          <a:bodyPr wrap="square" rtlCol="0" anchor="t"/>
          <a:lstStyle/>
          <a:p>
            <a:pPr indent="0" marL="0">
              <a:buNone/>
            </a:pPr>
            <a:r>
              <a:rPr lang="en-US" sz="2200" dirty="0">
                <a:solidFill>
                  <a:schemeClr val="bg2"/>
                </a:solidFill>
              </a:rPr>
              <a:t>Finds the personal data in any bank database by itself, and hides it from everyone who shouldn't see it — inside every query, without touching the data.</a:t>
            </a:r>
            <a:endParaRPr lang="en-US" sz="2200" dirty="0"/>
          </a:p>
        </p:txBody>
      </p:sp>
      <p:sp>
        <p:nvSpPr>
          <p:cNvPr id="5" name="headline stat 1"/>
          <p:cNvSpPr/>
          <p:nvPr/>
        </p:nvSpPr>
        <p:spPr>
          <a:xfrm>
            <a:off x="731520" y="4800600"/>
            <a:ext cx="2514600" cy="1143000"/>
          </a:xfrm>
          <a:prstGeom prst="roundRect">
            <a:avLst>
              <a:gd name="adj" fmla="val 6400"/>
            </a:avLst>
          </a:prstGeom>
          <a:solidFill>
            <a:srgbClr val="13294B"/>
          </a:solidFill>
          <a:ln w="9525">
            <a:solidFill>
              <a:srgbClr val="1E3A5F"/>
            </a:solidFill>
            <a:prstDash val="solid"/>
          </a:ln>
        </p:spPr>
      </p:sp>
      <p:sp>
        <p:nvSpPr>
          <p:cNvPr id="6" name="Text 4"/>
          <p:cNvSpPr txBox="1"/>
          <p:nvPr/>
        </p:nvSpPr>
        <p:spPr>
          <a:xfrm>
            <a:off x="914400" y="4873752"/>
            <a:ext cx="2194560" cy="502920"/>
          </a:xfrm>
          <a:prstGeom prst="rect">
            <a:avLst/>
          </a:prstGeom>
          <a:noFill/>
          <a:ln/>
        </p:spPr>
        <p:txBody>
          <a:bodyPr wrap="square" lIns="0" tIns="0" rIns="0" bIns="0" rtlCol="0" anchor="ctr"/>
          <a:lstStyle/>
          <a:p>
            <a:pPr indent="0" marL="0">
              <a:buNone/>
            </a:pPr>
            <a:r>
              <a:rPr lang="en-US" sz="2800" b="1" dirty="0">
                <a:solidFill>
                  <a:srgbClr val="D97706"/>
                </a:solidFill>
                <a:latin typeface="Cambria" pitchFamily="34" charset="0"/>
                <a:ea typeface="Cambria" pitchFamily="34" charset="-122"/>
                <a:cs typeface="Cambria" pitchFamily="34" charset="-120"/>
              </a:rPr>
              <a:t>35 / 35</a:t>
            </a:r>
            <a:endParaRPr lang="en-US" sz="2800" dirty="0"/>
          </a:p>
        </p:txBody>
      </p:sp>
      <p:sp>
        <p:nvSpPr>
          <p:cNvPr id="7" name="Text 5"/>
          <p:cNvSpPr txBox="1"/>
          <p:nvPr/>
        </p:nvSpPr>
        <p:spPr>
          <a:xfrm>
            <a:off x="914400" y="5376672"/>
            <a:ext cx="2240280" cy="50292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sensitive columns found in the organisers' Saffron Bank data</a:t>
            </a:r>
            <a:endParaRPr lang="en-US" sz="1200" dirty="0"/>
          </a:p>
        </p:txBody>
      </p:sp>
      <p:sp>
        <p:nvSpPr>
          <p:cNvPr id="8" name="headline stat 2"/>
          <p:cNvSpPr/>
          <p:nvPr/>
        </p:nvSpPr>
        <p:spPr>
          <a:xfrm>
            <a:off x="3429000" y="4800600"/>
            <a:ext cx="2514600" cy="1143000"/>
          </a:xfrm>
          <a:prstGeom prst="roundRect">
            <a:avLst>
              <a:gd name="adj" fmla="val 6400"/>
            </a:avLst>
          </a:prstGeom>
          <a:solidFill>
            <a:srgbClr val="13294B"/>
          </a:solidFill>
          <a:ln w="9525">
            <a:solidFill>
              <a:srgbClr val="1E3A5F"/>
            </a:solidFill>
            <a:prstDash val="solid"/>
          </a:ln>
        </p:spPr>
      </p:sp>
      <p:sp>
        <p:nvSpPr>
          <p:cNvPr id="9" name="Text 7"/>
          <p:cNvSpPr txBox="1"/>
          <p:nvPr/>
        </p:nvSpPr>
        <p:spPr>
          <a:xfrm>
            <a:off x="3611880" y="4873752"/>
            <a:ext cx="2194560" cy="502920"/>
          </a:xfrm>
          <a:prstGeom prst="rect">
            <a:avLst/>
          </a:prstGeom>
          <a:noFill/>
          <a:ln/>
        </p:spPr>
        <p:txBody>
          <a:bodyPr wrap="square" lIns="0" tIns="0" rIns="0" bIns="0" rtlCol="0" anchor="ctr"/>
          <a:lstStyle/>
          <a:p>
            <a:pPr indent="0" marL="0">
              <a:buNone/>
            </a:pPr>
            <a:r>
              <a:rPr lang="en-US" sz="2800" b="1" dirty="0">
                <a:solidFill>
                  <a:srgbClr val="D97706"/>
                </a:solidFill>
                <a:latin typeface="Cambria" pitchFamily="34" charset="0"/>
                <a:ea typeface="Cambria" pitchFamily="34" charset="-122"/>
                <a:cs typeface="Cambria" pitchFamily="34" charset="-120"/>
              </a:rPr>
              <a:t>0</a:t>
            </a:r>
            <a:endParaRPr lang="en-US" sz="2800" dirty="0"/>
          </a:p>
        </p:txBody>
      </p:sp>
      <p:sp>
        <p:nvSpPr>
          <p:cNvPr id="10" name="Text 8"/>
          <p:cNvSpPr txBox="1"/>
          <p:nvPr/>
        </p:nvSpPr>
        <p:spPr>
          <a:xfrm>
            <a:off x="3611880" y="5376672"/>
            <a:ext cx="2240280" cy="50292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raw values leaked in 13,700 masked cells</a:t>
            </a:r>
            <a:endParaRPr lang="en-US" sz="1200" dirty="0"/>
          </a:p>
        </p:txBody>
      </p:sp>
      <p:sp>
        <p:nvSpPr>
          <p:cNvPr id="11" name="headline stat 3"/>
          <p:cNvSpPr/>
          <p:nvPr/>
        </p:nvSpPr>
        <p:spPr>
          <a:xfrm>
            <a:off x="6126480" y="4800600"/>
            <a:ext cx="2514600" cy="1143000"/>
          </a:xfrm>
          <a:prstGeom prst="roundRect">
            <a:avLst>
              <a:gd name="adj" fmla="val 6400"/>
            </a:avLst>
          </a:prstGeom>
          <a:solidFill>
            <a:srgbClr val="13294B"/>
          </a:solidFill>
          <a:ln w="9525">
            <a:solidFill>
              <a:srgbClr val="1E3A5F"/>
            </a:solidFill>
            <a:prstDash val="solid"/>
          </a:ln>
        </p:spPr>
      </p:sp>
      <p:sp>
        <p:nvSpPr>
          <p:cNvPr id="12" name="Text 10"/>
          <p:cNvSpPr txBox="1"/>
          <p:nvPr/>
        </p:nvSpPr>
        <p:spPr>
          <a:xfrm>
            <a:off x="6309360" y="4873752"/>
            <a:ext cx="2194560" cy="502920"/>
          </a:xfrm>
          <a:prstGeom prst="rect">
            <a:avLst/>
          </a:prstGeom>
          <a:noFill/>
          <a:ln/>
        </p:spPr>
        <p:txBody>
          <a:bodyPr wrap="square" lIns="0" tIns="0" rIns="0" bIns="0" rtlCol="0" anchor="ctr"/>
          <a:lstStyle/>
          <a:p>
            <a:pPr indent="0" marL="0">
              <a:buNone/>
            </a:pPr>
            <a:r>
              <a:rPr lang="en-US" sz="2800" b="1" dirty="0">
                <a:solidFill>
                  <a:srgbClr val="D97706"/>
                </a:solidFill>
                <a:latin typeface="Cambria" pitchFamily="34" charset="0"/>
                <a:ea typeface="Cambria" pitchFamily="34" charset="-122"/>
                <a:cs typeface="Cambria" pitchFamily="34" charset="-120"/>
              </a:rPr>
              <a:t>3</a:t>
            </a:r>
            <a:endParaRPr lang="en-US" sz="2800" dirty="0"/>
          </a:p>
        </p:txBody>
      </p:sp>
      <p:sp>
        <p:nvSpPr>
          <p:cNvPr id="13" name="Text 11"/>
          <p:cNvSpPr txBox="1"/>
          <p:nvPr/>
        </p:nvSpPr>
        <p:spPr>
          <a:xfrm>
            <a:off x="6309360" y="5376672"/>
            <a:ext cx="2240280" cy="50292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databases: SQLite · PostgreSQL · MySQL</a:t>
            </a:r>
            <a:endParaRPr lang="en-US" sz="1200" dirty="0"/>
          </a:p>
        </p:txBody>
      </p:sp>
      <p:sp>
        <p:nvSpPr>
          <p:cNvPr id="14" name="headline stat 4"/>
          <p:cNvSpPr/>
          <p:nvPr/>
        </p:nvSpPr>
        <p:spPr>
          <a:xfrm>
            <a:off x="8823960" y="4800600"/>
            <a:ext cx="2514600" cy="1143000"/>
          </a:xfrm>
          <a:prstGeom prst="roundRect">
            <a:avLst>
              <a:gd name="adj" fmla="val 6400"/>
            </a:avLst>
          </a:prstGeom>
          <a:solidFill>
            <a:srgbClr val="13294B"/>
          </a:solidFill>
          <a:ln w="9525">
            <a:solidFill>
              <a:srgbClr val="1E3A5F"/>
            </a:solidFill>
            <a:prstDash val="solid"/>
          </a:ln>
        </p:spPr>
      </p:sp>
      <p:sp>
        <p:nvSpPr>
          <p:cNvPr id="15" name="Text 13"/>
          <p:cNvSpPr txBox="1"/>
          <p:nvPr/>
        </p:nvSpPr>
        <p:spPr>
          <a:xfrm>
            <a:off x="9006840" y="4873752"/>
            <a:ext cx="2194560" cy="502920"/>
          </a:xfrm>
          <a:prstGeom prst="rect">
            <a:avLst/>
          </a:prstGeom>
          <a:noFill/>
          <a:ln/>
        </p:spPr>
        <p:txBody>
          <a:bodyPr wrap="square" lIns="0" tIns="0" rIns="0" bIns="0" rtlCol="0" anchor="ctr"/>
          <a:lstStyle/>
          <a:p>
            <a:pPr indent="0" marL="0">
              <a:buNone/>
            </a:pPr>
            <a:r>
              <a:rPr lang="en-US" sz="2800" b="1" dirty="0">
                <a:solidFill>
                  <a:srgbClr val="D97706"/>
                </a:solidFill>
                <a:latin typeface="Cambria" pitchFamily="34" charset="0"/>
                <a:ea typeface="Cambria" pitchFamily="34" charset="-122"/>
                <a:cs typeface="Cambria" pitchFamily="34" charset="-120"/>
              </a:rPr>
              <a:t>1,235</a:t>
            </a:r>
            <a:endParaRPr lang="en-US" sz="2800" dirty="0"/>
          </a:p>
        </p:txBody>
      </p:sp>
      <p:sp>
        <p:nvSpPr>
          <p:cNvPr id="16" name="Text 14"/>
          <p:cNvSpPr txBox="1"/>
          <p:nvPr/>
        </p:nvSpPr>
        <p:spPr>
          <a:xfrm>
            <a:off x="9006840" y="5376672"/>
            <a:ext cx="2240280" cy="50292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automated tests on every push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Staff need the data, not the identities inside it</a:t>
            </a:r>
            <a:endParaRPr lang="en-US" sz="3000" dirty="0"/>
          </a:p>
        </p:txBody>
      </p:sp>
      <p:sp>
        <p:nvSpPr>
          <p:cNvPr id="3" name="stat card 1"/>
          <p:cNvSpPr/>
          <p:nvPr/>
        </p:nvSpPr>
        <p:spPr>
          <a:xfrm>
            <a:off x="548640" y="1234440"/>
            <a:ext cx="3520440" cy="1874520"/>
          </a:xfrm>
          <a:prstGeom prst="roundRect">
            <a:avLst>
              <a:gd name="adj" fmla="val 3902"/>
            </a:avLst>
          </a:prstGeom>
          <a:solidFill>
            <a:srgbClr val="F1F5F9"/>
          </a:solidFill>
          <a:ln w="9525">
            <a:solidFill>
              <a:srgbClr val="F1F5F9"/>
            </a:solidFill>
            <a:prstDash val="solid"/>
          </a:ln>
        </p:spPr>
      </p:sp>
      <p:sp>
        <p:nvSpPr>
          <p:cNvPr id="4" name="stat 1 circle"/>
          <p:cNvSpPr/>
          <p:nvPr/>
        </p:nvSpPr>
        <p:spPr>
          <a:xfrm>
            <a:off x="777240" y="1417320"/>
            <a:ext cx="566928" cy="566928"/>
          </a:xfrm>
          <a:prstGeom prst="ellipse">
            <a:avLst/>
          </a:prstGeom>
          <a:solidFill>
            <a:srgbClr val="0B1D33"/>
          </a:solidFill>
          <a:ln w="12700">
            <a:solidFill>
              <a:srgbClr val="0B1D33"/>
            </a:solidFill>
            <a:prstDash val="solid"/>
          </a:ln>
        </p:spPr>
      </p:sp>
      <p:pic>
        <p:nvPicPr>
          <p:cNvPr id="5" name="stat 1 icon" descr="stat 1">    </p:cNvPr>
          <p:cNvPicPr>
            <a:picLocks noChangeAspect="1"/>
          </p:cNvPicPr>
          <p:nvPr/>
        </p:nvPicPr>
        <p:blipFill>
          <a:blip r:embed="rId1"/>
          <a:stretch>
            <a:fillRect/>
          </a:stretch>
        </p:blipFill>
        <p:spPr>
          <a:xfrm>
            <a:off x="913303" y="1553383"/>
            <a:ext cx="294803" cy="294803"/>
          </a:xfrm>
          <a:prstGeom prst="rect">
            <a:avLst/>
          </a:prstGeom>
        </p:spPr>
      </p:pic>
      <p:sp>
        <p:nvSpPr>
          <p:cNvPr id="6" name="Text 3"/>
          <p:cNvSpPr txBox="1"/>
          <p:nvPr/>
        </p:nvSpPr>
        <p:spPr>
          <a:xfrm>
            <a:off x="1508760" y="1417320"/>
            <a:ext cx="2423160" cy="566928"/>
          </a:xfrm>
          <a:prstGeom prst="rect">
            <a:avLst/>
          </a:prstGeom>
          <a:noFill/>
          <a:ln/>
        </p:spPr>
        <p:txBody>
          <a:bodyPr wrap="square" lIns="0" tIns="0" rIns="0" bIns="0" rtlCol="0" anchor="ctr"/>
          <a:lstStyle/>
          <a:p>
            <a:pPr indent="0" marL="0">
              <a:buNone/>
            </a:pPr>
            <a:r>
              <a:rPr lang="en-US" sz="3000" b="1" dirty="0">
                <a:solidFill>
                  <a:srgbClr val="0B1D33"/>
                </a:solidFill>
                <a:latin typeface="Cambria" pitchFamily="34" charset="0"/>
                <a:ea typeface="Cambria" pitchFamily="34" charset="-122"/>
                <a:cs typeface="Cambria" pitchFamily="34" charset="-120"/>
              </a:rPr>
              <a:t>₹22 crore</a:t>
            </a:r>
            <a:endParaRPr lang="en-US" sz="3000" dirty="0"/>
          </a:p>
        </p:txBody>
      </p:sp>
      <p:sp>
        <p:nvSpPr>
          <p:cNvPr id="7" name="Text 4"/>
          <p:cNvSpPr txBox="1"/>
          <p:nvPr/>
        </p:nvSpPr>
        <p:spPr>
          <a:xfrm>
            <a:off x="777240" y="2103120"/>
            <a:ext cx="3108960" cy="658368"/>
          </a:xfrm>
          <a:prstGeom prst="rect">
            <a:avLst/>
          </a:prstGeom>
          <a:noFill/>
          <a:ln/>
        </p:spPr>
        <p:txBody>
          <a:bodyPr wrap="square" lIns="0" tIns="0" rIns="0" bIns="0" rtlCol="0" anchor="t"/>
          <a:lstStyle/>
          <a:p>
            <a:pPr indent="0" marL="0">
              <a:buNone/>
            </a:pPr>
            <a:r>
              <a:rPr lang="en-US" sz="1400" dirty="0">
                <a:solidFill>
                  <a:srgbClr val="1E3A5F"/>
                </a:solidFill>
                <a:latin typeface="Calibri" pitchFamily="34" charset="0"/>
                <a:ea typeface="Calibri" pitchFamily="34" charset="-122"/>
                <a:cs typeface="Calibri" pitchFamily="34" charset="-120"/>
              </a:rPr>
              <a:t>average cost of a data breach in India, 2025 — the highest ever recorded</a:t>
            </a:r>
            <a:endParaRPr lang="en-US" sz="1400" dirty="0"/>
          </a:p>
        </p:txBody>
      </p:sp>
      <p:sp>
        <p:nvSpPr>
          <p:cNvPr id="8" name="Text 5"/>
          <p:cNvSpPr txBox="1"/>
          <p:nvPr/>
        </p:nvSpPr>
        <p:spPr>
          <a:xfrm>
            <a:off x="777240" y="2770632"/>
            <a:ext cx="3108960" cy="256032"/>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IBM Cost of a Data Breach 2025</a:t>
            </a:r>
            <a:endParaRPr lang="en-US" sz="1000" dirty="0"/>
          </a:p>
        </p:txBody>
      </p:sp>
      <p:sp>
        <p:nvSpPr>
          <p:cNvPr id="9" name="stat card 2"/>
          <p:cNvSpPr/>
          <p:nvPr/>
        </p:nvSpPr>
        <p:spPr>
          <a:xfrm>
            <a:off x="4297680" y="1234440"/>
            <a:ext cx="3520440" cy="1874520"/>
          </a:xfrm>
          <a:prstGeom prst="roundRect">
            <a:avLst>
              <a:gd name="adj" fmla="val 3902"/>
            </a:avLst>
          </a:prstGeom>
          <a:solidFill>
            <a:srgbClr val="F1F5F9"/>
          </a:solidFill>
          <a:ln w="9525">
            <a:solidFill>
              <a:srgbClr val="F1F5F9"/>
            </a:solidFill>
            <a:prstDash val="solid"/>
          </a:ln>
        </p:spPr>
      </p:sp>
      <p:sp>
        <p:nvSpPr>
          <p:cNvPr id="10" name="stat 2 circle"/>
          <p:cNvSpPr/>
          <p:nvPr/>
        </p:nvSpPr>
        <p:spPr>
          <a:xfrm>
            <a:off x="4526280" y="1417320"/>
            <a:ext cx="566928" cy="566928"/>
          </a:xfrm>
          <a:prstGeom prst="ellipse">
            <a:avLst/>
          </a:prstGeom>
          <a:solidFill>
            <a:srgbClr val="0B1D33"/>
          </a:solidFill>
          <a:ln w="12700">
            <a:solidFill>
              <a:srgbClr val="0B1D33"/>
            </a:solidFill>
            <a:prstDash val="solid"/>
          </a:ln>
        </p:spPr>
      </p:sp>
      <p:pic>
        <p:nvPicPr>
          <p:cNvPr id="11" name="stat 2 icon" descr="stat 2">    </p:cNvPr>
          <p:cNvPicPr>
            <a:picLocks noChangeAspect="1"/>
          </p:cNvPicPr>
          <p:nvPr/>
        </p:nvPicPr>
        <p:blipFill>
          <a:blip r:embed="rId2"/>
          <a:stretch>
            <a:fillRect/>
          </a:stretch>
        </p:blipFill>
        <p:spPr>
          <a:xfrm>
            <a:off x="4662343" y="1553383"/>
            <a:ext cx="294803" cy="294803"/>
          </a:xfrm>
          <a:prstGeom prst="rect">
            <a:avLst/>
          </a:prstGeom>
        </p:spPr>
      </p:pic>
      <p:sp>
        <p:nvSpPr>
          <p:cNvPr id="12" name="Text 8"/>
          <p:cNvSpPr txBox="1"/>
          <p:nvPr/>
        </p:nvSpPr>
        <p:spPr>
          <a:xfrm>
            <a:off x="5257800" y="1417320"/>
            <a:ext cx="2423160" cy="566928"/>
          </a:xfrm>
          <a:prstGeom prst="rect">
            <a:avLst/>
          </a:prstGeom>
          <a:noFill/>
          <a:ln/>
        </p:spPr>
        <p:txBody>
          <a:bodyPr wrap="square" lIns="0" tIns="0" rIns="0" bIns="0" rtlCol="0" anchor="ctr"/>
          <a:lstStyle/>
          <a:p>
            <a:pPr indent="0" marL="0">
              <a:buNone/>
            </a:pPr>
            <a:r>
              <a:rPr lang="en-US" sz="3000" b="1" dirty="0">
                <a:solidFill>
                  <a:srgbClr val="0B1D33"/>
                </a:solidFill>
                <a:latin typeface="Cambria" pitchFamily="34" charset="0"/>
                <a:ea typeface="Cambria" pitchFamily="34" charset="-122"/>
                <a:cs typeface="Cambria" pitchFamily="34" charset="-120"/>
              </a:rPr>
              <a:t>₹250 crore</a:t>
            </a:r>
            <a:endParaRPr lang="en-US" sz="3000" dirty="0"/>
          </a:p>
        </p:txBody>
      </p:sp>
      <p:sp>
        <p:nvSpPr>
          <p:cNvPr id="13" name="Text 9"/>
          <p:cNvSpPr txBox="1"/>
          <p:nvPr/>
        </p:nvSpPr>
        <p:spPr>
          <a:xfrm>
            <a:off x="4526280" y="2103120"/>
            <a:ext cx="3108960" cy="658368"/>
          </a:xfrm>
          <a:prstGeom prst="rect">
            <a:avLst/>
          </a:prstGeom>
          <a:noFill/>
          <a:ln/>
        </p:spPr>
        <p:txBody>
          <a:bodyPr wrap="square" lIns="0" tIns="0" rIns="0" bIns="0" rtlCol="0" anchor="t"/>
          <a:lstStyle/>
          <a:p>
            <a:pPr indent="0" marL="0">
              <a:buNone/>
            </a:pPr>
            <a:r>
              <a:rPr lang="en-US" sz="1400" dirty="0">
                <a:solidFill>
                  <a:srgbClr val="1E3A5F"/>
                </a:solidFill>
                <a:latin typeface="Calibri" pitchFamily="34" charset="0"/>
                <a:ea typeface="Calibri" pitchFamily="34" charset="-122"/>
                <a:cs typeface="Calibri" pitchFamily="34" charset="-120"/>
              </a:rPr>
              <a:t>maximum DPDP penalty for failing to protect personal data; obligations apply from May 2027</a:t>
            </a:r>
            <a:endParaRPr lang="en-US" sz="1400" dirty="0"/>
          </a:p>
        </p:txBody>
      </p:sp>
      <p:sp>
        <p:nvSpPr>
          <p:cNvPr id="14" name="Text 10"/>
          <p:cNvSpPr txBox="1"/>
          <p:nvPr/>
        </p:nvSpPr>
        <p:spPr>
          <a:xfrm>
            <a:off x="4526280" y="2770632"/>
            <a:ext cx="3108960" cy="256032"/>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DPDP Act 2023 · Rules notified Nov 2025</a:t>
            </a:r>
            <a:endParaRPr lang="en-US" sz="1000" dirty="0"/>
          </a:p>
        </p:txBody>
      </p:sp>
      <p:sp>
        <p:nvSpPr>
          <p:cNvPr id="15" name="stat card 3"/>
          <p:cNvSpPr/>
          <p:nvPr/>
        </p:nvSpPr>
        <p:spPr>
          <a:xfrm>
            <a:off x="8046720" y="1234440"/>
            <a:ext cx="3520440" cy="1874520"/>
          </a:xfrm>
          <a:prstGeom prst="roundRect">
            <a:avLst>
              <a:gd name="adj" fmla="val 3902"/>
            </a:avLst>
          </a:prstGeom>
          <a:solidFill>
            <a:srgbClr val="F1F5F9"/>
          </a:solidFill>
          <a:ln w="9525">
            <a:solidFill>
              <a:srgbClr val="F1F5F9"/>
            </a:solidFill>
            <a:prstDash val="solid"/>
          </a:ln>
        </p:spPr>
      </p:sp>
      <p:sp>
        <p:nvSpPr>
          <p:cNvPr id="16" name="stat 3 circle"/>
          <p:cNvSpPr/>
          <p:nvPr/>
        </p:nvSpPr>
        <p:spPr>
          <a:xfrm>
            <a:off x="8275320" y="1417320"/>
            <a:ext cx="566928" cy="566928"/>
          </a:xfrm>
          <a:prstGeom prst="ellipse">
            <a:avLst/>
          </a:prstGeom>
          <a:solidFill>
            <a:srgbClr val="0B1D33"/>
          </a:solidFill>
          <a:ln w="12700">
            <a:solidFill>
              <a:srgbClr val="0B1D33"/>
            </a:solidFill>
            <a:prstDash val="solid"/>
          </a:ln>
        </p:spPr>
      </p:sp>
      <p:pic>
        <p:nvPicPr>
          <p:cNvPr id="17" name="stat 3 icon" descr="stat 3">    </p:cNvPr>
          <p:cNvPicPr>
            <a:picLocks noChangeAspect="1"/>
          </p:cNvPicPr>
          <p:nvPr/>
        </p:nvPicPr>
        <p:blipFill>
          <a:blip r:embed="rId3"/>
          <a:stretch>
            <a:fillRect/>
          </a:stretch>
        </p:blipFill>
        <p:spPr>
          <a:xfrm>
            <a:off x="8411383" y="1553383"/>
            <a:ext cx="294803" cy="294803"/>
          </a:xfrm>
          <a:prstGeom prst="rect">
            <a:avLst/>
          </a:prstGeom>
        </p:spPr>
      </p:pic>
      <p:sp>
        <p:nvSpPr>
          <p:cNvPr id="18" name="Text 13"/>
          <p:cNvSpPr txBox="1"/>
          <p:nvPr/>
        </p:nvSpPr>
        <p:spPr>
          <a:xfrm>
            <a:off x="9006840" y="1417320"/>
            <a:ext cx="2423160" cy="566928"/>
          </a:xfrm>
          <a:prstGeom prst="rect">
            <a:avLst/>
          </a:prstGeom>
          <a:noFill/>
          <a:ln/>
        </p:spPr>
        <p:txBody>
          <a:bodyPr wrap="square" lIns="0" tIns="0" rIns="0" bIns="0" rtlCol="0" anchor="ctr"/>
          <a:lstStyle/>
          <a:p>
            <a:pPr indent="0" marL="0">
              <a:buNone/>
            </a:pPr>
            <a:r>
              <a:rPr lang="en-US" sz="3000" b="1" dirty="0">
                <a:solidFill>
                  <a:srgbClr val="0B1D33"/>
                </a:solidFill>
                <a:latin typeface="Cambria" pitchFamily="34" charset="0"/>
                <a:ea typeface="Cambria" pitchFamily="34" charset="-122"/>
                <a:cs typeface="Cambria" pitchFamily="34" charset="-120"/>
              </a:rPr>
              <a:t>$2.6 billion</a:t>
            </a:r>
            <a:endParaRPr lang="en-US" sz="3000" dirty="0"/>
          </a:p>
        </p:txBody>
      </p:sp>
      <p:sp>
        <p:nvSpPr>
          <p:cNvPr id="19" name="Text 14"/>
          <p:cNvSpPr txBox="1"/>
          <p:nvPr/>
        </p:nvSpPr>
        <p:spPr>
          <a:xfrm>
            <a:off x="8275320" y="2103120"/>
            <a:ext cx="3108960" cy="658368"/>
          </a:xfrm>
          <a:prstGeom prst="rect">
            <a:avLst/>
          </a:prstGeom>
          <a:noFill/>
          <a:ln/>
        </p:spPr>
        <p:txBody>
          <a:bodyPr wrap="square" lIns="0" tIns="0" rIns="0" bIns="0" rtlCol="0" anchor="t"/>
          <a:lstStyle/>
          <a:p>
            <a:pPr indent="0" marL="0">
              <a:buNone/>
            </a:pPr>
            <a:r>
              <a:rPr lang="en-US" sz="1400" dirty="0">
                <a:solidFill>
                  <a:srgbClr val="1E3A5F"/>
                </a:solidFill>
                <a:latin typeface="Calibri" pitchFamily="34" charset="0"/>
                <a:ea typeface="Calibri" pitchFamily="34" charset="-122"/>
                <a:cs typeface="Calibri" pitchFamily="34" charset="-120"/>
              </a:rPr>
              <a:t>data-masking market by 2030, up from $1.47 B in 2025 (12% a year)</a:t>
            </a:r>
            <a:endParaRPr lang="en-US" sz="1400" dirty="0"/>
          </a:p>
        </p:txBody>
      </p:sp>
      <p:sp>
        <p:nvSpPr>
          <p:cNvPr id="20" name="Text 15"/>
          <p:cNvSpPr txBox="1"/>
          <p:nvPr/>
        </p:nvSpPr>
        <p:spPr>
          <a:xfrm>
            <a:off x="8275320" y="2770632"/>
            <a:ext cx="3108960" cy="256032"/>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Knowledge Sourcing Intelligence</a:t>
            </a:r>
            <a:endParaRPr lang="en-US" sz="1000" dirty="0"/>
          </a:p>
        </p:txBody>
      </p:sp>
      <p:sp>
        <p:nvSpPr>
          <p:cNvPr id="21" name="failure 1"/>
          <p:cNvSpPr/>
          <p:nvPr/>
        </p:nvSpPr>
        <p:spPr>
          <a:xfrm>
            <a:off x="548640" y="3383280"/>
            <a:ext cx="5394960" cy="2788920"/>
          </a:xfrm>
          <a:prstGeom prst="roundRect">
            <a:avLst>
              <a:gd name="adj" fmla="val 2623"/>
            </a:avLst>
          </a:prstGeom>
          <a:solidFill>
            <a:srgbClr val="FDEBD0"/>
          </a:solidFill>
          <a:ln w="9525">
            <a:solidFill>
              <a:srgbClr val="FDEBD0"/>
            </a:solidFill>
            <a:prstDash val="solid"/>
          </a:ln>
        </p:spPr>
      </p:sp>
      <p:sp>
        <p:nvSpPr>
          <p:cNvPr id="22" name="Text 17"/>
          <p:cNvSpPr txBox="1"/>
          <p:nvPr/>
        </p:nvSpPr>
        <p:spPr>
          <a:xfrm>
            <a:off x="822960" y="3520440"/>
            <a:ext cx="4937760" cy="457200"/>
          </a:xfrm>
          <a:prstGeom prst="rect">
            <a:avLst/>
          </a:prstGeom>
          <a:noFill/>
          <a:ln/>
        </p:spPr>
        <p:txBody>
          <a:bodyPr wrap="square" lIns="0" tIns="0" rIns="0" bIns="0" rtlCol="0" anchor="ctr"/>
          <a:lstStyle/>
          <a:p>
            <a:pPr indent="0" marL="0">
              <a:buNone/>
            </a:pPr>
            <a:r>
              <a:rPr lang="en-US" sz="2000" b="1" dirty="0">
                <a:solidFill>
                  <a:srgbClr val="0B1D33"/>
                </a:solidFill>
                <a:latin typeface="Cambria" pitchFamily="34" charset="0"/>
                <a:ea typeface="Cambria" pitchFamily="34" charset="-122"/>
                <a:cs typeface="Cambria" pitchFamily="34" charset="-120"/>
              </a:rPr>
              <a:t>1.  Nobody knows where the PII is</a:t>
            </a:r>
            <a:endParaRPr lang="en-US" sz="2000" dirty="0"/>
          </a:p>
        </p:txBody>
      </p:sp>
      <p:sp>
        <p:nvSpPr>
          <p:cNvPr id="23" name="Text 18"/>
          <p:cNvSpPr txBox="1"/>
          <p:nvPr/>
        </p:nvSpPr>
        <p:spPr>
          <a:xfrm>
            <a:off x="822960" y="4041648"/>
            <a:ext cx="489204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E3A5F"/>
                </a:solidFill>
                <a:latin typeface="Calibri" pitchFamily="34" charset="0"/>
                <a:ea typeface="Calibri" pitchFamily="34" charset="-122"/>
                <a:cs typeface="Calibri" pitchFamily="34" charset="-120"/>
              </a:rPr>
              <a:t>Column names lie: in the organisers' data, col_7 holds PAN numbers</a:t>
            </a:r>
            <a:endParaRPr lang="en-US" sz="1500" dirty="0"/>
          </a:p>
          <a:p>
            <a:pPr marL="342900" indent="-342900">
              <a:spcAft>
                <a:spcPts val="600"/>
              </a:spcAft>
              <a:buSzPct val="100000"/>
              <a:buChar char="•"/>
            </a:pPr>
            <a:r>
              <a:rPr lang="en-US" sz="1500" dirty="0">
                <a:solidFill>
                  <a:srgbClr val="1E3A5F"/>
                </a:solidFill>
                <a:latin typeface="Calibri" pitchFamily="34" charset="0"/>
                <a:ea typeface="Calibri" pitchFamily="34" charset="-122"/>
                <a:cs typeface="Calibri" pitchFamily="34" charset="-120"/>
              </a:rPr>
              <a:t>Identifiers fail their own checksums, so regex/checksum tools miss them</a:t>
            </a:r>
            <a:endParaRPr lang="en-US" sz="1500" dirty="0"/>
          </a:p>
          <a:p>
            <a:pPr marL="342900" indent="-342900">
              <a:spcAft>
                <a:spcPts val="600"/>
              </a:spcAft>
              <a:buSzPct val="100000"/>
              <a:buChar char="•"/>
            </a:pPr>
            <a:r>
              <a:rPr lang="en-US" sz="1500" dirty="0">
                <a:solidFill>
                  <a:srgbClr val="1E3A5F"/>
                </a:solidFill>
                <a:latin typeface="Calibri" pitchFamily="34" charset="0"/>
                <a:ea typeface="Calibri" pitchFamily="34" charset="-122"/>
                <a:cs typeface="Calibri" pitchFamily="34" charset="-120"/>
              </a:rPr>
              <a:t>Phones, UPI IDs and dates of birth hide inside Hinglish support notes</a:t>
            </a:r>
            <a:endParaRPr lang="en-US" sz="1500" dirty="0"/>
          </a:p>
        </p:txBody>
      </p:sp>
      <p:sp>
        <p:nvSpPr>
          <p:cNvPr id="24" name="failure 2"/>
          <p:cNvSpPr/>
          <p:nvPr/>
        </p:nvSpPr>
        <p:spPr>
          <a:xfrm>
            <a:off x="6172200" y="3383280"/>
            <a:ext cx="5394960" cy="2788920"/>
          </a:xfrm>
          <a:prstGeom prst="roundRect">
            <a:avLst>
              <a:gd name="adj" fmla="val 2623"/>
            </a:avLst>
          </a:prstGeom>
          <a:solidFill>
            <a:srgbClr val="E6F4F1"/>
          </a:solidFill>
          <a:ln w="9525">
            <a:solidFill>
              <a:srgbClr val="E6F4F1"/>
            </a:solidFill>
            <a:prstDash val="solid"/>
          </a:ln>
        </p:spPr>
      </p:sp>
      <p:sp>
        <p:nvSpPr>
          <p:cNvPr id="25" name="Text 20"/>
          <p:cNvSpPr txBox="1"/>
          <p:nvPr/>
        </p:nvSpPr>
        <p:spPr>
          <a:xfrm>
            <a:off x="6446520" y="3520440"/>
            <a:ext cx="4937760" cy="457200"/>
          </a:xfrm>
          <a:prstGeom prst="rect">
            <a:avLst/>
          </a:prstGeom>
          <a:noFill/>
          <a:ln/>
        </p:spPr>
        <p:txBody>
          <a:bodyPr wrap="square" lIns="0" tIns="0" rIns="0" bIns="0" rtlCol="0" anchor="ctr"/>
          <a:lstStyle/>
          <a:p>
            <a:pPr indent="0" marL="0">
              <a:buNone/>
            </a:pPr>
            <a:r>
              <a:rPr lang="en-US" sz="2000" b="1" dirty="0">
                <a:solidFill>
                  <a:srgbClr val="0B1D33"/>
                </a:solidFill>
                <a:latin typeface="Cambria" pitchFamily="34" charset="0"/>
                <a:ea typeface="Cambria" pitchFamily="34" charset="-122"/>
                <a:cs typeface="Cambria" pitchFamily="34" charset="-120"/>
              </a:rPr>
              <a:t>2.  Hiding the screen is not masking</a:t>
            </a:r>
            <a:endParaRPr lang="en-US" sz="2000" dirty="0"/>
          </a:p>
        </p:txBody>
      </p:sp>
      <p:sp>
        <p:nvSpPr>
          <p:cNvPr id="26" name="Text 21"/>
          <p:cNvSpPr txBox="1"/>
          <p:nvPr/>
        </p:nvSpPr>
        <p:spPr>
          <a:xfrm>
            <a:off x="6446520" y="4041648"/>
            <a:ext cx="489204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E3A5F"/>
                </a:solidFill>
                <a:latin typeface="Calibri" pitchFamily="34" charset="0"/>
                <a:ea typeface="Calibri" pitchFamily="34" charset="-122"/>
                <a:cs typeface="Calibri" pitchFamily="34" charset="-120"/>
              </a:rPr>
              <a:t>Typical masking hides the displayed column, but WHERE, JOIN and AVG still run on real values</a:t>
            </a:r>
            <a:endParaRPr lang="en-US" sz="1500" dirty="0"/>
          </a:p>
          <a:p>
            <a:pPr marL="342900" indent="-342900">
              <a:spcAft>
                <a:spcPts val="600"/>
              </a:spcAft>
              <a:buSzPct val="100000"/>
              <a:buChar char="•"/>
            </a:pPr>
            <a:r>
              <a:rPr lang="en-US" sz="1500" dirty="0">
                <a:solidFill>
                  <a:srgbClr val="1E3A5F"/>
                </a:solidFill>
                <a:latin typeface="Calibri" pitchFamily="34" charset="0"/>
                <a:ea typeface="Calibri" pitchFamily="34" charset="-122"/>
                <a:cs typeface="Calibri" pitchFamily="34" charset="-120"/>
              </a:rPr>
              <a:t>A support agent can confirm a PAN by guessing it, without ever seeing it</a:t>
            </a:r>
            <a:endParaRPr lang="en-US" sz="1500" dirty="0"/>
          </a:p>
          <a:p>
            <a:pPr marL="342900" indent="-342900">
              <a:spcAft>
                <a:spcPts val="600"/>
              </a:spcAft>
              <a:buSzPct val="100000"/>
              <a:buChar char="•"/>
            </a:pPr>
            <a:r>
              <a:rPr lang="en-US" sz="1500" dirty="0">
                <a:solidFill>
                  <a:srgbClr val="1E3A5F"/>
                </a:solidFill>
                <a:latin typeface="Calibri" pitchFamily="34" charset="0"/>
                <a:ea typeface="Calibri" pitchFamily="34" charset="-122"/>
                <a:cs typeface="Calibri" pitchFamily="34" charset="-120"/>
              </a:rPr>
              <a:t>Microsoft documents that its own Dynamic Data Masking does not stop this kind of inference</a:t>
            </a:r>
            <a:endParaRPr lang="en-US" sz="1500" dirty="0"/>
          </a:p>
        </p:txBody>
      </p:sp>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One gateway: discover, tag, enforce, prove</a:t>
            </a:r>
            <a:endParaRPr lang="en-US" sz="3000" dirty="0"/>
          </a:p>
        </p:txBody>
      </p:sp>
      <p:sp>
        <p:nvSpPr>
          <p:cNvPr id="3" name="step Discover"/>
          <p:cNvSpPr/>
          <p:nvPr/>
        </p:nvSpPr>
        <p:spPr>
          <a:xfrm>
            <a:off x="548640" y="1188720"/>
            <a:ext cx="2633472" cy="1691640"/>
          </a:xfrm>
          <a:prstGeom prst="roundRect">
            <a:avLst>
              <a:gd name="adj" fmla="val 4324"/>
            </a:avLst>
          </a:prstGeom>
          <a:solidFill>
            <a:srgbClr val="F1F5F9"/>
          </a:solidFill>
          <a:ln w="9525">
            <a:solidFill>
              <a:srgbClr val="F1F5F9"/>
            </a:solidFill>
            <a:prstDash val="solid"/>
          </a:ln>
        </p:spPr>
      </p:sp>
      <p:sp>
        <p:nvSpPr>
          <p:cNvPr id="4" name="Discover circle"/>
          <p:cNvSpPr/>
          <p:nvPr/>
        </p:nvSpPr>
        <p:spPr>
          <a:xfrm>
            <a:off x="749808" y="1307592"/>
            <a:ext cx="502920" cy="502920"/>
          </a:xfrm>
          <a:prstGeom prst="ellipse">
            <a:avLst/>
          </a:prstGeom>
          <a:solidFill>
            <a:srgbClr val="0B1D33"/>
          </a:solidFill>
          <a:ln w="12700">
            <a:solidFill>
              <a:srgbClr val="0B1D33"/>
            </a:solidFill>
            <a:prstDash val="solid"/>
          </a:ln>
        </p:spPr>
      </p:sp>
      <p:pic>
        <p:nvPicPr>
          <p:cNvPr id="5" name="Discover icon" descr="Discover">    </p:cNvPr>
          <p:cNvPicPr>
            <a:picLocks noChangeAspect="1"/>
          </p:cNvPicPr>
          <p:nvPr/>
        </p:nvPicPr>
        <p:blipFill>
          <a:blip r:embed="rId1"/>
          <a:stretch>
            <a:fillRect/>
          </a:stretch>
        </p:blipFill>
        <p:spPr>
          <a:xfrm>
            <a:off x="870509" y="1428293"/>
            <a:ext cx="261518" cy="261518"/>
          </a:xfrm>
          <a:prstGeom prst="rect">
            <a:avLst/>
          </a:prstGeom>
        </p:spPr>
      </p:pic>
      <p:sp>
        <p:nvSpPr>
          <p:cNvPr id="6" name="Text 3"/>
          <p:cNvSpPr txBox="1"/>
          <p:nvPr/>
        </p:nvSpPr>
        <p:spPr>
          <a:xfrm>
            <a:off x="1389888" y="1307592"/>
            <a:ext cx="1737360" cy="502920"/>
          </a:xfrm>
          <a:prstGeom prst="rect">
            <a:avLst/>
          </a:prstGeom>
          <a:noFill/>
          <a:ln/>
        </p:spPr>
        <p:txBody>
          <a:bodyPr wrap="square" lIns="0" tIns="0" rIns="0" bIns="0" rtlCol="0" anchor="ctr"/>
          <a:lstStyle/>
          <a:p>
            <a:pPr indent="0" marL="0">
              <a:buNone/>
            </a:pPr>
            <a:r>
              <a:rPr lang="en-US" sz="2000" b="1" dirty="0">
                <a:solidFill>
                  <a:srgbClr val="0B1D33"/>
                </a:solidFill>
                <a:latin typeface="Cambria" pitchFamily="34" charset="0"/>
                <a:ea typeface="Cambria" pitchFamily="34" charset="-122"/>
                <a:cs typeface="Cambria" pitchFamily="34" charset="-120"/>
              </a:rPr>
              <a:t>1  Discover</a:t>
            </a:r>
            <a:endParaRPr lang="en-US" sz="2000" dirty="0"/>
          </a:p>
        </p:txBody>
      </p:sp>
      <p:sp>
        <p:nvSpPr>
          <p:cNvPr id="7" name="Text 4"/>
          <p:cNvSpPr txBox="1"/>
          <p:nvPr/>
        </p:nvSpPr>
        <p:spPr>
          <a:xfrm>
            <a:off x="749808" y="1901952"/>
            <a:ext cx="2286000" cy="932688"/>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Scans column names and up to 200 sample values: checksums, a LightGBM model and banking rules</a:t>
            </a:r>
            <a:endParaRPr lang="en-US" sz="1300" dirty="0"/>
          </a:p>
        </p:txBody>
      </p:sp>
      <p:pic>
        <p:nvPicPr>
          <p:cNvPr id="8" name="arrow 1" descr="then">    </p:cNvPr>
          <p:cNvPicPr>
            <a:picLocks noChangeAspect="1"/>
          </p:cNvPicPr>
          <p:nvPr/>
        </p:nvPicPr>
        <p:blipFill>
          <a:blip r:embed="rId2"/>
          <a:stretch>
            <a:fillRect/>
          </a:stretch>
        </p:blipFill>
        <p:spPr>
          <a:xfrm>
            <a:off x="3200400" y="1965960"/>
            <a:ext cx="146304" cy="146304"/>
          </a:xfrm>
          <a:prstGeom prst="rect">
            <a:avLst/>
          </a:prstGeom>
        </p:spPr>
      </p:pic>
      <p:sp>
        <p:nvSpPr>
          <p:cNvPr id="9" name="step Tag"/>
          <p:cNvSpPr/>
          <p:nvPr/>
        </p:nvSpPr>
        <p:spPr>
          <a:xfrm>
            <a:off x="3364992" y="1188720"/>
            <a:ext cx="2633472" cy="1691640"/>
          </a:xfrm>
          <a:prstGeom prst="roundRect">
            <a:avLst>
              <a:gd name="adj" fmla="val 4324"/>
            </a:avLst>
          </a:prstGeom>
          <a:solidFill>
            <a:srgbClr val="F1F5F9"/>
          </a:solidFill>
          <a:ln w="9525">
            <a:solidFill>
              <a:srgbClr val="F1F5F9"/>
            </a:solidFill>
            <a:prstDash val="solid"/>
          </a:ln>
        </p:spPr>
      </p:sp>
      <p:sp>
        <p:nvSpPr>
          <p:cNvPr id="10" name="Tag circle"/>
          <p:cNvSpPr/>
          <p:nvPr/>
        </p:nvSpPr>
        <p:spPr>
          <a:xfrm>
            <a:off x="3566160" y="1307592"/>
            <a:ext cx="502920" cy="502920"/>
          </a:xfrm>
          <a:prstGeom prst="ellipse">
            <a:avLst/>
          </a:prstGeom>
          <a:solidFill>
            <a:srgbClr val="0B1D33"/>
          </a:solidFill>
          <a:ln w="12700">
            <a:solidFill>
              <a:srgbClr val="0B1D33"/>
            </a:solidFill>
            <a:prstDash val="solid"/>
          </a:ln>
        </p:spPr>
      </p:sp>
      <p:pic>
        <p:nvPicPr>
          <p:cNvPr id="11" name="Tag icon" descr="Tag">    </p:cNvPr>
          <p:cNvPicPr>
            <a:picLocks noChangeAspect="1"/>
          </p:cNvPicPr>
          <p:nvPr/>
        </p:nvPicPr>
        <p:blipFill>
          <a:blip r:embed="rId3"/>
          <a:stretch>
            <a:fillRect/>
          </a:stretch>
        </p:blipFill>
        <p:spPr>
          <a:xfrm>
            <a:off x="3686861" y="1428293"/>
            <a:ext cx="261518" cy="261518"/>
          </a:xfrm>
          <a:prstGeom prst="rect">
            <a:avLst/>
          </a:prstGeom>
        </p:spPr>
      </p:pic>
      <p:sp>
        <p:nvSpPr>
          <p:cNvPr id="12" name="Text 7"/>
          <p:cNvSpPr txBox="1"/>
          <p:nvPr/>
        </p:nvSpPr>
        <p:spPr>
          <a:xfrm>
            <a:off x="4206240" y="1307592"/>
            <a:ext cx="1737360" cy="502920"/>
          </a:xfrm>
          <a:prstGeom prst="rect">
            <a:avLst/>
          </a:prstGeom>
          <a:noFill/>
          <a:ln/>
        </p:spPr>
        <p:txBody>
          <a:bodyPr wrap="square" lIns="0" tIns="0" rIns="0" bIns="0" rtlCol="0" anchor="ctr"/>
          <a:lstStyle/>
          <a:p>
            <a:pPr indent="0" marL="0">
              <a:buNone/>
            </a:pPr>
            <a:r>
              <a:rPr lang="en-US" sz="2000" b="1" dirty="0">
                <a:solidFill>
                  <a:srgbClr val="0B1D33"/>
                </a:solidFill>
                <a:latin typeface="Cambria" pitchFamily="34" charset="0"/>
                <a:ea typeface="Cambria" pitchFamily="34" charset="-122"/>
                <a:cs typeface="Cambria" pitchFamily="34" charset="-120"/>
              </a:rPr>
              <a:t>2  Tag</a:t>
            </a:r>
            <a:endParaRPr lang="en-US" sz="2000" dirty="0"/>
          </a:p>
        </p:txBody>
      </p:sp>
      <p:sp>
        <p:nvSpPr>
          <p:cNvPr id="13" name="Text 8"/>
          <p:cNvSpPr txBox="1"/>
          <p:nvPr/>
        </p:nvSpPr>
        <p:spPr>
          <a:xfrm>
            <a:off x="3566160" y="1901952"/>
            <a:ext cx="2286000" cy="932688"/>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PII_HIGH · FINANCIAL · PII_IN_TEXT · HEALTH. Anything unproven stays UNREVIEWED and hidden</a:t>
            </a:r>
            <a:endParaRPr lang="en-US" sz="1300" dirty="0"/>
          </a:p>
        </p:txBody>
      </p:sp>
      <p:pic>
        <p:nvPicPr>
          <p:cNvPr id="14" name="arrow 2" descr="then">    </p:cNvPr>
          <p:cNvPicPr>
            <a:picLocks noChangeAspect="1"/>
          </p:cNvPicPr>
          <p:nvPr/>
        </p:nvPicPr>
        <p:blipFill>
          <a:blip r:embed="rId4"/>
          <a:stretch>
            <a:fillRect/>
          </a:stretch>
        </p:blipFill>
        <p:spPr>
          <a:xfrm>
            <a:off x="6016752" y="1965960"/>
            <a:ext cx="146304" cy="146304"/>
          </a:xfrm>
          <a:prstGeom prst="rect">
            <a:avLst/>
          </a:prstGeom>
        </p:spPr>
      </p:pic>
      <p:sp>
        <p:nvSpPr>
          <p:cNvPr id="15" name="step Enforce"/>
          <p:cNvSpPr/>
          <p:nvPr/>
        </p:nvSpPr>
        <p:spPr>
          <a:xfrm>
            <a:off x="6181344" y="1188720"/>
            <a:ext cx="2633472" cy="1691640"/>
          </a:xfrm>
          <a:prstGeom prst="roundRect">
            <a:avLst>
              <a:gd name="adj" fmla="val 4324"/>
            </a:avLst>
          </a:prstGeom>
          <a:solidFill>
            <a:srgbClr val="F1F5F9"/>
          </a:solidFill>
          <a:ln w="9525">
            <a:solidFill>
              <a:srgbClr val="F1F5F9"/>
            </a:solidFill>
            <a:prstDash val="solid"/>
          </a:ln>
        </p:spPr>
      </p:sp>
      <p:sp>
        <p:nvSpPr>
          <p:cNvPr id="16" name="Enforce circle"/>
          <p:cNvSpPr/>
          <p:nvPr/>
        </p:nvSpPr>
        <p:spPr>
          <a:xfrm>
            <a:off x="6382512" y="1307592"/>
            <a:ext cx="502920" cy="502920"/>
          </a:xfrm>
          <a:prstGeom prst="ellipse">
            <a:avLst/>
          </a:prstGeom>
          <a:solidFill>
            <a:srgbClr val="0B1D33"/>
          </a:solidFill>
          <a:ln w="12700">
            <a:solidFill>
              <a:srgbClr val="0B1D33"/>
            </a:solidFill>
            <a:prstDash val="solid"/>
          </a:ln>
        </p:spPr>
      </p:sp>
      <p:pic>
        <p:nvPicPr>
          <p:cNvPr id="17" name="Enforce icon" descr="Enforce">    </p:cNvPr>
          <p:cNvPicPr>
            <a:picLocks noChangeAspect="1"/>
          </p:cNvPicPr>
          <p:nvPr/>
        </p:nvPicPr>
        <p:blipFill>
          <a:blip r:embed="rId5"/>
          <a:stretch>
            <a:fillRect/>
          </a:stretch>
        </p:blipFill>
        <p:spPr>
          <a:xfrm>
            <a:off x="6503213" y="1428293"/>
            <a:ext cx="261518" cy="261518"/>
          </a:xfrm>
          <a:prstGeom prst="rect">
            <a:avLst/>
          </a:prstGeom>
        </p:spPr>
      </p:pic>
      <p:sp>
        <p:nvSpPr>
          <p:cNvPr id="18" name="Text 11"/>
          <p:cNvSpPr txBox="1"/>
          <p:nvPr/>
        </p:nvSpPr>
        <p:spPr>
          <a:xfrm>
            <a:off x="7022592" y="1307592"/>
            <a:ext cx="1737360" cy="502920"/>
          </a:xfrm>
          <a:prstGeom prst="rect">
            <a:avLst/>
          </a:prstGeom>
          <a:noFill/>
          <a:ln/>
        </p:spPr>
        <p:txBody>
          <a:bodyPr wrap="square" lIns="0" tIns="0" rIns="0" bIns="0" rtlCol="0" anchor="ctr"/>
          <a:lstStyle/>
          <a:p>
            <a:pPr indent="0" marL="0">
              <a:buNone/>
            </a:pPr>
            <a:r>
              <a:rPr lang="en-US" sz="2000" b="1" dirty="0">
                <a:solidFill>
                  <a:srgbClr val="0B1D33"/>
                </a:solidFill>
                <a:latin typeface="Cambria" pitchFamily="34" charset="0"/>
                <a:ea typeface="Cambria" pitchFamily="34" charset="-122"/>
                <a:cs typeface="Cambria" pitchFamily="34" charset="-120"/>
              </a:rPr>
              <a:t>3  Enforce</a:t>
            </a:r>
            <a:endParaRPr lang="en-US" sz="2000" dirty="0"/>
          </a:p>
        </p:txBody>
      </p:sp>
      <p:sp>
        <p:nvSpPr>
          <p:cNvPr id="19" name="Text 12"/>
          <p:cNvSpPr txBox="1"/>
          <p:nvPr/>
        </p:nvSpPr>
        <p:spPr>
          <a:xfrm>
            <a:off x="6382512" y="1901952"/>
            <a:ext cx="2286000" cy="932688"/>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Rewrites every query so each table becomes a masked view for the caller's role</a:t>
            </a:r>
            <a:endParaRPr lang="en-US" sz="1300" dirty="0"/>
          </a:p>
        </p:txBody>
      </p:sp>
      <p:pic>
        <p:nvPicPr>
          <p:cNvPr id="20" name="arrow 3" descr="then">    </p:cNvPr>
          <p:cNvPicPr>
            <a:picLocks noChangeAspect="1"/>
          </p:cNvPicPr>
          <p:nvPr/>
        </p:nvPicPr>
        <p:blipFill>
          <a:blip r:embed="rId6"/>
          <a:stretch>
            <a:fillRect/>
          </a:stretch>
        </p:blipFill>
        <p:spPr>
          <a:xfrm>
            <a:off x="8833104" y="1965960"/>
            <a:ext cx="146304" cy="146304"/>
          </a:xfrm>
          <a:prstGeom prst="rect">
            <a:avLst/>
          </a:prstGeom>
        </p:spPr>
      </p:pic>
      <p:sp>
        <p:nvSpPr>
          <p:cNvPr id="21" name="step Prove"/>
          <p:cNvSpPr/>
          <p:nvPr/>
        </p:nvSpPr>
        <p:spPr>
          <a:xfrm>
            <a:off x="8997696" y="1188720"/>
            <a:ext cx="2633472" cy="1691640"/>
          </a:xfrm>
          <a:prstGeom prst="roundRect">
            <a:avLst>
              <a:gd name="adj" fmla="val 4324"/>
            </a:avLst>
          </a:prstGeom>
          <a:solidFill>
            <a:srgbClr val="F1F5F9"/>
          </a:solidFill>
          <a:ln w="9525">
            <a:solidFill>
              <a:srgbClr val="F1F5F9"/>
            </a:solidFill>
            <a:prstDash val="solid"/>
          </a:ln>
        </p:spPr>
      </p:sp>
      <p:sp>
        <p:nvSpPr>
          <p:cNvPr id="22" name="Prove circle"/>
          <p:cNvSpPr/>
          <p:nvPr/>
        </p:nvSpPr>
        <p:spPr>
          <a:xfrm>
            <a:off x="9198864" y="1307592"/>
            <a:ext cx="502920" cy="502920"/>
          </a:xfrm>
          <a:prstGeom prst="ellipse">
            <a:avLst/>
          </a:prstGeom>
          <a:solidFill>
            <a:srgbClr val="0B1D33"/>
          </a:solidFill>
          <a:ln w="12700">
            <a:solidFill>
              <a:srgbClr val="0B1D33"/>
            </a:solidFill>
            <a:prstDash val="solid"/>
          </a:ln>
        </p:spPr>
      </p:sp>
      <p:pic>
        <p:nvPicPr>
          <p:cNvPr id="23" name="Prove icon" descr="Prove">    </p:cNvPr>
          <p:cNvPicPr>
            <a:picLocks noChangeAspect="1"/>
          </p:cNvPicPr>
          <p:nvPr/>
        </p:nvPicPr>
        <p:blipFill>
          <a:blip r:embed="rId7"/>
          <a:stretch>
            <a:fillRect/>
          </a:stretch>
        </p:blipFill>
        <p:spPr>
          <a:xfrm>
            <a:off x="9319565" y="1428293"/>
            <a:ext cx="261518" cy="261518"/>
          </a:xfrm>
          <a:prstGeom prst="rect">
            <a:avLst/>
          </a:prstGeom>
        </p:spPr>
      </p:pic>
      <p:sp>
        <p:nvSpPr>
          <p:cNvPr id="24" name="Text 15"/>
          <p:cNvSpPr txBox="1"/>
          <p:nvPr/>
        </p:nvSpPr>
        <p:spPr>
          <a:xfrm>
            <a:off x="9838944" y="1307592"/>
            <a:ext cx="1737360" cy="502920"/>
          </a:xfrm>
          <a:prstGeom prst="rect">
            <a:avLst/>
          </a:prstGeom>
          <a:noFill/>
          <a:ln/>
        </p:spPr>
        <p:txBody>
          <a:bodyPr wrap="square" lIns="0" tIns="0" rIns="0" bIns="0" rtlCol="0" anchor="ctr"/>
          <a:lstStyle/>
          <a:p>
            <a:pPr indent="0" marL="0">
              <a:buNone/>
            </a:pPr>
            <a:r>
              <a:rPr lang="en-US" sz="2000" b="1" dirty="0">
                <a:solidFill>
                  <a:srgbClr val="0B1D33"/>
                </a:solidFill>
                <a:latin typeface="Cambria" pitchFamily="34" charset="0"/>
                <a:ea typeface="Cambria" pitchFamily="34" charset="-122"/>
                <a:cs typeface="Cambria" pitchFamily="34" charset="-120"/>
              </a:rPr>
              <a:t>4  Prove</a:t>
            </a:r>
            <a:endParaRPr lang="en-US" sz="2000" dirty="0"/>
          </a:p>
        </p:txBody>
      </p:sp>
      <p:sp>
        <p:nvSpPr>
          <p:cNvPr id="25" name="Text 16"/>
          <p:cNvSpPr txBox="1"/>
          <p:nvPr/>
        </p:nvSpPr>
        <p:spPr>
          <a:xfrm>
            <a:off x="9198864" y="1901952"/>
            <a:ext cx="2286000" cy="932688"/>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Hash-chained audit without values, integrity digests, and 672 attack cases on every push</a:t>
            </a:r>
            <a:endParaRPr lang="en-US" sz="1300" dirty="0"/>
          </a:p>
        </p:txBody>
      </p:sp>
      <p:sp>
        <p:nvSpPr>
          <p:cNvPr id="26" name="Text 17"/>
          <p:cNvSpPr txBox="1"/>
          <p:nvPr/>
        </p:nvSpPr>
        <p:spPr>
          <a:xfrm>
            <a:off x="548640" y="3017520"/>
            <a:ext cx="11064240" cy="320040"/>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Life of one query on Saffron Bank: a support agent guesses a real PAN and finds nothing</a:t>
            </a:r>
            <a:endParaRPr lang="en-US" sz="1400" dirty="0"/>
          </a:p>
        </p:txBody>
      </p:sp>
      <p:pic>
        <p:nvPicPr>
          <p:cNvPr id="27" name="query sequence diagram" descr="Sequence: support_ravi sends a SELECT with a guessed PAN; the gateway checks login and firewall, asks the policy for support x PII_HIGH and gets partial, runs the WHERE on mg_partial(pan_no) in the read-only database, which returns 0 rows because it only sees OFXXXXXXXG; the audit log records who, role and SQL shape without values; the user gets 0 rows and a request id.">    </p:cNvPr>
          <p:cNvPicPr>
            <a:picLocks noChangeAspect="1"/>
          </p:cNvPicPr>
          <p:nvPr/>
        </p:nvPicPr>
        <p:blipFill>
          <a:blip r:embed="rId8"/>
          <a:stretch>
            <a:fillRect/>
          </a:stretch>
        </p:blipFill>
        <p:spPr>
          <a:xfrm>
            <a:off x="2057400" y="3364992"/>
            <a:ext cx="8046720" cy="3006255"/>
          </a:xfrm>
          <a:prstGeom prst="rect">
            <a:avLst/>
          </a:prstGeom>
        </p:spPr>
      </p:pic>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One enforcement path for every channel</a:t>
            </a:r>
            <a:endParaRPr lang="en-US" sz="3000" dirty="0"/>
          </a:p>
        </p:txBody>
      </p:sp>
      <p:sp>
        <p:nvSpPr>
          <p:cNvPr id="3" name="Text 1"/>
          <p:cNvSpPr txBox="1"/>
          <p:nvPr/>
        </p:nvSpPr>
        <p:spPr>
          <a:xfrm>
            <a:off x="548640" y="1188720"/>
            <a:ext cx="2011680" cy="27432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WHO ASKS</a:t>
            </a:r>
            <a:endParaRPr lang="en-US" sz="1100" dirty="0"/>
          </a:p>
        </p:txBody>
      </p:sp>
      <p:sp>
        <p:nvSpPr>
          <p:cNvPr id="4" name="Text 2"/>
          <p:cNvSpPr txBox="1"/>
          <p:nvPr/>
        </p:nvSpPr>
        <p:spPr>
          <a:xfrm>
            <a:off x="2880360" y="1188720"/>
            <a:ext cx="5486400" cy="27432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MASKGUARD GATEWAY</a:t>
            </a:r>
            <a:endParaRPr lang="en-US" sz="1100" dirty="0"/>
          </a:p>
        </p:txBody>
      </p:sp>
      <p:sp>
        <p:nvSpPr>
          <p:cNvPr id="5" name="Text 3"/>
          <p:cNvSpPr txBox="1"/>
          <p:nvPr/>
        </p:nvSpPr>
        <p:spPr>
          <a:xfrm>
            <a:off x="9098280" y="1188720"/>
            <a:ext cx="2560320" cy="27432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DATABASE · NEVER MODIFIED</a:t>
            </a:r>
            <a:endParaRPr lang="en-US" sz="1100" dirty="0"/>
          </a:p>
        </p:txBody>
      </p:sp>
      <p:sp>
        <p:nvSpPr>
          <p:cNvPr id="6" name="client CLI"/>
          <p:cNvSpPr/>
          <p:nvPr/>
        </p:nvSpPr>
        <p:spPr>
          <a:xfrm>
            <a:off x="548640" y="1536192"/>
            <a:ext cx="2011680" cy="438912"/>
          </a:xfrm>
          <a:prstGeom prst="roundRect">
            <a:avLst>
              <a:gd name="adj" fmla="val 16667"/>
            </a:avLst>
          </a:prstGeom>
          <a:solidFill>
            <a:srgbClr val="E2E8F0"/>
          </a:solidFill>
          <a:ln w="9525">
            <a:solidFill>
              <a:srgbClr val="E2E8F0"/>
            </a:solidFill>
            <a:prstDash val="solid"/>
          </a:ln>
        </p:spPr>
      </p:sp>
      <p:sp>
        <p:nvSpPr>
          <p:cNvPr id="7" name="Text 5"/>
          <p:cNvSpPr txBox="1"/>
          <p:nvPr/>
        </p:nvSpPr>
        <p:spPr>
          <a:xfrm>
            <a:off x="621792" y="1536192"/>
            <a:ext cx="1865376" cy="43891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CLI</a:t>
            </a:r>
            <a:endParaRPr lang="en-US" sz="1250" dirty="0"/>
          </a:p>
        </p:txBody>
      </p:sp>
      <p:sp>
        <p:nvSpPr>
          <p:cNvPr id="8" name="client REST API · Postman"/>
          <p:cNvSpPr/>
          <p:nvPr/>
        </p:nvSpPr>
        <p:spPr>
          <a:xfrm>
            <a:off x="548640" y="2084832"/>
            <a:ext cx="2011680" cy="438912"/>
          </a:xfrm>
          <a:prstGeom prst="roundRect">
            <a:avLst>
              <a:gd name="adj" fmla="val 16667"/>
            </a:avLst>
          </a:prstGeom>
          <a:solidFill>
            <a:srgbClr val="E2E8F0"/>
          </a:solidFill>
          <a:ln w="9525">
            <a:solidFill>
              <a:srgbClr val="E2E8F0"/>
            </a:solidFill>
            <a:prstDash val="solid"/>
          </a:ln>
        </p:spPr>
      </p:sp>
      <p:sp>
        <p:nvSpPr>
          <p:cNvPr id="9" name="Text 7"/>
          <p:cNvSpPr txBox="1"/>
          <p:nvPr/>
        </p:nvSpPr>
        <p:spPr>
          <a:xfrm>
            <a:off x="621792" y="2084832"/>
            <a:ext cx="1865376" cy="43891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REST API · Postman</a:t>
            </a:r>
            <a:endParaRPr lang="en-US" sz="1250" dirty="0"/>
          </a:p>
        </p:txBody>
      </p:sp>
      <p:sp>
        <p:nvSpPr>
          <p:cNvPr id="10" name="client PostgreSQL wire proxy"/>
          <p:cNvSpPr/>
          <p:nvPr/>
        </p:nvSpPr>
        <p:spPr>
          <a:xfrm>
            <a:off x="548640" y="2633472"/>
            <a:ext cx="2011680" cy="438912"/>
          </a:xfrm>
          <a:prstGeom prst="roundRect">
            <a:avLst>
              <a:gd name="adj" fmla="val 16667"/>
            </a:avLst>
          </a:prstGeom>
          <a:solidFill>
            <a:srgbClr val="E2E8F0"/>
          </a:solidFill>
          <a:ln w="9525">
            <a:solidFill>
              <a:srgbClr val="E2E8F0"/>
            </a:solidFill>
            <a:prstDash val="solid"/>
          </a:ln>
        </p:spPr>
      </p:sp>
      <p:sp>
        <p:nvSpPr>
          <p:cNvPr id="11" name="Text 9"/>
          <p:cNvSpPr txBox="1"/>
          <p:nvPr/>
        </p:nvSpPr>
        <p:spPr>
          <a:xfrm>
            <a:off x="621792" y="2633472"/>
            <a:ext cx="1865376" cy="43891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PostgreSQL wire proxy</a:t>
            </a:r>
            <a:endParaRPr lang="en-US" sz="1250" dirty="0"/>
          </a:p>
        </p:txBody>
      </p:sp>
      <p:sp>
        <p:nvSpPr>
          <p:cNvPr id="12" name="client Control Room UI"/>
          <p:cNvSpPr/>
          <p:nvPr/>
        </p:nvSpPr>
        <p:spPr>
          <a:xfrm>
            <a:off x="548640" y="3182112"/>
            <a:ext cx="2011680" cy="438912"/>
          </a:xfrm>
          <a:prstGeom prst="roundRect">
            <a:avLst>
              <a:gd name="adj" fmla="val 16667"/>
            </a:avLst>
          </a:prstGeom>
          <a:solidFill>
            <a:srgbClr val="E2E8F0"/>
          </a:solidFill>
          <a:ln w="9525">
            <a:solidFill>
              <a:srgbClr val="E2E8F0"/>
            </a:solidFill>
            <a:prstDash val="solid"/>
          </a:ln>
        </p:spPr>
      </p:sp>
      <p:sp>
        <p:nvSpPr>
          <p:cNvPr id="13" name="Text 11"/>
          <p:cNvSpPr txBox="1"/>
          <p:nvPr/>
        </p:nvSpPr>
        <p:spPr>
          <a:xfrm>
            <a:off x="621792" y="3182112"/>
            <a:ext cx="1865376" cy="43891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Control Room UI</a:t>
            </a:r>
            <a:endParaRPr lang="en-US" sz="1250" dirty="0"/>
          </a:p>
        </p:txBody>
      </p:sp>
      <p:sp>
        <p:nvSpPr>
          <p:cNvPr id="14" name="gateway auth"/>
          <p:cNvSpPr/>
          <p:nvPr/>
        </p:nvSpPr>
        <p:spPr>
          <a:xfrm>
            <a:off x="2880360" y="1691640"/>
            <a:ext cx="1600200" cy="868680"/>
          </a:xfrm>
          <a:prstGeom prst="roundRect">
            <a:avLst>
              <a:gd name="adj" fmla="val 8421"/>
            </a:avLst>
          </a:prstGeom>
          <a:solidFill>
            <a:srgbClr val="FFFFFF"/>
          </a:solidFill>
          <a:ln w="9525">
            <a:solidFill>
              <a:srgbClr val="1E3A5F"/>
            </a:solidFill>
            <a:prstDash val="solid"/>
          </a:ln>
        </p:spPr>
      </p:sp>
      <p:sp>
        <p:nvSpPr>
          <p:cNvPr id="15" name="Text 13"/>
          <p:cNvSpPr txBox="1"/>
          <p:nvPr/>
        </p:nvSpPr>
        <p:spPr>
          <a:xfrm>
            <a:off x="2953512" y="1691640"/>
            <a:ext cx="1453896" cy="868680"/>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Authenticate</a:t>
            </a:r>
            <a:endParaRPr lang="en-US" sz="1250" dirty="0"/>
          </a:p>
          <a:p>
            <a:pPr algn="ctr" indent="0" marL="0">
              <a:buNone/>
            </a:pPr>
            <a:r>
              <a:rPr lang="en-US" sz="1250" dirty="0">
                <a:solidFill>
                  <a:srgbClr val="0B1D33"/>
                </a:solidFill>
                <a:latin typeface="Calibri" pitchFamily="34" charset="0"/>
                <a:ea typeface="Calibri" pitchFamily="34" charset="-122"/>
                <a:cs typeface="Calibri" pitchFamily="34" charset="-120"/>
              </a:rPr>
              <a:t>role from signed login</a:t>
            </a:r>
            <a:endParaRPr lang="en-US" sz="1250" dirty="0"/>
          </a:p>
        </p:txBody>
      </p:sp>
      <p:sp>
        <p:nvSpPr>
          <p:cNvPr id="16" name="gateway firewall"/>
          <p:cNvSpPr/>
          <p:nvPr/>
        </p:nvSpPr>
        <p:spPr>
          <a:xfrm>
            <a:off x="4754880" y="1691640"/>
            <a:ext cx="1600200" cy="868680"/>
          </a:xfrm>
          <a:prstGeom prst="roundRect">
            <a:avLst>
              <a:gd name="adj" fmla="val 8421"/>
            </a:avLst>
          </a:prstGeom>
          <a:solidFill>
            <a:srgbClr val="FFFFFF"/>
          </a:solidFill>
          <a:ln w="9525">
            <a:solidFill>
              <a:srgbClr val="1E3A5F"/>
            </a:solidFill>
            <a:prstDash val="solid"/>
          </a:ln>
        </p:spPr>
      </p:sp>
      <p:sp>
        <p:nvSpPr>
          <p:cNvPr id="17" name="Text 15"/>
          <p:cNvSpPr txBox="1"/>
          <p:nvPr/>
        </p:nvSpPr>
        <p:spPr>
          <a:xfrm>
            <a:off x="4828032" y="1691640"/>
            <a:ext cx="1453896" cy="868680"/>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Firewall</a:t>
            </a:r>
            <a:endParaRPr lang="en-US" sz="1250" dirty="0"/>
          </a:p>
          <a:p>
            <a:pPr algn="ctr" indent="0" marL="0">
              <a:buNone/>
            </a:pPr>
            <a:r>
              <a:rPr lang="en-US" sz="1250" dirty="0">
                <a:solidFill>
                  <a:srgbClr val="0B1D33"/>
                </a:solidFill>
                <a:latin typeface="Calibri" pitchFamily="34" charset="0"/>
                <a:ea typeface="Calibri" pitchFamily="34" charset="-122"/>
                <a:cs typeface="Calibri" pitchFamily="34" charset="-120"/>
              </a:rPr>
              <a:t>one SELECT,</a:t>
            </a:r>
            <a:endParaRPr lang="en-US" sz="1250" dirty="0"/>
          </a:p>
          <a:p>
            <a:pPr algn="ctr" indent="0" marL="0">
              <a:buNone/>
            </a:pPr>
            <a:r>
              <a:rPr lang="en-US" sz="1250" dirty="0">
                <a:solidFill>
                  <a:srgbClr val="0B1D33"/>
                </a:solidFill>
                <a:latin typeface="Calibri" pitchFamily="34" charset="0"/>
                <a:ea typeface="Calibri" pitchFamily="34" charset="-122"/>
                <a:cs typeface="Calibri" pitchFamily="34" charset="-120"/>
              </a:rPr>
              <a:t>allowed functions</a:t>
            </a:r>
            <a:endParaRPr lang="en-US" sz="1250" dirty="0"/>
          </a:p>
        </p:txBody>
      </p:sp>
      <p:sp>
        <p:nvSpPr>
          <p:cNvPr id="18" name="gateway rewrite"/>
          <p:cNvSpPr/>
          <p:nvPr/>
        </p:nvSpPr>
        <p:spPr>
          <a:xfrm>
            <a:off x="6629400" y="1600200"/>
            <a:ext cx="1965960" cy="1051560"/>
          </a:xfrm>
          <a:prstGeom prst="roundRect">
            <a:avLst>
              <a:gd name="adj" fmla="val 6957"/>
            </a:avLst>
          </a:prstGeom>
          <a:solidFill>
            <a:srgbClr val="0B1D33"/>
          </a:solidFill>
          <a:ln w="9525">
            <a:solidFill>
              <a:srgbClr val="0B1D33"/>
            </a:solidFill>
            <a:prstDash val="solid"/>
          </a:ln>
        </p:spPr>
      </p:sp>
      <p:sp>
        <p:nvSpPr>
          <p:cNvPr id="19" name="Text 17"/>
          <p:cNvSpPr txBox="1"/>
          <p:nvPr/>
        </p:nvSpPr>
        <p:spPr>
          <a:xfrm>
            <a:off x="6702552" y="1600200"/>
            <a:ext cx="1819656" cy="10515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AST rewrite (sqlglot)</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table → masked view</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for the caller's role</a:t>
            </a:r>
            <a:endParaRPr lang="en-US" sz="1250" dirty="0"/>
          </a:p>
        </p:txBody>
      </p:sp>
      <p:sp>
        <p:nvSpPr>
          <p:cNvPr id="20" name="database"/>
          <p:cNvSpPr/>
          <p:nvPr/>
        </p:nvSpPr>
        <p:spPr>
          <a:xfrm>
            <a:off x="9098280" y="1691640"/>
            <a:ext cx="2560320" cy="868680"/>
          </a:xfrm>
          <a:prstGeom prst="roundRect">
            <a:avLst>
              <a:gd name="adj" fmla="val 8421"/>
            </a:avLst>
          </a:prstGeom>
          <a:solidFill>
            <a:srgbClr val="E6F4F1"/>
          </a:solidFill>
          <a:ln w="9525">
            <a:solidFill>
              <a:srgbClr val="E6F4F1"/>
            </a:solidFill>
            <a:prstDash val="solid"/>
          </a:ln>
        </p:spPr>
      </p:sp>
      <p:sp>
        <p:nvSpPr>
          <p:cNvPr id="21" name="Text 19"/>
          <p:cNvSpPr txBox="1"/>
          <p:nvPr/>
        </p:nvSpPr>
        <p:spPr>
          <a:xfrm>
            <a:off x="9171432" y="1691640"/>
            <a:ext cx="2414016" cy="868680"/>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Read-only account</a:t>
            </a:r>
            <a:endParaRPr lang="en-US" sz="1250" dirty="0"/>
          </a:p>
          <a:p>
            <a:pPr algn="ctr" indent="0" marL="0">
              <a:buNone/>
            </a:pPr>
            <a:r>
              <a:rPr lang="en-US" sz="1250" dirty="0">
                <a:solidFill>
                  <a:srgbClr val="0B1D33"/>
                </a:solidFill>
                <a:latin typeface="Calibri" pitchFamily="34" charset="0"/>
                <a:ea typeface="Calibri" pitchFamily="34" charset="-122"/>
                <a:cs typeface="Calibri" pitchFamily="34" charset="-120"/>
              </a:rPr>
              <a:t>SQLite · PostgreSQL · MySQL</a:t>
            </a:r>
            <a:endParaRPr lang="en-US" sz="1250" dirty="0"/>
          </a:p>
          <a:p>
            <a:pPr algn="ctr" indent="0" marL="0">
              <a:buNone/>
            </a:pPr>
            <a:r>
              <a:rPr lang="en-US" sz="1250" dirty="0">
                <a:solidFill>
                  <a:srgbClr val="0B1D33"/>
                </a:solidFill>
                <a:latin typeface="Calibri" pitchFamily="34" charset="0"/>
                <a:ea typeface="Calibri" pitchFamily="34" charset="-122"/>
                <a:cs typeface="Calibri" pitchFamily="34" charset="-120"/>
              </a:rPr>
              <a:t>mask functions run in-DB</a:t>
            </a:r>
            <a:endParaRPr lang="en-US" sz="1250" dirty="0"/>
          </a:p>
        </p:txBody>
      </p:sp>
      <p:sp>
        <p:nvSpPr>
          <p:cNvPr id="22" name="clients to auth"/>
          <p:cNvSpPr/>
          <p:nvPr/>
        </p:nvSpPr>
        <p:spPr>
          <a:xfrm>
            <a:off x="2560320" y="2121408"/>
            <a:ext cx="320040" cy="0"/>
          </a:xfrm>
          <a:prstGeom prst="line">
            <a:avLst/>
          </a:prstGeom>
          <a:noFill/>
          <a:ln w="19050">
            <a:solidFill>
              <a:srgbClr val="64748B"/>
            </a:solidFill>
            <a:prstDash val="solid"/>
            <a:tailEnd type="triangle"/>
          </a:ln>
        </p:spPr>
      </p:sp>
      <p:sp>
        <p:nvSpPr>
          <p:cNvPr id="23" name="auth to firewall"/>
          <p:cNvSpPr/>
          <p:nvPr/>
        </p:nvSpPr>
        <p:spPr>
          <a:xfrm>
            <a:off x="4480560" y="2121408"/>
            <a:ext cx="274320" cy="0"/>
          </a:xfrm>
          <a:prstGeom prst="line">
            <a:avLst/>
          </a:prstGeom>
          <a:noFill/>
          <a:ln w="19050">
            <a:solidFill>
              <a:srgbClr val="64748B"/>
            </a:solidFill>
            <a:prstDash val="solid"/>
            <a:tailEnd type="triangle"/>
          </a:ln>
        </p:spPr>
      </p:sp>
      <p:sp>
        <p:nvSpPr>
          <p:cNvPr id="24" name="firewall to rewrite"/>
          <p:cNvSpPr/>
          <p:nvPr/>
        </p:nvSpPr>
        <p:spPr>
          <a:xfrm>
            <a:off x="6355080" y="2121408"/>
            <a:ext cx="274320" cy="0"/>
          </a:xfrm>
          <a:prstGeom prst="line">
            <a:avLst/>
          </a:prstGeom>
          <a:noFill/>
          <a:ln w="19050">
            <a:solidFill>
              <a:srgbClr val="64748B"/>
            </a:solidFill>
            <a:prstDash val="solid"/>
            <a:tailEnd type="triangle"/>
          </a:ln>
        </p:spPr>
      </p:sp>
      <p:sp>
        <p:nvSpPr>
          <p:cNvPr id="25" name="rewrite to database"/>
          <p:cNvSpPr/>
          <p:nvPr/>
        </p:nvSpPr>
        <p:spPr>
          <a:xfrm>
            <a:off x="8595360" y="2121408"/>
            <a:ext cx="502920" cy="0"/>
          </a:xfrm>
          <a:prstGeom prst="line">
            <a:avLst/>
          </a:prstGeom>
          <a:noFill/>
          <a:ln w="19050">
            <a:solidFill>
              <a:srgbClr val="64748B"/>
            </a:solidFill>
            <a:prstDash val="solid"/>
            <a:tailEnd type="triangle"/>
          </a:ln>
        </p:spPr>
      </p:sp>
      <p:sp>
        <p:nvSpPr>
          <p:cNvPr id="26" name="scanner"/>
          <p:cNvSpPr/>
          <p:nvPr/>
        </p:nvSpPr>
        <p:spPr>
          <a:xfrm>
            <a:off x="2880360" y="3017520"/>
            <a:ext cx="1600200" cy="731520"/>
          </a:xfrm>
          <a:prstGeom prst="roundRect">
            <a:avLst>
              <a:gd name="adj" fmla="val 10000"/>
            </a:avLst>
          </a:prstGeom>
          <a:solidFill>
            <a:srgbClr val="FDEBD0"/>
          </a:solidFill>
          <a:ln w="9525">
            <a:solidFill>
              <a:srgbClr val="FDEBD0"/>
            </a:solidFill>
            <a:prstDash val="solid"/>
          </a:ln>
        </p:spPr>
      </p:sp>
      <p:sp>
        <p:nvSpPr>
          <p:cNvPr id="27" name="Text 25"/>
          <p:cNvSpPr txBox="1"/>
          <p:nvPr/>
        </p:nvSpPr>
        <p:spPr>
          <a:xfrm>
            <a:off x="2953512" y="3017520"/>
            <a:ext cx="1453896" cy="731520"/>
          </a:xfrm>
          <a:prstGeom prst="rect">
            <a:avLst/>
          </a:prstGeom>
          <a:noFill/>
          <a:ln/>
        </p:spPr>
        <p:txBody>
          <a:bodyPr wrap="square" lIns="0" tIns="0" rIns="0" bIns="0" rtlCol="0" anchor="ctr"/>
          <a:lstStyle/>
          <a:p>
            <a:pPr algn="ctr" indent="0" marL="0">
              <a:buNone/>
            </a:pPr>
            <a:r>
              <a:rPr lang="en-US" sz="1250" b="1" dirty="0">
                <a:solidFill>
                  <a:srgbClr val="0B1D33"/>
                </a:solidFill>
                <a:latin typeface="Calibri" pitchFamily="34" charset="0"/>
                <a:ea typeface="Calibri" pitchFamily="34" charset="-122"/>
                <a:cs typeface="Calibri" pitchFamily="34" charset="-120"/>
              </a:rPr>
              <a:t>PII scanner</a:t>
            </a:r>
            <a:endParaRPr lang="en-US" sz="1250" dirty="0"/>
          </a:p>
          <a:p>
            <a:pPr algn="ctr" indent="0" marL="0">
              <a:buNone/>
            </a:pPr>
            <a:r>
              <a:rPr lang="en-US" sz="1250" b="1" dirty="0">
                <a:solidFill>
                  <a:srgbClr val="0B1D33"/>
                </a:solidFill>
                <a:latin typeface="Calibri" pitchFamily="34" charset="0"/>
                <a:ea typeface="Calibri" pitchFamily="34" charset="-122"/>
                <a:cs typeface="Calibri" pitchFamily="34" charset="-120"/>
              </a:rPr>
              <a:t>checksums + LightGBM</a:t>
            </a:r>
            <a:endParaRPr lang="en-US" sz="1250" dirty="0"/>
          </a:p>
        </p:txBody>
      </p:sp>
      <p:sp>
        <p:nvSpPr>
          <p:cNvPr id="28" name="review"/>
          <p:cNvSpPr/>
          <p:nvPr/>
        </p:nvSpPr>
        <p:spPr>
          <a:xfrm>
            <a:off x="4754880" y="3017520"/>
            <a:ext cx="1600200" cy="731520"/>
          </a:xfrm>
          <a:prstGeom prst="roundRect">
            <a:avLst>
              <a:gd name="adj" fmla="val 10000"/>
            </a:avLst>
          </a:prstGeom>
          <a:solidFill>
            <a:srgbClr val="F1F5F9"/>
          </a:solidFill>
          <a:ln w="9525">
            <a:solidFill>
              <a:srgbClr val="F1F5F9"/>
            </a:solidFill>
            <a:prstDash val="solid"/>
          </a:ln>
        </p:spPr>
      </p:sp>
      <p:sp>
        <p:nvSpPr>
          <p:cNvPr id="29" name="Text 27"/>
          <p:cNvSpPr txBox="1"/>
          <p:nvPr/>
        </p:nvSpPr>
        <p:spPr>
          <a:xfrm>
            <a:off x="4828032" y="3017520"/>
            <a:ext cx="1453896" cy="731520"/>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Person reviews</a:t>
            </a:r>
            <a:endParaRPr lang="en-US" sz="1250" dirty="0"/>
          </a:p>
          <a:p>
            <a:pPr algn="ctr" indent="0" marL="0">
              <a:buNone/>
            </a:pPr>
            <a:r>
              <a:rPr lang="en-US" sz="1250" dirty="0">
                <a:solidFill>
                  <a:srgbClr val="0B1D33"/>
                </a:solidFill>
                <a:latin typeface="Calibri" pitchFamily="34" charset="0"/>
                <a:ea typeface="Calibri" pitchFamily="34" charset="-122"/>
                <a:cs typeface="Calibri" pitchFamily="34" charset="-120"/>
              </a:rPr>
              <a:t>pii approve / tag</a:t>
            </a:r>
            <a:endParaRPr lang="en-US" sz="1250" dirty="0"/>
          </a:p>
        </p:txBody>
      </p:sp>
      <p:sp>
        <p:nvSpPr>
          <p:cNvPr id="30" name="policy"/>
          <p:cNvSpPr/>
          <p:nvPr/>
        </p:nvSpPr>
        <p:spPr>
          <a:xfrm>
            <a:off x="6629400" y="3017520"/>
            <a:ext cx="1965960" cy="731520"/>
          </a:xfrm>
          <a:prstGeom prst="roundRect">
            <a:avLst>
              <a:gd name="adj" fmla="val 10000"/>
            </a:avLst>
          </a:prstGeom>
          <a:solidFill>
            <a:srgbClr val="F1F5F9"/>
          </a:solidFill>
          <a:ln w="9525">
            <a:solidFill>
              <a:srgbClr val="F1F5F9"/>
            </a:solidFill>
            <a:prstDash val="solid"/>
          </a:ln>
        </p:spPr>
      </p:sp>
      <p:sp>
        <p:nvSpPr>
          <p:cNvPr id="31" name="Text 29"/>
          <p:cNvSpPr txBox="1"/>
          <p:nvPr/>
        </p:nvSpPr>
        <p:spPr>
          <a:xfrm>
            <a:off x="6702552" y="3017520"/>
            <a:ext cx="1819656" cy="731520"/>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Tags + policy YAML</a:t>
            </a:r>
            <a:endParaRPr lang="en-US" sz="1250" dirty="0"/>
          </a:p>
          <a:p>
            <a:pPr algn="ctr" indent="0" marL="0">
              <a:buNone/>
            </a:pPr>
            <a:r>
              <a:rPr lang="en-US" sz="1250" dirty="0">
                <a:solidFill>
                  <a:srgbClr val="0B1D33"/>
                </a:solidFill>
                <a:latin typeface="Calibri" pitchFamily="34" charset="0"/>
                <a:ea typeface="Calibri" pitchFamily="34" charset="-122"/>
                <a:cs typeface="Calibri" pitchFamily="34" charset="-120"/>
              </a:rPr>
              <a:t>versioned, validated</a:t>
            </a:r>
            <a:endParaRPr lang="en-US" sz="1250" dirty="0"/>
          </a:p>
        </p:txBody>
      </p:sp>
      <p:sp>
        <p:nvSpPr>
          <p:cNvPr id="32" name="audit"/>
          <p:cNvSpPr/>
          <p:nvPr/>
        </p:nvSpPr>
        <p:spPr>
          <a:xfrm>
            <a:off x="9098280" y="3017520"/>
            <a:ext cx="2560320" cy="731520"/>
          </a:xfrm>
          <a:prstGeom prst="roundRect">
            <a:avLst>
              <a:gd name="adj" fmla="val 10000"/>
            </a:avLst>
          </a:prstGeom>
          <a:solidFill>
            <a:srgbClr val="F1F5F9"/>
          </a:solidFill>
          <a:ln w="9525">
            <a:solidFill>
              <a:srgbClr val="F1F5F9"/>
            </a:solidFill>
            <a:prstDash val="solid"/>
          </a:ln>
        </p:spPr>
      </p:sp>
      <p:sp>
        <p:nvSpPr>
          <p:cNvPr id="33" name="Text 31"/>
          <p:cNvSpPr txBox="1"/>
          <p:nvPr/>
        </p:nvSpPr>
        <p:spPr>
          <a:xfrm>
            <a:off x="9171432" y="3017520"/>
            <a:ext cx="2414016" cy="731520"/>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Hash-chained audit</a:t>
            </a:r>
            <a:endParaRPr lang="en-US" sz="1250" dirty="0"/>
          </a:p>
          <a:p>
            <a:pPr algn="ctr" indent="0" marL="0">
              <a:buNone/>
            </a:pPr>
            <a:r>
              <a:rPr lang="en-US" sz="1250" dirty="0">
                <a:solidFill>
                  <a:srgbClr val="0B1D33"/>
                </a:solidFill>
                <a:latin typeface="Calibri" pitchFamily="34" charset="0"/>
                <a:ea typeface="Calibri" pitchFamily="34" charset="-122"/>
                <a:cs typeface="Calibri" pitchFamily="34" charset="-120"/>
              </a:rPr>
              <a:t>no values, no literals</a:t>
            </a:r>
            <a:endParaRPr lang="en-US" sz="1250" dirty="0"/>
          </a:p>
        </p:txBody>
      </p:sp>
      <p:sp>
        <p:nvSpPr>
          <p:cNvPr id="34" name="scanner to review"/>
          <p:cNvSpPr/>
          <p:nvPr/>
        </p:nvSpPr>
        <p:spPr>
          <a:xfrm>
            <a:off x="4480560" y="3383280"/>
            <a:ext cx="274320" cy="0"/>
          </a:xfrm>
          <a:prstGeom prst="line">
            <a:avLst/>
          </a:prstGeom>
          <a:noFill/>
          <a:ln w="19050">
            <a:solidFill>
              <a:srgbClr val="64748B"/>
            </a:solidFill>
            <a:prstDash val="solid"/>
            <a:tailEnd type="triangle"/>
          </a:ln>
        </p:spPr>
      </p:sp>
      <p:sp>
        <p:nvSpPr>
          <p:cNvPr id="35" name="review to policy"/>
          <p:cNvSpPr/>
          <p:nvPr/>
        </p:nvSpPr>
        <p:spPr>
          <a:xfrm>
            <a:off x="6355080" y="3383280"/>
            <a:ext cx="274320" cy="0"/>
          </a:xfrm>
          <a:prstGeom prst="line">
            <a:avLst/>
          </a:prstGeom>
          <a:noFill/>
          <a:ln w="19050">
            <a:solidFill>
              <a:srgbClr val="64748B"/>
            </a:solidFill>
            <a:prstDash val="solid"/>
            <a:tailEnd type="triangle"/>
          </a:ln>
        </p:spPr>
      </p:sp>
      <p:sp>
        <p:nvSpPr>
          <p:cNvPr id="36" name="policy to rewrite"/>
          <p:cNvSpPr/>
          <p:nvPr/>
        </p:nvSpPr>
        <p:spPr>
          <a:xfrm>
            <a:off x="7616952" y="2651760"/>
            <a:ext cx="0" cy="365760"/>
          </a:xfrm>
          <a:prstGeom prst="line">
            <a:avLst/>
          </a:prstGeom>
          <a:noFill/>
          <a:ln w="19050">
            <a:solidFill>
              <a:srgbClr val="64748B"/>
            </a:solidFill>
            <a:prstDash val="solid"/>
            <a:headEnd type="triangle"/>
          </a:ln>
        </p:spPr>
      </p:sp>
      <p:sp>
        <p:nvSpPr>
          <p:cNvPr id="37" name="rewrite to audit"/>
          <p:cNvSpPr/>
          <p:nvPr/>
        </p:nvSpPr>
        <p:spPr>
          <a:xfrm>
            <a:off x="8595360" y="2514600"/>
            <a:ext cx="502920" cy="594360"/>
          </a:xfrm>
          <a:prstGeom prst="line">
            <a:avLst/>
          </a:prstGeom>
          <a:noFill/>
          <a:ln w="19050">
            <a:solidFill>
              <a:srgbClr val="64748B"/>
            </a:solidFill>
            <a:prstDash val="solid"/>
            <a:tailEnd type="triangle"/>
          </a:ln>
        </p:spPr>
      </p:sp>
      <p:sp>
        <p:nvSpPr>
          <p:cNvPr id="38" name="Text 36"/>
          <p:cNvSpPr txBox="1"/>
          <p:nvPr/>
        </p:nvSpPr>
        <p:spPr>
          <a:xfrm>
            <a:off x="548640" y="3977640"/>
            <a:ext cx="5120640" cy="36576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Tech stack</a:t>
            </a:r>
            <a:endParaRPr lang="en-US" sz="1800" dirty="0"/>
          </a:p>
        </p:txBody>
      </p:sp>
      <p:sp>
        <p:nvSpPr>
          <p:cNvPr id="39" name="chip Python 3.10+"/>
          <p:cNvSpPr/>
          <p:nvPr/>
        </p:nvSpPr>
        <p:spPr>
          <a:xfrm>
            <a:off x="548640" y="4434840"/>
            <a:ext cx="1133856" cy="347472"/>
          </a:xfrm>
          <a:prstGeom prst="roundRect">
            <a:avLst>
              <a:gd name="adj" fmla="val 21053"/>
            </a:avLst>
          </a:prstGeom>
          <a:solidFill>
            <a:srgbClr val="E2E8F0"/>
          </a:solidFill>
          <a:ln w="9525">
            <a:solidFill>
              <a:srgbClr val="E2E8F0"/>
            </a:solidFill>
            <a:prstDash val="solid"/>
          </a:ln>
        </p:spPr>
      </p:sp>
      <p:sp>
        <p:nvSpPr>
          <p:cNvPr id="40" name="Text 38"/>
          <p:cNvSpPr txBox="1"/>
          <p:nvPr/>
        </p:nvSpPr>
        <p:spPr>
          <a:xfrm>
            <a:off x="548640" y="4434840"/>
            <a:ext cx="1133856"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Python 3.10+</a:t>
            </a:r>
            <a:endParaRPr lang="en-US" sz="1200" dirty="0"/>
          </a:p>
        </p:txBody>
      </p:sp>
      <p:sp>
        <p:nvSpPr>
          <p:cNvPr id="41" name="chip sqlglot AST"/>
          <p:cNvSpPr/>
          <p:nvPr/>
        </p:nvSpPr>
        <p:spPr>
          <a:xfrm>
            <a:off x="1792224" y="4434840"/>
            <a:ext cx="1056132" cy="347472"/>
          </a:xfrm>
          <a:prstGeom prst="roundRect">
            <a:avLst>
              <a:gd name="adj" fmla="val 21053"/>
            </a:avLst>
          </a:prstGeom>
          <a:solidFill>
            <a:srgbClr val="E2E8F0"/>
          </a:solidFill>
          <a:ln w="9525">
            <a:solidFill>
              <a:srgbClr val="E2E8F0"/>
            </a:solidFill>
            <a:prstDash val="solid"/>
          </a:ln>
        </p:spPr>
      </p:sp>
      <p:sp>
        <p:nvSpPr>
          <p:cNvPr id="42" name="Text 40"/>
          <p:cNvSpPr txBox="1"/>
          <p:nvPr/>
        </p:nvSpPr>
        <p:spPr>
          <a:xfrm>
            <a:off x="1792224" y="4434840"/>
            <a:ext cx="1056132"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sqlglot AST</a:t>
            </a:r>
            <a:endParaRPr lang="en-US" sz="1200" dirty="0"/>
          </a:p>
        </p:txBody>
      </p:sp>
      <p:sp>
        <p:nvSpPr>
          <p:cNvPr id="43" name="chip LightGBM"/>
          <p:cNvSpPr/>
          <p:nvPr/>
        </p:nvSpPr>
        <p:spPr>
          <a:xfrm>
            <a:off x="2958084" y="4434840"/>
            <a:ext cx="822960" cy="347472"/>
          </a:xfrm>
          <a:prstGeom prst="roundRect">
            <a:avLst>
              <a:gd name="adj" fmla="val 21053"/>
            </a:avLst>
          </a:prstGeom>
          <a:solidFill>
            <a:srgbClr val="E2E8F0"/>
          </a:solidFill>
          <a:ln w="9525">
            <a:solidFill>
              <a:srgbClr val="E2E8F0"/>
            </a:solidFill>
            <a:prstDash val="solid"/>
          </a:ln>
        </p:spPr>
      </p:sp>
      <p:sp>
        <p:nvSpPr>
          <p:cNvPr id="44" name="Text 42"/>
          <p:cNvSpPr txBox="1"/>
          <p:nvPr/>
        </p:nvSpPr>
        <p:spPr>
          <a:xfrm>
            <a:off x="2958084" y="4434840"/>
            <a:ext cx="822960"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LightGBM</a:t>
            </a:r>
            <a:endParaRPr lang="en-US" sz="1200" dirty="0"/>
          </a:p>
        </p:txBody>
      </p:sp>
      <p:sp>
        <p:nvSpPr>
          <p:cNvPr id="45" name="chip scikit-learn"/>
          <p:cNvSpPr/>
          <p:nvPr/>
        </p:nvSpPr>
        <p:spPr>
          <a:xfrm>
            <a:off x="3890772" y="4434840"/>
            <a:ext cx="1133856" cy="347472"/>
          </a:xfrm>
          <a:prstGeom prst="roundRect">
            <a:avLst>
              <a:gd name="adj" fmla="val 21053"/>
            </a:avLst>
          </a:prstGeom>
          <a:solidFill>
            <a:srgbClr val="E2E8F0"/>
          </a:solidFill>
          <a:ln w="9525">
            <a:solidFill>
              <a:srgbClr val="E2E8F0"/>
            </a:solidFill>
            <a:prstDash val="solid"/>
          </a:ln>
        </p:spPr>
      </p:sp>
      <p:sp>
        <p:nvSpPr>
          <p:cNvPr id="46" name="Text 44"/>
          <p:cNvSpPr txBox="1"/>
          <p:nvPr/>
        </p:nvSpPr>
        <p:spPr>
          <a:xfrm>
            <a:off x="3890772" y="4434840"/>
            <a:ext cx="1133856"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scikit-learn</a:t>
            </a:r>
            <a:endParaRPr lang="en-US" sz="1200" dirty="0"/>
          </a:p>
        </p:txBody>
      </p:sp>
      <p:sp>
        <p:nvSpPr>
          <p:cNvPr id="47" name="chip FastAPI"/>
          <p:cNvSpPr/>
          <p:nvPr/>
        </p:nvSpPr>
        <p:spPr>
          <a:xfrm>
            <a:off x="548640" y="4892040"/>
            <a:ext cx="745236" cy="347472"/>
          </a:xfrm>
          <a:prstGeom prst="roundRect">
            <a:avLst>
              <a:gd name="adj" fmla="val 21053"/>
            </a:avLst>
          </a:prstGeom>
          <a:solidFill>
            <a:srgbClr val="E2E8F0"/>
          </a:solidFill>
          <a:ln w="9525">
            <a:solidFill>
              <a:srgbClr val="E2E8F0"/>
            </a:solidFill>
            <a:prstDash val="solid"/>
          </a:ln>
        </p:spPr>
      </p:sp>
      <p:sp>
        <p:nvSpPr>
          <p:cNvPr id="48" name="Text 46"/>
          <p:cNvSpPr txBox="1"/>
          <p:nvPr/>
        </p:nvSpPr>
        <p:spPr>
          <a:xfrm>
            <a:off x="548640" y="4892040"/>
            <a:ext cx="745236"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FastAPI</a:t>
            </a:r>
            <a:endParaRPr lang="en-US" sz="1200" dirty="0"/>
          </a:p>
        </p:txBody>
      </p:sp>
      <p:sp>
        <p:nvSpPr>
          <p:cNvPr id="49" name="chip Typer + Rich"/>
          <p:cNvSpPr/>
          <p:nvPr/>
        </p:nvSpPr>
        <p:spPr>
          <a:xfrm>
            <a:off x="1403604" y="4892040"/>
            <a:ext cx="1133856" cy="347472"/>
          </a:xfrm>
          <a:prstGeom prst="roundRect">
            <a:avLst>
              <a:gd name="adj" fmla="val 21053"/>
            </a:avLst>
          </a:prstGeom>
          <a:solidFill>
            <a:srgbClr val="E2E8F0"/>
          </a:solidFill>
          <a:ln w="9525">
            <a:solidFill>
              <a:srgbClr val="E2E8F0"/>
            </a:solidFill>
            <a:prstDash val="solid"/>
          </a:ln>
        </p:spPr>
      </p:sp>
      <p:sp>
        <p:nvSpPr>
          <p:cNvPr id="50" name="Text 48"/>
          <p:cNvSpPr txBox="1"/>
          <p:nvPr/>
        </p:nvSpPr>
        <p:spPr>
          <a:xfrm>
            <a:off x="1403604" y="4892040"/>
            <a:ext cx="1133856"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Typer + Rich</a:t>
            </a:r>
            <a:endParaRPr lang="en-US" sz="1200" dirty="0"/>
          </a:p>
        </p:txBody>
      </p:sp>
      <p:sp>
        <p:nvSpPr>
          <p:cNvPr id="51" name="chip SQLite"/>
          <p:cNvSpPr/>
          <p:nvPr/>
        </p:nvSpPr>
        <p:spPr>
          <a:xfrm>
            <a:off x="2647188" y="4892040"/>
            <a:ext cx="667512" cy="347472"/>
          </a:xfrm>
          <a:prstGeom prst="roundRect">
            <a:avLst>
              <a:gd name="adj" fmla="val 21053"/>
            </a:avLst>
          </a:prstGeom>
          <a:solidFill>
            <a:srgbClr val="E2E8F0"/>
          </a:solidFill>
          <a:ln w="9525">
            <a:solidFill>
              <a:srgbClr val="E2E8F0"/>
            </a:solidFill>
            <a:prstDash val="solid"/>
          </a:ln>
        </p:spPr>
      </p:sp>
      <p:sp>
        <p:nvSpPr>
          <p:cNvPr id="52" name="Text 50"/>
          <p:cNvSpPr txBox="1"/>
          <p:nvPr/>
        </p:nvSpPr>
        <p:spPr>
          <a:xfrm>
            <a:off x="2647188" y="4892040"/>
            <a:ext cx="667512"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SQLite</a:t>
            </a:r>
            <a:endParaRPr lang="en-US" sz="1200" dirty="0"/>
          </a:p>
        </p:txBody>
      </p:sp>
      <p:sp>
        <p:nvSpPr>
          <p:cNvPr id="53" name="chip PostgreSQL 16"/>
          <p:cNvSpPr/>
          <p:nvPr/>
        </p:nvSpPr>
        <p:spPr>
          <a:xfrm>
            <a:off x="3424428" y="4892040"/>
            <a:ext cx="1211580" cy="347472"/>
          </a:xfrm>
          <a:prstGeom prst="roundRect">
            <a:avLst>
              <a:gd name="adj" fmla="val 21053"/>
            </a:avLst>
          </a:prstGeom>
          <a:solidFill>
            <a:srgbClr val="E2E8F0"/>
          </a:solidFill>
          <a:ln w="9525">
            <a:solidFill>
              <a:srgbClr val="E2E8F0"/>
            </a:solidFill>
            <a:prstDash val="solid"/>
          </a:ln>
        </p:spPr>
      </p:sp>
      <p:sp>
        <p:nvSpPr>
          <p:cNvPr id="54" name="Text 52"/>
          <p:cNvSpPr txBox="1"/>
          <p:nvPr/>
        </p:nvSpPr>
        <p:spPr>
          <a:xfrm>
            <a:off x="3424428" y="4892040"/>
            <a:ext cx="1211580"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PostgreSQL 16</a:t>
            </a:r>
            <a:endParaRPr lang="en-US" sz="1200" dirty="0"/>
          </a:p>
        </p:txBody>
      </p:sp>
      <p:sp>
        <p:nvSpPr>
          <p:cNvPr id="55" name="chip MySQL 8.4"/>
          <p:cNvSpPr/>
          <p:nvPr/>
        </p:nvSpPr>
        <p:spPr>
          <a:xfrm>
            <a:off x="4745736" y="4892040"/>
            <a:ext cx="900684" cy="347472"/>
          </a:xfrm>
          <a:prstGeom prst="roundRect">
            <a:avLst>
              <a:gd name="adj" fmla="val 21053"/>
            </a:avLst>
          </a:prstGeom>
          <a:solidFill>
            <a:srgbClr val="E2E8F0"/>
          </a:solidFill>
          <a:ln w="9525">
            <a:solidFill>
              <a:srgbClr val="E2E8F0"/>
            </a:solidFill>
            <a:prstDash val="solid"/>
          </a:ln>
        </p:spPr>
      </p:sp>
      <p:sp>
        <p:nvSpPr>
          <p:cNvPr id="56" name="Text 54"/>
          <p:cNvSpPr txBox="1"/>
          <p:nvPr/>
        </p:nvSpPr>
        <p:spPr>
          <a:xfrm>
            <a:off x="4745736" y="4892040"/>
            <a:ext cx="900684"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MySQL 8.4</a:t>
            </a:r>
            <a:endParaRPr lang="en-US" sz="1200" dirty="0"/>
          </a:p>
        </p:txBody>
      </p:sp>
      <p:sp>
        <p:nvSpPr>
          <p:cNvPr id="57" name="chip PL/pgSQL + MySQL UDFs"/>
          <p:cNvSpPr/>
          <p:nvPr/>
        </p:nvSpPr>
        <p:spPr>
          <a:xfrm>
            <a:off x="548640" y="5349240"/>
            <a:ext cx="1833372" cy="347472"/>
          </a:xfrm>
          <a:prstGeom prst="roundRect">
            <a:avLst>
              <a:gd name="adj" fmla="val 21053"/>
            </a:avLst>
          </a:prstGeom>
          <a:solidFill>
            <a:srgbClr val="E2E8F0"/>
          </a:solidFill>
          <a:ln w="9525">
            <a:solidFill>
              <a:srgbClr val="E2E8F0"/>
            </a:solidFill>
            <a:prstDash val="solid"/>
          </a:ln>
        </p:spPr>
      </p:sp>
      <p:sp>
        <p:nvSpPr>
          <p:cNvPr id="58" name="Text 56"/>
          <p:cNvSpPr txBox="1"/>
          <p:nvPr/>
        </p:nvSpPr>
        <p:spPr>
          <a:xfrm>
            <a:off x="548640" y="5349240"/>
            <a:ext cx="1833372"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PL/pgSQL + MySQL UDFs</a:t>
            </a:r>
            <a:endParaRPr lang="en-US" sz="1200" dirty="0"/>
          </a:p>
        </p:txBody>
      </p:sp>
      <p:sp>
        <p:nvSpPr>
          <p:cNvPr id="59" name="chip pytest · Playwright"/>
          <p:cNvSpPr/>
          <p:nvPr/>
        </p:nvSpPr>
        <p:spPr>
          <a:xfrm>
            <a:off x="2491740" y="5349240"/>
            <a:ext cx="1677924" cy="347472"/>
          </a:xfrm>
          <a:prstGeom prst="roundRect">
            <a:avLst>
              <a:gd name="adj" fmla="val 21053"/>
            </a:avLst>
          </a:prstGeom>
          <a:solidFill>
            <a:srgbClr val="E2E8F0"/>
          </a:solidFill>
          <a:ln w="9525">
            <a:solidFill>
              <a:srgbClr val="E2E8F0"/>
            </a:solidFill>
            <a:prstDash val="solid"/>
          </a:ln>
        </p:spPr>
      </p:sp>
      <p:sp>
        <p:nvSpPr>
          <p:cNvPr id="60" name="Text 58"/>
          <p:cNvSpPr txBox="1"/>
          <p:nvPr/>
        </p:nvSpPr>
        <p:spPr>
          <a:xfrm>
            <a:off x="2491740" y="5349240"/>
            <a:ext cx="1677924"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pytest · Playwright</a:t>
            </a:r>
            <a:endParaRPr lang="en-US" sz="1200" dirty="0"/>
          </a:p>
        </p:txBody>
      </p:sp>
      <p:sp>
        <p:nvSpPr>
          <p:cNvPr id="61" name="chip Newman · GitHub Actions"/>
          <p:cNvSpPr/>
          <p:nvPr/>
        </p:nvSpPr>
        <p:spPr>
          <a:xfrm>
            <a:off x="548640" y="5806440"/>
            <a:ext cx="1988820" cy="347472"/>
          </a:xfrm>
          <a:prstGeom prst="roundRect">
            <a:avLst>
              <a:gd name="adj" fmla="val 21053"/>
            </a:avLst>
          </a:prstGeom>
          <a:solidFill>
            <a:srgbClr val="E2E8F0"/>
          </a:solidFill>
          <a:ln w="9525">
            <a:solidFill>
              <a:srgbClr val="E2E8F0"/>
            </a:solidFill>
            <a:prstDash val="solid"/>
          </a:ln>
        </p:spPr>
      </p:sp>
      <p:sp>
        <p:nvSpPr>
          <p:cNvPr id="62" name="Text 60"/>
          <p:cNvSpPr txBox="1"/>
          <p:nvPr/>
        </p:nvSpPr>
        <p:spPr>
          <a:xfrm>
            <a:off x="548640" y="5806440"/>
            <a:ext cx="1988820"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Newman · GitHub Actions</a:t>
            </a:r>
            <a:endParaRPr lang="en-US" sz="1200" dirty="0"/>
          </a:p>
        </p:txBody>
      </p:sp>
      <p:sp>
        <p:nvSpPr>
          <p:cNvPr id="63" name="chip Docker"/>
          <p:cNvSpPr/>
          <p:nvPr/>
        </p:nvSpPr>
        <p:spPr>
          <a:xfrm>
            <a:off x="2647188" y="5806440"/>
            <a:ext cx="667512" cy="347472"/>
          </a:xfrm>
          <a:prstGeom prst="roundRect">
            <a:avLst>
              <a:gd name="adj" fmla="val 21053"/>
            </a:avLst>
          </a:prstGeom>
          <a:solidFill>
            <a:srgbClr val="E2E8F0"/>
          </a:solidFill>
          <a:ln w="9525">
            <a:solidFill>
              <a:srgbClr val="E2E8F0"/>
            </a:solidFill>
            <a:prstDash val="solid"/>
          </a:ln>
        </p:spPr>
      </p:sp>
      <p:sp>
        <p:nvSpPr>
          <p:cNvPr id="64" name="Text 62"/>
          <p:cNvSpPr txBox="1"/>
          <p:nvPr/>
        </p:nvSpPr>
        <p:spPr>
          <a:xfrm>
            <a:off x="2647188" y="5806440"/>
            <a:ext cx="667512"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Docker</a:t>
            </a:r>
            <a:endParaRPr lang="en-US" sz="1200" dirty="0"/>
          </a:p>
        </p:txBody>
      </p:sp>
      <p:sp>
        <p:nvSpPr>
          <p:cNvPr id="65" name="chip PyPI package"/>
          <p:cNvSpPr/>
          <p:nvPr/>
        </p:nvSpPr>
        <p:spPr>
          <a:xfrm>
            <a:off x="3424428" y="5806440"/>
            <a:ext cx="1133856" cy="347472"/>
          </a:xfrm>
          <a:prstGeom prst="roundRect">
            <a:avLst>
              <a:gd name="adj" fmla="val 21053"/>
            </a:avLst>
          </a:prstGeom>
          <a:solidFill>
            <a:srgbClr val="E2E8F0"/>
          </a:solidFill>
          <a:ln w="9525">
            <a:solidFill>
              <a:srgbClr val="E2E8F0"/>
            </a:solidFill>
            <a:prstDash val="solid"/>
          </a:ln>
        </p:spPr>
      </p:sp>
      <p:sp>
        <p:nvSpPr>
          <p:cNvPr id="66" name="Text 64"/>
          <p:cNvSpPr txBox="1"/>
          <p:nvPr/>
        </p:nvSpPr>
        <p:spPr>
          <a:xfrm>
            <a:off x="3424428" y="5806440"/>
            <a:ext cx="1133856" cy="347472"/>
          </a:xfrm>
          <a:prstGeom prst="rect">
            <a:avLst/>
          </a:prstGeom>
          <a:noFill/>
          <a:ln/>
        </p:spPr>
        <p:txBody>
          <a:bodyPr wrap="square" lIns="0" tIns="0" rIns="0" bIns="0" rtlCol="0" anchor="ctr"/>
          <a:lstStyle/>
          <a:p>
            <a:pPr algn="ctr" indent="0" marL="0">
              <a:buNone/>
            </a:pPr>
            <a:r>
              <a:rPr lang="en-US" sz="1200" dirty="0">
                <a:solidFill>
                  <a:srgbClr val="0B1D33"/>
                </a:solidFill>
                <a:latin typeface="Calibri" pitchFamily="34" charset="0"/>
                <a:ea typeface="Calibri" pitchFamily="34" charset="-122"/>
                <a:cs typeface="Calibri" pitchFamily="34" charset="-120"/>
              </a:rPr>
              <a:t>PyPI package</a:t>
            </a:r>
            <a:endParaRPr lang="en-US" sz="1200" dirty="0"/>
          </a:p>
        </p:txBody>
      </p:sp>
      <p:sp>
        <p:nvSpPr>
          <p:cNvPr id="67" name="Text 65"/>
          <p:cNvSpPr txBox="1"/>
          <p:nvPr/>
        </p:nvSpPr>
        <p:spPr>
          <a:xfrm>
            <a:off x="6172200" y="3977640"/>
            <a:ext cx="5486400" cy="36576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Short-term shortcuts we refused</a:t>
            </a:r>
            <a:endParaRPr lang="en-US" sz="1800" dirty="0"/>
          </a:p>
        </p:txBody>
      </p:sp>
      <p:pic>
        <p:nvPicPr>
          <p:cNvPr id="68" name="check 1" descr="instead">    </p:cNvPr>
          <p:cNvPicPr>
            <a:picLocks noChangeAspect="1"/>
          </p:cNvPicPr>
          <p:nvPr/>
        </p:nvPicPr>
        <p:blipFill>
          <a:blip r:embed="rId1"/>
          <a:stretch>
            <a:fillRect/>
          </a:stretch>
        </p:blipFill>
        <p:spPr>
          <a:xfrm>
            <a:off x="6172200" y="4498848"/>
            <a:ext cx="237744" cy="237744"/>
          </a:xfrm>
          <a:prstGeom prst="rect">
            <a:avLst/>
          </a:prstGeom>
        </p:spPr>
      </p:pic>
      <p:sp>
        <p:nvSpPr>
          <p:cNvPr id="69" name="Text 66"/>
          <p:cNvSpPr txBox="1"/>
          <p:nvPr/>
        </p:nvSpPr>
        <p:spPr>
          <a:xfrm>
            <a:off x="6510528" y="4434840"/>
            <a:ext cx="5120640" cy="365760"/>
          </a:xfrm>
          <a:prstGeom prst="rect">
            <a:avLst/>
          </a:prstGeom>
          <a:noFill/>
          <a:ln/>
        </p:spPr>
        <p:txBody>
          <a:bodyPr wrap="square" lIns="0" tIns="0" rIns="0" bIns="0" rtlCol="0" anchor="ctr"/>
          <a:lstStyle/>
          <a:p>
            <a:pPr indent="0" marL="0">
              <a:buNone/>
            </a:pPr>
            <a:r>
              <a:rPr lang="en-US" sz="1400" b="1" dirty="0">
                <a:solidFill>
                  <a:srgbClr val="0B1D33"/>
                </a:solidFill>
                <a:latin typeface="Calibri" pitchFamily="34" charset="0"/>
                <a:ea typeface="Calibri" pitchFamily="34" charset="-122"/>
                <a:cs typeface="Calibri" pitchFamily="34" charset="-120"/>
              </a:rPr>
              <a:t>No regex SQL parsing: </a:t>
            </a:r>
            <a:pPr indent="0" marL="0">
              <a:buNone/>
            </a:pPr>
            <a:r>
              <a:rPr lang="en-US" sz="1400" dirty="0">
                <a:solidFill>
                  <a:srgbClr val="1E3A5F"/>
                </a:solidFill>
                <a:latin typeface="Calibri" pitchFamily="34" charset="0"/>
                <a:ea typeface="Calibri" pitchFamily="34" charset="-122"/>
                <a:cs typeface="Calibri" pitchFamily="34" charset="-120"/>
              </a:rPr>
              <a:t>a real AST: CTEs, joins, window functions</a:t>
            </a:r>
            <a:endParaRPr lang="en-US" sz="1400" dirty="0"/>
          </a:p>
        </p:txBody>
      </p:sp>
      <p:pic>
        <p:nvPicPr>
          <p:cNvPr id="70" name="check 2" descr="instead">    </p:cNvPr>
          <p:cNvPicPr>
            <a:picLocks noChangeAspect="1"/>
          </p:cNvPicPr>
          <p:nvPr/>
        </p:nvPicPr>
        <p:blipFill>
          <a:blip r:embed="rId2"/>
          <a:stretch>
            <a:fillRect/>
          </a:stretch>
        </p:blipFill>
        <p:spPr>
          <a:xfrm>
            <a:off x="6172200" y="4956048"/>
            <a:ext cx="237744" cy="237744"/>
          </a:xfrm>
          <a:prstGeom prst="rect">
            <a:avLst/>
          </a:prstGeom>
        </p:spPr>
      </p:pic>
      <p:sp>
        <p:nvSpPr>
          <p:cNvPr id="71" name="Text 67"/>
          <p:cNvSpPr txBox="1"/>
          <p:nvPr/>
        </p:nvSpPr>
        <p:spPr>
          <a:xfrm>
            <a:off x="6510528" y="4892040"/>
            <a:ext cx="5120640" cy="365760"/>
          </a:xfrm>
          <a:prstGeom prst="rect">
            <a:avLst/>
          </a:prstGeom>
          <a:noFill/>
          <a:ln/>
        </p:spPr>
        <p:txBody>
          <a:bodyPr wrap="square" lIns="0" tIns="0" rIns="0" bIns="0" rtlCol="0" anchor="ctr"/>
          <a:lstStyle/>
          <a:p>
            <a:pPr indent="0" marL="0">
              <a:buNone/>
            </a:pPr>
            <a:r>
              <a:rPr lang="en-US" sz="1400" b="1" dirty="0">
                <a:solidFill>
                  <a:srgbClr val="0B1D33"/>
                </a:solidFill>
                <a:latin typeface="Calibri" pitchFamily="34" charset="0"/>
                <a:ea typeface="Calibri" pitchFamily="34" charset="-122"/>
                <a:cs typeface="Calibri" pitchFamily="34" charset="-120"/>
              </a:rPr>
              <a:t>No screen-only masking: </a:t>
            </a:r>
            <a:pPr indent="0" marL="0">
              <a:buNone/>
            </a:pPr>
            <a:r>
              <a:rPr lang="en-US" sz="1400" dirty="0">
                <a:solidFill>
                  <a:srgbClr val="1E3A5F"/>
                </a:solidFill>
                <a:latin typeface="Calibri" pitchFamily="34" charset="0"/>
                <a:ea typeface="Calibri" pitchFamily="34" charset="-122"/>
                <a:cs typeface="Calibri" pitchFamily="34" charset="-120"/>
              </a:rPr>
              <a:t>masked views, so filters see masked values</a:t>
            </a:r>
            <a:endParaRPr lang="en-US" sz="1400" dirty="0"/>
          </a:p>
        </p:txBody>
      </p:sp>
      <p:pic>
        <p:nvPicPr>
          <p:cNvPr id="72" name="check 3" descr="instead">    </p:cNvPr>
          <p:cNvPicPr>
            <a:picLocks noChangeAspect="1"/>
          </p:cNvPicPr>
          <p:nvPr/>
        </p:nvPicPr>
        <p:blipFill>
          <a:blip r:embed="rId3"/>
          <a:stretch>
            <a:fillRect/>
          </a:stretch>
        </p:blipFill>
        <p:spPr>
          <a:xfrm>
            <a:off x="6172200" y="5413248"/>
            <a:ext cx="237744" cy="237744"/>
          </a:xfrm>
          <a:prstGeom prst="rect">
            <a:avLst/>
          </a:prstGeom>
        </p:spPr>
      </p:pic>
      <p:sp>
        <p:nvSpPr>
          <p:cNvPr id="73" name="Text 68"/>
          <p:cNvSpPr txBox="1"/>
          <p:nvPr/>
        </p:nvSpPr>
        <p:spPr>
          <a:xfrm>
            <a:off x="6510528" y="5349240"/>
            <a:ext cx="5120640" cy="365760"/>
          </a:xfrm>
          <a:prstGeom prst="rect">
            <a:avLst/>
          </a:prstGeom>
          <a:noFill/>
          <a:ln/>
        </p:spPr>
        <p:txBody>
          <a:bodyPr wrap="square" lIns="0" tIns="0" rIns="0" bIns="0" rtlCol="0" anchor="ctr"/>
          <a:lstStyle/>
          <a:p>
            <a:pPr indent="0" marL="0">
              <a:buNone/>
            </a:pPr>
            <a:r>
              <a:rPr lang="en-US" sz="1400" b="1" dirty="0">
                <a:solidFill>
                  <a:srgbClr val="0B1D33"/>
                </a:solidFill>
                <a:latin typeface="Calibri" pitchFamily="34" charset="0"/>
                <a:ea typeface="Calibri" pitchFamily="34" charset="-122"/>
                <a:cs typeface="Calibri" pitchFamily="34" charset="-120"/>
              </a:rPr>
              <a:t>No copies of the data: </a:t>
            </a:r>
            <a:pPr indent="0" marL="0">
              <a:buNone/>
            </a:pPr>
            <a:r>
              <a:rPr lang="en-US" sz="1400" dirty="0">
                <a:solidFill>
                  <a:srgbClr val="1E3A5F"/>
                </a:solidFill>
                <a:latin typeface="Calibri" pitchFamily="34" charset="0"/>
                <a:ea typeface="Calibri" pitchFamily="34" charset="-122"/>
                <a:cs typeface="Calibri" pitchFamily="34" charset="-120"/>
              </a:rPr>
              <a:t>query-time only; digests prove it</a:t>
            </a:r>
            <a:endParaRPr lang="en-US" sz="1400" dirty="0"/>
          </a:p>
        </p:txBody>
      </p:sp>
      <p:pic>
        <p:nvPicPr>
          <p:cNvPr id="74" name="check 4" descr="instead">    </p:cNvPr>
          <p:cNvPicPr>
            <a:picLocks noChangeAspect="1"/>
          </p:cNvPicPr>
          <p:nvPr/>
        </p:nvPicPr>
        <p:blipFill>
          <a:blip r:embed="rId4"/>
          <a:stretch>
            <a:fillRect/>
          </a:stretch>
        </p:blipFill>
        <p:spPr>
          <a:xfrm>
            <a:off x="6172200" y="5870448"/>
            <a:ext cx="237744" cy="237744"/>
          </a:xfrm>
          <a:prstGeom prst="rect">
            <a:avLst/>
          </a:prstGeom>
        </p:spPr>
      </p:pic>
      <p:sp>
        <p:nvSpPr>
          <p:cNvPr id="75" name="Text 69"/>
          <p:cNvSpPr txBox="1"/>
          <p:nvPr/>
        </p:nvSpPr>
        <p:spPr>
          <a:xfrm>
            <a:off x="6510528" y="5806440"/>
            <a:ext cx="5120640" cy="365760"/>
          </a:xfrm>
          <a:prstGeom prst="rect">
            <a:avLst/>
          </a:prstGeom>
          <a:noFill/>
          <a:ln/>
        </p:spPr>
        <p:txBody>
          <a:bodyPr wrap="square" lIns="0" tIns="0" rIns="0" bIns="0" rtlCol="0" anchor="ctr"/>
          <a:lstStyle/>
          <a:p>
            <a:pPr indent="0" marL="0">
              <a:buNone/>
            </a:pPr>
            <a:r>
              <a:rPr lang="en-US" sz="1400" b="1" dirty="0">
                <a:solidFill>
                  <a:srgbClr val="0B1D33"/>
                </a:solidFill>
                <a:latin typeface="Calibri" pitchFamily="34" charset="0"/>
                <a:ea typeface="Calibri" pitchFamily="34" charset="-122"/>
                <a:cs typeface="Calibri" pitchFamily="34" charset="-120"/>
              </a:rPr>
              <a:t>No unsafe defaults: </a:t>
            </a:r>
            <a:pPr indent="0" marL="0">
              <a:buNone/>
            </a:pPr>
            <a:r>
              <a:rPr lang="en-US" sz="1400" dirty="0">
                <a:solidFill>
                  <a:srgbClr val="1E3A5F"/>
                </a:solidFill>
                <a:latin typeface="Calibri" pitchFamily="34" charset="0"/>
                <a:ea typeface="Calibri" pitchFamily="34" charset="-122"/>
                <a:cs typeface="Calibri" pitchFamily="34" charset="-120"/>
              </a:rPr>
              <a:t>production refuses to start until safe</a:t>
            </a:r>
            <a:endParaRPr lang="en-US" sz="1400" dirty="0"/>
          </a:p>
        </p:txBody>
      </p:sp>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where judgement is needed, rules where certainty is needed</a:t>
            </a:r>
            <a:endParaRPr lang="en-US" sz="3000" dirty="0"/>
          </a:p>
        </p:txBody>
      </p:sp>
      <p:pic>
        <p:nvPicPr>
          <p:cNvPr id="3" name="scanner decision flow" descr="Scanner decision flow: checksum passes -&gt; tagged; else LightGBM p&gt;=0.5 -&gt; tagged; else name agrees with value shape -&gt; tagged; else identifiers inside free text -&gt; tagged; else UNREVIEWED (masked for all but admin), then a person reviews.">    </p:cNvPr>
          <p:cNvPicPr>
            <a:picLocks noChangeAspect="1"/>
          </p:cNvPicPr>
          <p:nvPr/>
        </p:nvPicPr>
        <p:blipFill>
          <a:blip r:embed="rId1"/>
          <a:stretch>
            <a:fillRect/>
          </a:stretch>
        </p:blipFill>
        <p:spPr>
          <a:xfrm>
            <a:off x="685800" y="1188720"/>
            <a:ext cx="10789920" cy="2706645"/>
          </a:xfrm>
          <a:prstGeom prst="rect">
            <a:avLst/>
          </a:prstGeom>
        </p:spPr>
      </p:pic>
      <p:sp>
        <p:nvSpPr>
          <p:cNvPr id="4" name="ai card 1"/>
          <p:cNvSpPr/>
          <p:nvPr/>
        </p:nvSpPr>
        <p:spPr>
          <a:xfrm>
            <a:off x="548640" y="4069080"/>
            <a:ext cx="3520440" cy="2103120"/>
          </a:xfrm>
          <a:prstGeom prst="roundRect">
            <a:avLst>
              <a:gd name="adj" fmla="val 3478"/>
            </a:avLst>
          </a:prstGeom>
          <a:solidFill>
            <a:srgbClr val="FDEBD0"/>
          </a:solidFill>
          <a:ln w="9525">
            <a:solidFill>
              <a:srgbClr val="FDEBD0"/>
            </a:solidFill>
            <a:prstDash val="solid"/>
          </a:ln>
        </p:spPr>
      </p:sp>
      <p:sp>
        <p:nvSpPr>
          <p:cNvPr id="5" name="Why ML for discovery circle"/>
          <p:cNvSpPr/>
          <p:nvPr/>
        </p:nvSpPr>
        <p:spPr>
          <a:xfrm>
            <a:off x="749808" y="4224528"/>
            <a:ext cx="502920" cy="502920"/>
          </a:xfrm>
          <a:prstGeom prst="ellipse">
            <a:avLst/>
          </a:prstGeom>
          <a:solidFill>
            <a:srgbClr val="0B1D33"/>
          </a:solidFill>
          <a:ln w="12700">
            <a:solidFill>
              <a:srgbClr val="0B1D33"/>
            </a:solidFill>
            <a:prstDash val="solid"/>
          </a:ln>
        </p:spPr>
      </p:sp>
      <p:pic>
        <p:nvPicPr>
          <p:cNvPr id="6" name="Why ML for discovery icon" descr="Why ML for discovery">    </p:cNvPr>
          <p:cNvPicPr>
            <a:picLocks noChangeAspect="1"/>
          </p:cNvPicPr>
          <p:nvPr/>
        </p:nvPicPr>
        <p:blipFill>
          <a:blip r:embed="rId2"/>
          <a:stretch>
            <a:fillRect/>
          </a:stretch>
        </p:blipFill>
        <p:spPr>
          <a:xfrm>
            <a:off x="870509" y="4345229"/>
            <a:ext cx="261518" cy="261518"/>
          </a:xfrm>
          <a:prstGeom prst="rect">
            <a:avLst/>
          </a:prstGeom>
        </p:spPr>
      </p:pic>
      <p:sp>
        <p:nvSpPr>
          <p:cNvPr id="7" name="Text 3"/>
          <p:cNvSpPr txBox="1"/>
          <p:nvPr/>
        </p:nvSpPr>
        <p:spPr>
          <a:xfrm>
            <a:off x="1371600" y="4224528"/>
            <a:ext cx="2606040" cy="502920"/>
          </a:xfrm>
          <a:prstGeom prst="rect">
            <a:avLst/>
          </a:prstGeom>
          <a:noFill/>
          <a:ln/>
        </p:spPr>
        <p:txBody>
          <a:bodyPr wrap="square" lIns="0" tIns="0" rIns="0" bIns="0" rtlCol="0" anchor="ctr"/>
          <a:lstStyle/>
          <a:p>
            <a:pPr indent="0" marL="0">
              <a:buNone/>
            </a:pPr>
            <a:r>
              <a:rPr lang="en-US" sz="1700" b="1" dirty="0">
                <a:solidFill>
                  <a:srgbClr val="0B1D33"/>
                </a:solidFill>
                <a:latin typeface="Cambria" pitchFamily="34" charset="0"/>
                <a:ea typeface="Cambria" pitchFamily="34" charset="-122"/>
                <a:cs typeface="Cambria" pitchFamily="34" charset="-120"/>
              </a:rPr>
              <a:t>Why ML for discovery</a:t>
            </a:r>
            <a:endParaRPr lang="en-US" sz="1700" dirty="0"/>
          </a:p>
        </p:txBody>
      </p:sp>
      <p:sp>
        <p:nvSpPr>
          <p:cNvPr id="8" name="Text 4"/>
          <p:cNvSpPr txBox="1"/>
          <p:nvPr/>
        </p:nvSpPr>
        <p:spPr>
          <a:xfrm>
            <a:off x="749808" y="4818888"/>
            <a:ext cx="3154680" cy="1280160"/>
          </a:xfrm>
          <a:prstGeom prst="rect">
            <a:avLst/>
          </a:prstGeom>
          <a:noFill/>
          <a:ln/>
        </p:spPr>
        <p:txBody>
          <a:bodyPr wrap="square" lIns="0" tIns="0" rIns="0" bIns="0" rtlCol="0" anchor="t"/>
          <a:lstStyle/>
          <a:p>
            <a:pPr indent="0" marL="0">
              <a:buNone/>
            </a:pPr>
            <a:r>
              <a:rPr lang="en-US" sz="1350" dirty="0">
                <a:solidFill>
                  <a:srgbClr val="1E3A5F"/>
                </a:solidFill>
                <a:latin typeface="Calibri" pitchFamily="34" charset="0"/>
                <a:ea typeface="Calibri" pitchFamily="34" charset="-122"/>
                <a:cs typeface="Calibri" pitchFamily="34" charset="-120"/>
              </a:rPr>
              <a:t>Column names lie and identifiers fail their checksums. On misleading column names the model scores 0.999 macro-F1 where regex + checksums score 0.844 (bharat-pii-bench, unseen seeds).</a:t>
            </a:r>
            <a:endParaRPr lang="en-US" sz="1350" dirty="0"/>
          </a:p>
        </p:txBody>
      </p:sp>
      <p:sp>
        <p:nvSpPr>
          <p:cNvPr id="9" name="ai card 2"/>
          <p:cNvSpPr/>
          <p:nvPr/>
        </p:nvSpPr>
        <p:spPr>
          <a:xfrm>
            <a:off x="4297680" y="4069080"/>
            <a:ext cx="3520440" cy="2103120"/>
          </a:xfrm>
          <a:prstGeom prst="roundRect">
            <a:avLst>
              <a:gd name="adj" fmla="val 3478"/>
            </a:avLst>
          </a:prstGeom>
          <a:solidFill>
            <a:srgbClr val="F1F5F9"/>
          </a:solidFill>
          <a:ln w="9525">
            <a:solidFill>
              <a:srgbClr val="F1F5F9"/>
            </a:solidFill>
            <a:prstDash val="solid"/>
          </a:ln>
        </p:spPr>
      </p:sp>
      <p:sp>
        <p:nvSpPr>
          <p:cNvPr id="10" name="Why rules decide access circle"/>
          <p:cNvSpPr/>
          <p:nvPr/>
        </p:nvSpPr>
        <p:spPr>
          <a:xfrm>
            <a:off x="4498848" y="4224528"/>
            <a:ext cx="502920" cy="502920"/>
          </a:xfrm>
          <a:prstGeom prst="ellipse">
            <a:avLst/>
          </a:prstGeom>
          <a:solidFill>
            <a:srgbClr val="0B1D33"/>
          </a:solidFill>
          <a:ln w="12700">
            <a:solidFill>
              <a:srgbClr val="0B1D33"/>
            </a:solidFill>
            <a:prstDash val="solid"/>
          </a:ln>
        </p:spPr>
      </p:sp>
      <p:pic>
        <p:nvPicPr>
          <p:cNvPr id="11" name="Why rules decide access icon" descr="Why rules decide access">    </p:cNvPr>
          <p:cNvPicPr>
            <a:picLocks noChangeAspect="1"/>
          </p:cNvPicPr>
          <p:nvPr/>
        </p:nvPicPr>
        <p:blipFill>
          <a:blip r:embed="rId3"/>
          <a:stretch>
            <a:fillRect/>
          </a:stretch>
        </p:blipFill>
        <p:spPr>
          <a:xfrm>
            <a:off x="4619549" y="4345229"/>
            <a:ext cx="261518" cy="261518"/>
          </a:xfrm>
          <a:prstGeom prst="rect">
            <a:avLst/>
          </a:prstGeom>
        </p:spPr>
      </p:pic>
      <p:sp>
        <p:nvSpPr>
          <p:cNvPr id="12" name="Text 7"/>
          <p:cNvSpPr txBox="1"/>
          <p:nvPr/>
        </p:nvSpPr>
        <p:spPr>
          <a:xfrm>
            <a:off x="5120640" y="4224528"/>
            <a:ext cx="2606040" cy="502920"/>
          </a:xfrm>
          <a:prstGeom prst="rect">
            <a:avLst/>
          </a:prstGeom>
          <a:noFill/>
          <a:ln/>
        </p:spPr>
        <p:txBody>
          <a:bodyPr wrap="square" lIns="0" tIns="0" rIns="0" bIns="0" rtlCol="0" anchor="ctr"/>
          <a:lstStyle/>
          <a:p>
            <a:pPr indent="0" marL="0">
              <a:buNone/>
            </a:pPr>
            <a:r>
              <a:rPr lang="en-US" sz="1700" b="1" dirty="0">
                <a:solidFill>
                  <a:srgbClr val="0B1D33"/>
                </a:solidFill>
                <a:latin typeface="Cambria" pitchFamily="34" charset="0"/>
                <a:ea typeface="Cambria" pitchFamily="34" charset="-122"/>
                <a:cs typeface="Cambria" pitchFamily="34" charset="-120"/>
              </a:rPr>
              <a:t>Why rules decide access</a:t>
            </a:r>
            <a:endParaRPr lang="en-US" sz="1700" dirty="0"/>
          </a:p>
        </p:txBody>
      </p:sp>
      <p:sp>
        <p:nvSpPr>
          <p:cNvPr id="13" name="Text 8"/>
          <p:cNvSpPr txBox="1"/>
          <p:nvPr/>
        </p:nvSpPr>
        <p:spPr>
          <a:xfrm>
            <a:off x="4498848" y="4818888"/>
            <a:ext cx="3154680" cy="1280160"/>
          </a:xfrm>
          <a:prstGeom prst="rect">
            <a:avLst/>
          </a:prstGeom>
          <a:noFill/>
          <a:ln/>
        </p:spPr>
        <p:txBody>
          <a:bodyPr wrap="square" lIns="0" tIns="0" rIns="0" bIns="0" rtlCol="0" anchor="t"/>
          <a:lstStyle/>
          <a:p>
            <a:pPr indent="0" marL="0">
              <a:buNone/>
            </a:pPr>
            <a:r>
              <a:rPr lang="en-US" sz="1350" dirty="0">
                <a:solidFill>
                  <a:srgbClr val="1E3A5F"/>
                </a:solidFill>
                <a:latin typeface="Calibri" pitchFamily="34" charset="0"/>
                <a:ea typeface="Calibri" pitchFamily="34" charset="-122"/>
                <a:cs typeface="Calibri" pitchFamily="34" charset="-120"/>
              </a:rPr>
              <a:t>Who sees what is a deterministic policy applied by AST rewrite: explainable, testable, reproducible. AI suggests a tag; the policy decides; a person approves.</a:t>
            </a:r>
            <a:endParaRPr lang="en-US" sz="1350" dirty="0"/>
          </a:p>
        </p:txBody>
      </p:sp>
      <p:sp>
        <p:nvSpPr>
          <p:cNvPr id="14" name="ai card 3"/>
          <p:cNvSpPr/>
          <p:nvPr/>
        </p:nvSpPr>
        <p:spPr>
          <a:xfrm>
            <a:off x="8046720" y="4069080"/>
            <a:ext cx="3520440" cy="2103120"/>
          </a:xfrm>
          <a:prstGeom prst="roundRect">
            <a:avLst>
              <a:gd name="adj" fmla="val 3478"/>
            </a:avLst>
          </a:prstGeom>
          <a:solidFill>
            <a:srgbClr val="F1F5F9"/>
          </a:solidFill>
          <a:ln w="9525">
            <a:solidFill>
              <a:srgbClr val="F1F5F9"/>
            </a:solidFill>
            <a:prstDash val="solid"/>
          </a:ln>
        </p:spPr>
      </p:sp>
      <p:sp>
        <p:nvSpPr>
          <p:cNvPr id="15" name="How we used AI to build it circle"/>
          <p:cNvSpPr/>
          <p:nvPr/>
        </p:nvSpPr>
        <p:spPr>
          <a:xfrm>
            <a:off x="8247888" y="4224528"/>
            <a:ext cx="502920" cy="502920"/>
          </a:xfrm>
          <a:prstGeom prst="ellipse">
            <a:avLst/>
          </a:prstGeom>
          <a:solidFill>
            <a:srgbClr val="0B1D33"/>
          </a:solidFill>
          <a:ln w="12700">
            <a:solidFill>
              <a:srgbClr val="0B1D33"/>
            </a:solidFill>
            <a:prstDash val="solid"/>
          </a:ln>
        </p:spPr>
      </p:sp>
      <p:pic>
        <p:nvPicPr>
          <p:cNvPr id="16" name="How we used AI to build it icon" descr="How we used AI to build it">    </p:cNvPr>
          <p:cNvPicPr>
            <a:picLocks noChangeAspect="1"/>
          </p:cNvPicPr>
          <p:nvPr/>
        </p:nvPicPr>
        <p:blipFill>
          <a:blip r:embed="rId4"/>
          <a:stretch>
            <a:fillRect/>
          </a:stretch>
        </p:blipFill>
        <p:spPr>
          <a:xfrm>
            <a:off x="8368589" y="4345229"/>
            <a:ext cx="261518" cy="261518"/>
          </a:xfrm>
          <a:prstGeom prst="rect">
            <a:avLst/>
          </a:prstGeom>
        </p:spPr>
      </p:pic>
      <p:sp>
        <p:nvSpPr>
          <p:cNvPr id="17" name="Text 11"/>
          <p:cNvSpPr txBox="1"/>
          <p:nvPr/>
        </p:nvSpPr>
        <p:spPr>
          <a:xfrm>
            <a:off x="8869680" y="4224528"/>
            <a:ext cx="2606040" cy="502920"/>
          </a:xfrm>
          <a:prstGeom prst="rect">
            <a:avLst/>
          </a:prstGeom>
          <a:noFill/>
          <a:ln/>
        </p:spPr>
        <p:txBody>
          <a:bodyPr wrap="square" lIns="0" tIns="0" rIns="0" bIns="0" rtlCol="0" anchor="ctr"/>
          <a:lstStyle/>
          <a:p>
            <a:pPr indent="0" marL="0">
              <a:buNone/>
            </a:pPr>
            <a:r>
              <a:rPr lang="en-US" sz="1700" b="1" dirty="0">
                <a:solidFill>
                  <a:srgbClr val="0B1D33"/>
                </a:solidFill>
                <a:latin typeface="Cambria" pitchFamily="34" charset="0"/>
                <a:ea typeface="Cambria" pitchFamily="34" charset="-122"/>
                <a:cs typeface="Cambria" pitchFamily="34" charset="-120"/>
              </a:rPr>
              <a:t>How we used AI to build it</a:t>
            </a:r>
            <a:endParaRPr lang="en-US" sz="1700" dirty="0"/>
          </a:p>
        </p:txBody>
      </p:sp>
      <p:sp>
        <p:nvSpPr>
          <p:cNvPr id="18" name="Text 12"/>
          <p:cNvSpPr txBox="1"/>
          <p:nvPr/>
        </p:nvSpPr>
        <p:spPr>
          <a:xfrm>
            <a:off x="8247888" y="4818888"/>
            <a:ext cx="3154680" cy="1280160"/>
          </a:xfrm>
          <a:prstGeom prst="rect">
            <a:avLst/>
          </a:prstGeom>
          <a:noFill/>
          <a:ln/>
        </p:spPr>
        <p:txBody>
          <a:bodyPr wrap="square" lIns="0" tIns="0" rIns="0" bIns="0" rtlCol="0" anchor="t"/>
          <a:lstStyle/>
          <a:p>
            <a:pPr indent="0" marL="0">
              <a:buNone/>
            </a:pPr>
            <a:r>
              <a:rPr lang="en-US" sz="1350" dirty="0">
                <a:solidFill>
                  <a:srgbClr val="1E3A5F"/>
                </a:solidFill>
                <a:latin typeface="Calibri" pitchFamily="34" charset="0"/>
                <a:ea typeface="Calibri" pitchFamily="34" charset="-122"/>
                <a:cs typeface="Calibri" pitchFamily="34" charset="-120"/>
              </a:rPr>
              <a:t>AI pair-programming (Claude Code) for implementation speed, under human design and review. Nothing merges without tests: 1,235 tests on three databases, in CI.</a:t>
            </a:r>
            <a:endParaRPr lang="en-US" sz="1350" dirty="0"/>
          </a:p>
        </p:txBody>
      </p:sp>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Organisers' Saffron Bank data: 0 leaks, 3 databases</a:t>
            </a:r>
            <a:endParaRPr lang="en-US" sz="3000" dirty="0"/>
          </a:p>
        </p:txBody>
      </p:sp>
      <p:graphicFrame>
        <p:nvGraphicFramePr>
          <p:cNvPr id="3" name="discovery chart" descr=""/>
          <p:cNvGraphicFramePr/>
          <p:nvPr/>
        </p:nvGraphicFramePr>
        <p:xfrm>
          <a:off x="548640" y="1188720"/>
          <a:ext cx="603504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754880"/>
            <a:ext cx="6035040" cy="868680"/>
          </a:xfrm>
          <a:prstGeom prst="rect">
            <a:avLst/>
          </a:prstGeom>
          <a:noFill/>
          <a:ln/>
        </p:spPr>
        <p:txBody>
          <a:bodyPr wrap="square" lIns="0" tIns="0" rIns="0" bIns="0" rtlCol="0" anchor="t"/>
          <a:lstStyle/>
          <a:p>
            <a:pPr indent="0" marL="0">
              <a:buNone/>
            </a:pPr>
            <a:r>
              <a:rPr lang="en-US" sz="1350" b="1" dirty="0">
                <a:solidFill>
                  <a:srgbClr val="0B1D33"/>
                </a:solidFill>
                <a:latin typeface="Calibri" pitchFamily="34" charset="0"/>
                <a:ea typeface="Calibri" pitchFamily="34" charset="-122"/>
                <a:cs typeface="Calibri" pitchFamily="34" charset="-120"/>
              </a:rPr>
              <a:t>Traps passed: </a:t>
            </a:r>
            <a:pPr indent="0" marL="0">
              <a:buNone/>
            </a:pPr>
            <a:r>
              <a:rPr lang="en-US" sz="1350" dirty="0">
                <a:solidFill>
                  <a:srgbClr val="1E3A5F"/>
                </a:solidFill>
                <a:latin typeface="Calibri" pitchFamily="34" charset="0"/>
                <a:ea typeface="Calibri" pitchFamily="34" charset="-122"/>
                <a:cs typeface="Calibri" pitchFamily="34" charset="-120"/>
              </a:rPr>
              <a:t>Aadhaar numbers that fail Verhoeff · PANs with 0000 digits · PANs hidden in col_7 · card-shaped decoys in ref_no left alone · SSNs in 3 formats · Hinglish notes</a:t>
            </a:r>
            <a:endParaRPr lang="en-US" sz="1350" dirty="0"/>
          </a:p>
        </p:txBody>
      </p:sp>
      <p:sp>
        <p:nvSpPr>
          <p:cNvPr id="5" name="Text 2"/>
          <p:cNvSpPr txBox="1"/>
          <p:nvPr/>
        </p:nvSpPr>
        <p:spPr>
          <a:xfrm>
            <a:off x="548640" y="5577840"/>
            <a:ext cx="6035040" cy="685800"/>
          </a:xfrm>
          <a:prstGeom prst="rect">
            <a:avLst/>
          </a:prstGeom>
          <a:noFill/>
          <a:ln/>
        </p:spPr>
        <p:txBody>
          <a:bodyPr wrap="square" lIns="0" tIns="0" rIns="0" bIns="0" rtlCol="0" anchor="t"/>
          <a:lstStyle/>
          <a:p>
            <a:pPr indent="0" marL="0">
              <a:buNone/>
            </a:pPr>
            <a:r>
              <a:rPr lang="en-US" sz="1350" b="1" dirty="0">
                <a:solidFill>
                  <a:srgbClr val="0B1D33"/>
                </a:solidFill>
                <a:latin typeface="Calibri" pitchFamily="34" charset="0"/>
                <a:ea typeface="Calibri" pitchFamily="34" charset="-122"/>
                <a:cs typeface="Calibri" pitchFamily="34" charset="-120"/>
              </a:rPr>
              <a:t>Fixed, not hidden: </a:t>
            </a:r>
            <a:pPr indent="0" marL="0">
              <a:buNone/>
            </a:pPr>
            <a:r>
              <a:rPr lang="en-US" sz="1350" dirty="0">
                <a:solidFill>
                  <a:srgbClr val="1E3A5F"/>
                </a:solidFill>
                <a:latin typeface="Calibri" pitchFamily="34" charset="0"/>
                <a:ea typeface="Calibri" pitchFamily="34" charset="-122"/>
                <a:cs typeface="Calibri" pitchFamily="34" charset="-120"/>
              </a:rPr>
              <a:t>each first-contact miss had a general cause (banking abbreviations, checksum-failing IDs). After the fixes the external benchmark did not move.</a:t>
            </a:r>
            <a:endParaRPr lang="en-US" sz="1350" dirty="0"/>
          </a:p>
        </p:txBody>
      </p:sp>
      <p:sp>
        <p:nvSpPr>
          <p:cNvPr id="6" name="validation stat 1"/>
          <p:cNvSpPr/>
          <p:nvPr/>
        </p:nvSpPr>
        <p:spPr>
          <a:xfrm>
            <a:off x="6903720" y="1188720"/>
            <a:ext cx="4709160" cy="1508760"/>
          </a:xfrm>
          <a:prstGeom prst="roundRect">
            <a:avLst>
              <a:gd name="adj" fmla="val 4848"/>
            </a:avLst>
          </a:prstGeom>
          <a:solidFill>
            <a:srgbClr val="0B1D33"/>
          </a:solidFill>
          <a:ln w="9525">
            <a:solidFill>
              <a:srgbClr val="0B1D33"/>
            </a:solidFill>
            <a:prstDash val="solid"/>
          </a:ln>
        </p:spPr>
      </p:sp>
      <p:sp>
        <p:nvSpPr>
          <p:cNvPr id="7" name="Text 4"/>
          <p:cNvSpPr txBox="1"/>
          <p:nvPr/>
        </p:nvSpPr>
        <p:spPr>
          <a:xfrm>
            <a:off x="7132320" y="1298448"/>
            <a:ext cx="4297680" cy="566928"/>
          </a:xfrm>
          <a:prstGeom prst="rect">
            <a:avLst/>
          </a:prstGeom>
          <a:noFill/>
          <a:ln/>
        </p:spPr>
        <p:txBody>
          <a:bodyPr wrap="square" lIns="0" tIns="0" rIns="0" bIns="0" rtlCol="0" anchor="ctr"/>
          <a:lstStyle/>
          <a:p>
            <a:pPr indent="0" marL="0">
              <a:buNone/>
            </a:pPr>
            <a:r>
              <a:rPr lang="en-US" sz="3200" b="1" dirty="0">
                <a:solidFill>
                  <a:srgbClr val="D97706"/>
                </a:solidFill>
                <a:latin typeface="Cambria" pitchFamily="34" charset="0"/>
                <a:ea typeface="Cambria" pitchFamily="34" charset="-122"/>
                <a:cs typeface="Cambria" pitchFamily="34" charset="-120"/>
              </a:rPr>
              <a:t>0</a:t>
            </a:r>
            <a:endParaRPr lang="en-US" sz="3200" dirty="0"/>
          </a:p>
        </p:txBody>
      </p:sp>
      <p:sp>
        <p:nvSpPr>
          <p:cNvPr id="8" name="Text 5"/>
          <p:cNvSpPr txBox="1"/>
          <p:nvPr/>
        </p:nvSpPr>
        <p:spPr>
          <a:xfrm>
            <a:off x="7132320" y="1865376"/>
            <a:ext cx="434340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raw values returned in 13,700 masked cells</a:t>
            </a:r>
            <a:endParaRPr lang="en-US" sz="1500" dirty="0"/>
          </a:p>
        </p:txBody>
      </p:sp>
      <p:sp>
        <p:nvSpPr>
          <p:cNvPr id="9" name="Text 6"/>
          <p:cNvSpPr txBox="1"/>
          <p:nvPr/>
        </p:nvSpPr>
        <p:spPr>
          <a:xfrm>
            <a:off x="7132320" y="2194560"/>
            <a:ext cx="4343400" cy="41148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as the organisers' Support and Analyst users · SQLite · PostgreSQL 16 · MySQL 8.4</a:t>
            </a:r>
            <a:endParaRPr lang="en-US" sz="1200" dirty="0"/>
          </a:p>
        </p:txBody>
      </p:sp>
      <p:sp>
        <p:nvSpPr>
          <p:cNvPr id="10" name="validation stat 2"/>
          <p:cNvSpPr/>
          <p:nvPr/>
        </p:nvSpPr>
        <p:spPr>
          <a:xfrm>
            <a:off x="6903720" y="2880360"/>
            <a:ext cx="4709160" cy="1508760"/>
          </a:xfrm>
          <a:prstGeom prst="roundRect">
            <a:avLst>
              <a:gd name="adj" fmla="val 4848"/>
            </a:avLst>
          </a:prstGeom>
          <a:solidFill>
            <a:srgbClr val="F1F5F9"/>
          </a:solidFill>
          <a:ln w="9525">
            <a:solidFill>
              <a:srgbClr val="F1F5F9"/>
            </a:solidFill>
            <a:prstDash val="solid"/>
          </a:ln>
        </p:spPr>
      </p:sp>
      <p:sp>
        <p:nvSpPr>
          <p:cNvPr id="11" name="Text 8"/>
          <p:cNvSpPr txBox="1"/>
          <p:nvPr/>
        </p:nvSpPr>
        <p:spPr>
          <a:xfrm>
            <a:off x="7132320" y="2990088"/>
            <a:ext cx="4297680" cy="566928"/>
          </a:xfrm>
          <a:prstGeom prst="rect">
            <a:avLst/>
          </a:prstGeom>
          <a:noFill/>
          <a:ln/>
        </p:spPr>
        <p:txBody>
          <a:bodyPr wrap="square" lIns="0" tIns="0" rIns="0" bIns="0" rtlCol="0" anchor="ctr"/>
          <a:lstStyle/>
          <a:p>
            <a:pPr indent="0" marL="0">
              <a:buNone/>
            </a:pPr>
            <a:r>
              <a:rPr lang="en-US" sz="3200" b="1" dirty="0">
                <a:solidFill>
                  <a:srgbClr val="0B1D33"/>
                </a:solidFill>
                <a:latin typeface="Cambria" pitchFamily="34" charset="0"/>
                <a:ea typeface="Cambria" pitchFamily="34" charset="-122"/>
                <a:cs typeface="Cambria" pitchFamily="34" charset="-120"/>
              </a:rPr>
              <a:t>1 / 0 / 0</a:t>
            </a:r>
            <a:endParaRPr lang="en-US" sz="3200" dirty="0"/>
          </a:p>
        </p:txBody>
      </p:sp>
      <p:sp>
        <p:nvSpPr>
          <p:cNvPr id="12" name="Text 9"/>
          <p:cNvSpPr txBox="1"/>
          <p:nvPr/>
        </p:nvSpPr>
        <p:spPr>
          <a:xfrm>
            <a:off x="7132320" y="3557016"/>
            <a:ext cx="4343400" cy="329184"/>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rows found by guessing a real PAN</a:t>
            </a:r>
            <a:endParaRPr lang="en-US" sz="1500" dirty="0"/>
          </a:p>
        </p:txBody>
      </p:sp>
      <p:sp>
        <p:nvSpPr>
          <p:cNvPr id="13" name="Text 10"/>
          <p:cNvSpPr txBox="1"/>
          <p:nvPr/>
        </p:nvSpPr>
        <p:spPr>
          <a:xfrm>
            <a:off x="7132320" y="3886200"/>
            <a:ext cx="4343400" cy="41148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Admin / Support / Analyst — filters only see what the role sees</a:t>
            </a:r>
            <a:endParaRPr lang="en-US" sz="1200" dirty="0"/>
          </a:p>
        </p:txBody>
      </p:sp>
      <p:sp>
        <p:nvSpPr>
          <p:cNvPr id="14" name="validation stat 3"/>
          <p:cNvSpPr/>
          <p:nvPr/>
        </p:nvSpPr>
        <p:spPr>
          <a:xfrm>
            <a:off x="6903720" y="4572000"/>
            <a:ext cx="4709160" cy="1508760"/>
          </a:xfrm>
          <a:prstGeom prst="roundRect">
            <a:avLst>
              <a:gd name="adj" fmla="val 4848"/>
            </a:avLst>
          </a:prstGeom>
          <a:solidFill>
            <a:srgbClr val="F1F5F9"/>
          </a:solidFill>
          <a:ln w="9525">
            <a:solidFill>
              <a:srgbClr val="F1F5F9"/>
            </a:solidFill>
            <a:prstDash val="solid"/>
          </a:ln>
        </p:spPr>
      </p:sp>
      <p:sp>
        <p:nvSpPr>
          <p:cNvPr id="15" name="Text 12"/>
          <p:cNvSpPr txBox="1"/>
          <p:nvPr/>
        </p:nvSpPr>
        <p:spPr>
          <a:xfrm>
            <a:off x="7132320" y="4681728"/>
            <a:ext cx="4297680" cy="566928"/>
          </a:xfrm>
          <a:prstGeom prst="rect">
            <a:avLst/>
          </a:prstGeom>
          <a:noFill/>
          <a:ln/>
        </p:spPr>
        <p:txBody>
          <a:bodyPr wrap="square" lIns="0" tIns="0" rIns="0" bIns="0" rtlCol="0" anchor="ctr"/>
          <a:lstStyle/>
          <a:p>
            <a:pPr indent="0" marL="0">
              <a:buNone/>
            </a:pPr>
            <a:r>
              <a:rPr lang="en-US" sz="3200" b="1" dirty="0">
                <a:solidFill>
                  <a:srgbClr val="0B1D33"/>
                </a:solidFill>
                <a:latin typeface="Cambria" pitchFamily="34" charset="0"/>
                <a:ea typeface="Cambria" pitchFamily="34" charset="-122"/>
                <a:cs typeface="Cambria" pitchFamily="34" charset="-120"/>
              </a:rPr>
              <a:t>9 / 9</a:t>
            </a:r>
            <a:endParaRPr lang="en-US" sz="3200" dirty="0"/>
          </a:p>
        </p:txBody>
      </p:sp>
      <p:sp>
        <p:nvSpPr>
          <p:cNvPr id="16" name="Text 13"/>
          <p:cNvSpPr txBox="1"/>
          <p:nvPr/>
        </p:nvSpPr>
        <p:spPr>
          <a:xfrm>
            <a:off x="7132320" y="5248656"/>
            <a:ext cx="4343400" cy="329184"/>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tables identical in CSV, SQLite, PostgreSQL, MySQL</a:t>
            </a:r>
            <a:endParaRPr lang="en-US" sz="1500" dirty="0"/>
          </a:p>
        </p:txBody>
      </p:sp>
      <p:sp>
        <p:nvSpPr>
          <p:cNvPr id="17" name="Text 14"/>
          <p:cNvSpPr txBox="1"/>
          <p:nvPr/>
        </p:nvSpPr>
        <p:spPr>
          <a:xfrm>
            <a:off x="7132320" y="5577840"/>
            <a:ext cx="4343400" cy="41148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129,260 rows, checked cell by cell before testing</a:t>
            </a:r>
            <a:endParaRPr lang="en-US" sz="1200" dirty="0"/>
          </a:p>
        </p:txBody>
      </p:sp>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Same query, three organiser users, three different answers</a:t>
            </a:r>
            <a:endParaRPr lang="en-US" sz="3000" dirty="0"/>
          </a:p>
        </p:txBody>
      </p:sp>
      <p:pic>
        <p:nvPicPr>
          <p:cNvPr id="3" name="roles screenshot" descr="Real MaskGuard CLI output on Saffron Bank: admin_anita sees real names, phones, PAN, Aadhaar, account numbers and balances; support_ravi sees partial masks and balances rounded to 10,000; analyst_kavya sees redacted names and 128-bit tokens.">    </p:cNvPr>
          <p:cNvPicPr>
            <a:picLocks noChangeAspect="1"/>
          </p:cNvPicPr>
          <p:nvPr/>
        </p:nvPicPr>
        <p:blipFill>
          <a:blip r:embed="rId1"/>
          <a:stretch>
            <a:fillRect/>
          </a:stretch>
        </p:blipFill>
        <p:spPr>
          <a:xfrm>
            <a:off x="548640" y="1188720"/>
            <a:ext cx="6949440" cy="4769873"/>
          </a:xfrm>
          <a:prstGeom prst="rect">
            <a:avLst/>
          </a:prstGeom>
        </p:spPr>
      </p:pic>
      <p:sp>
        <p:nvSpPr>
          <p:cNvPr id="4" name="role card Admin"/>
          <p:cNvSpPr/>
          <p:nvPr/>
        </p:nvSpPr>
        <p:spPr>
          <a:xfrm>
            <a:off x="7680960" y="1188720"/>
            <a:ext cx="3931920" cy="1417320"/>
          </a:xfrm>
          <a:prstGeom prst="roundRect">
            <a:avLst>
              <a:gd name="adj" fmla="val 5161"/>
            </a:avLst>
          </a:prstGeom>
          <a:solidFill>
            <a:srgbClr val="F1F5F9"/>
          </a:solidFill>
          <a:ln w="9525">
            <a:solidFill>
              <a:srgbClr val="F1F5F9"/>
            </a:solidFill>
            <a:prstDash val="solid"/>
          </a:ln>
        </p:spPr>
      </p:sp>
      <p:sp>
        <p:nvSpPr>
          <p:cNvPr id="5" name="Admin circle"/>
          <p:cNvSpPr/>
          <p:nvPr/>
        </p:nvSpPr>
        <p:spPr>
          <a:xfrm>
            <a:off x="7863840" y="1353312"/>
            <a:ext cx="548640" cy="548640"/>
          </a:xfrm>
          <a:prstGeom prst="ellipse">
            <a:avLst/>
          </a:prstGeom>
          <a:solidFill>
            <a:srgbClr val="0B1D33"/>
          </a:solidFill>
          <a:ln w="12700">
            <a:solidFill>
              <a:srgbClr val="0B1D33"/>
            </a:solidFill>
            <a:prstDash val="solid"/>
          </a:ln>
        </p:spPr>
      </p:sp>
      <p:pic>
        <p:nvPicPr>
          <p:cNvPr id="6" name="Admin icon" descr="Admin">    </p:cNvPr>
          <p:cNvPicPr>
            <a:picLocks noChangeAspect="1"/>
          </p:cNvPicPr>
          <p:nvPr/>
        </p:nvPicPr>
        <p:blipFill>
          <a:blip r:embed="rId2"/>
          <a:stretch>
            <a:fillRect/>
          </a:stretch>
        </p:blipFill>
        <p:spPr>
          <a:xfrm>
            <a:off x="7995514" y="1484986"/>
            <a:ext cx="285293" cy="285293"/>
          </a:xfrm>
          <a:prstGeom prst="rect">
            <a:avLst/>
          </a:prstGeom>
        </p:spPr>
      </p:pic>
      <p:sp>
        <p:nvSpPr>
          <p:cNvPr id="7" name="Text 3"/>
          <p:cNvSpPr txBox="1"/>
          <p:nvPr/>
        </p:nvSpPr>
        <p:spPr>
          <a:xfrm>
            <a:off x="8577072" y="1353312"/>
            <a:ext cx="2926080" cy="54864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Admin</a:t>
            </a:r>
            <a:endParaRPr lang="en-US" sz="1800" dirty="0"/>
          </a:p>
        </p:txBody>
      </p:sp>
      <p:sp>
        <p:nvSpPr>
          <p:cNvPr id="8" name="Text 4"/>
          <p:cNvSpPr txBox="1"/>
          <p:nvPr/>
        </p:nvSpPr>
        <p:spPr>
          <a:xfrm>
            <a:off x="7863840" y="1965960"/>
            <a:ext cx="3611880" cy="59436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Real values. Every query audited with a request id and policy version.</a:t>
            </a:r>
            <a:endParaRPr lang="en-US" sz="1300" dirty="0"/>
          </a:p>
        </p:txBody>
      </p:sp>
      <p:sp>
        <p:nvSpPr>
          <p:cNvPr id="9" name="role card Support"/>
          <p:cNvSpPr/>
          <p:nvPr/>
        </p:nvSpPr>
        <p:spPr>
          <a:xfrm>
            <a:off x="7680960" y="2788920"/>
            <a:ext cx="3931920" cy="1417320"/>
          </a:xfrm>
          <a:prstGeom prst="roundRect">
            <a:avLst>
              <a:gd name="adj" fmla="val 5161"/>
            </a:avLst>
          </a:prstGeom>
          <a:solidFill>
            <a:srgbClr val="F1F5F9"/>
          </a:solidFill>
          <a:ln w="9525">
            <a:solidFill>
              <a:srgbClr val="F1F5F9"/>
            </a:solidFill>
            <a:prstDash val="solid"/>
          </a:ln>
        </p:spPr>
      </p:sp>
      <p:sp>
        <p:nvSpPr>
          <p:cNvPr id="10" name="Support circle"/>
          <p:cNvSpPr/>
          <p:nvPr/>
        </p:nvSpPr>
        <p:spPr>
          <a:xfrm>
            <a:off x="7863840" y="2953512"/>
            <a:ext cx="548640" cy="548640"/>
          </a:xfrm>
          <a:prstGeom prst="ellipse">
            <a:avLst/>
          </a:prstGeom>
          <a:solidFill>
            <a:srgbClr val="D97706"/>
          </a:solidFill>
          <a:ln w="12700">
            <a:solidFill>
              <a:srgbClr val="D97706"/>
            </a:solidFill>
            <a:prstDash val="solid"/>
          </a:ln>
        </p:spPr>
      </p:sp>
      <p:pic>
        <p:nvPicPr>
          <p:cNvPr id="11" name="Support icon" descr="Support">    </p:cNvPr>
          <p:cNvPicPr>
            <a:picLocks noChangeAspect="1"/>
          </p:cNvPicPr>
          <p:nvPr/>
        </p:nvPicPr>
        <p:blipFill>
          <a:blip r:embed="rId3"/>
          <a:stretch>
            <a:fillRect/>
          </a:stretch>
        </p:blipFill>
        <p:spPr>
          <a:xfrm>
            <a:off x="7995514" y="3085186"/>
            <a:ext cx="285293" cy="285293"/>
          </a:xfrm>
          <a:prstGeom prst="rect">
            <a:avLst/>
          </a:prstGeom>
        </p:spPr>
      </p:pic>
      <p:sp>
        <p:nvSpPr>
          <p:cNvPr id="12" name="Text 7"/>
          <p:cNvSpPr txBox="1"/>
          <p:nvPr/>
        </p:nvSpPr>
        <p:spPr>
          <a:xfrm>
            <a:off x="8577072" y="2953512"/>
            <a:ext cx="2926080" cy="54864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Support</a:t>
            </a:r>
            <a:endParaRPr lang="en-US" sz="1800" dirty="0"/>
          </a:p>
        </p:txBody>
      </p:sp>
      <p:sp>
        <p:nvSpPr>
          <p:cNvPr id="13" name="Text 8"/>
          <p:cNvSpPr txBox="1"/>
          <p:nvPr/>
        </p:nvSpPr>
        <p:spPr>
          <a:xfrm>
            <a:off x="7863840" y="3566160"/>
            <a:ext cx="3611880" cy="59436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Last digits only (XXXX XXXX 9946), balances rounded to ₹10,000, phones in notes → [PHONE].</a:t>
            </a:r>
            <a:endParaRPr lang="en-US" sz="1300" dirty="0"/>
          </a:p>
        </p:txBody>
      </p:sp>
      <p:sp>
        <p:nvSpPr>
          <p:cNvPr id="14" name="role card Analyst"/>
          <p:cNvSpPr/>
          <p:nvPr/>
        </p:nvSpPr>
        <p:spPr>
          <a:xfrm>
            <a:off x="7680960" y="4389120"/>
            <a:ext cx="3931920" cy="1417320"/>
          </a:xfrm>
          <a:prstGeom prst="roundRect">
            <a:avLst>
              <a:gd name="adj" fmla="val 5161"/>
            </a:avLst>
          </a:prstGeom>
          <a:solidFill>
            <a:srgbClr val="F1F5F9"/>
          </a:solidFill>
          <a:ln w="9525">
            <a:solidFill>
              <a:srgbClr val="F1F5F9"/>
            </a:solidFill>
            <a:prstDash val="solid"/>
          </a:ln>
        </p:spPr>
      </p:sp>
      <p:sp>
        <p:nvSpPr>
          <p:cNvPr id="15" name="Analyst circle"/>
          <p:cNvSpPr/>
          <p:nvPr/>
        </p:nvSpPr>
        <p:spPr>
          <a:xfrm>
            <a:off x="7863840" y="4553712"/>
            <a:ext cx="548640" cy="548640"/>
          </a:xfrm>
          <a:prstGeom prst="ellipse">
            <a:avLst/>
          </a:prstGeom>
          <a:solidFill>
            <a:srgbClr val="0F766E"/>
          </a:solidFill>
          <a:ln w="12700">
            <a:solidFill>
              <a:srgbClr val="0F766E"/>
            </a:solidFill>
            <a:prstDash val="solid"/>
          </a:ln>
        </p:spPr>
      </p:sp>
      <p:pic>
        <p:nvPicPr>
          <p:cNvPr id="16" name="Analyst icon" descr="Analyst">    </p:cNvPr>
          <p:cNvPicPr>
            <a:picLocks noChangeAspect="1"/>
          </p:cNvPicPr>
          <p:nvPr/>
        </p:nvPicPr>
        <p:blipFill>
          <a:blip r:embed="rId4"/>
          <a:stretch>
            <a:fillRect/>
          </a:stretch>
        </p:blipFill>
        <p:spPr>
          <a:xfrm>
            <a:off x="7995514" y="4685386"/>
            <a:ext cx="285293" cy="285293"/>
          </a:xfrm>
          <a:prstGeom prst="rect">
            <a:avLst/>
          </a:prstGeom>
        </p:spPr>
      </p:pic>
      <p:sp>
        <p:nvSpPr>
          <p:cNvPr id="17" name="Text 11"/>
          <p:cNvSpPr txBox="1"/>
          <p:nvPr/>
        </p:nvSpPr>
        <p:spPr>
          <a:xfrm>
            <a:off x="8577072" y="4553712"/>
            <a:ext cx="2926080" cy="54864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Analyst</a:t>
            </a:r>
            <a:endParaRPr lang="en-US" sz="1800" dirty="0"/>
          </a:p>
        </p:txBody>
      </p:sp>
      <p:sp>
        <p:nvSpPr>
          <p:cNvPr id="18" name="Text 12"/>
          <p:cNvSpPr txBox="1"/>
          <p:nvPr/>
        </p:nvSpPr>
        <p:spPr>
          <a:xfrm>
            <a:off x="7863840" y="5166360"/>
            <a:ext cx="3611880" cy="59436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128-bit keyed tokens: joinable, countable, never readable. Money only in aggregates.</a:t>
            </a:r>
            <a:endParaRPr lang="en-US" sz="1300" dirty="0"/>
          </a:p>
        </p:txBody>
      </p:sp>
      <p:sp>
        <p:nvSpPr>
          <p:cNvPr id="19" name="Text 13"/>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Real CLI output on the organisers' data (synthetic people), 30 Oct 2026. Live demo: maskguard compare · Control Room · Postman.</a:t>
            </a:r>
            <a:endParaRPr lang="en-US" sz="1100" dirty="0"/>
          </a:p>
        </p:txBody>
      </p:sp>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Measured, not claimed</a:t>
            </a:r>
            <a:endParaRPr lang="en-US" sz="3000" dirty="0"/>
          </a:p>
        </p:txBody>
      </p:sp>
      <p:graphicFrame>
        <p:nvGraphicFramePr>
          <p:cNvPr id="3" name="benchmark chart" descr=""/>
          <p:cNvGraphicFramePr/>
          <p:nvPr/>
        </p:nvGraphicFramePr>
        <p:xfrm>
          <a:off x="548640" y="118872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440680"/>
            <a:ext cx="5760720" cy="8229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Unseen seeds 301–360. 5 and 20 values: 20-value export; 200 values: the 200-value export of the same seeds. Hard negatives (order ids, SKUs, OTPs) wrongly tagged: baseline 22.2% · MaskGuard 1.5% at 20 values, 0% at 200.</a:t>
            </a:r>
            <a:endParaRPr lang="en-US" sz="1100" dirty="0"/>
          </a:p>
        </p:txBody>
      </p:sp>
      <p:sp>
        <p:nvSpPr>
          <p:cNvPr id="5" name="evidence stat 1"/>
          <p:cNvSpPr/>
          <p:nvPr/>
        </p:nvSpPr>
        <p:spPr>
          <a:xfrm>
            <a:off x="6675120" y="1188720"/>
            <a:ext cx="2331720" cy="2240280"/>
          </a:xfrm>
          <a:prstGeom prst="roundRect">
            <a:avLst>
              <a:gd name="adj" fmla="val 3265"/>
            </a:avLst>
          </a:prstGeom>
          <a:solidFill>
            <a:srgbClr val="0B1D33"/>
          </a:solidFill>
          <a:ln w="9525">
            <a:solidFill>
              <a:srgbClr val="0B1D33"/>
            </a:solidFill>
            <a:prstDash val="solid"/>
          </a:ln>
        </p:spPr>
      </p:sp>
      <p:sp>
        <p:nvSpPr>
          <p:cNvPr id="6" name="Text 3"/>
          <p:cNvSpPr txBox="1"/>
          <p:nvPr/>
        </p:nvSpPr>
        <p:spPr>
          <a:xfrm>
            <a:off x="6858000" y="1371600"/>
            <a:ext cx="2011680" cy="640080"/>
          </a:xfrm>
          <a:prstGeom prst="rect">
            <a:avLst/>
          </a:prstGeom>
          <a:noFill/>
          <a:ln/>
        </p:spPr>
        <p:txBody>
          <a:bodyPr wrap="square" lIns="0" tIns="0" rIns="0" bIns="0" rtlCol="0" anchor="ctr"/>
          <a:lstStyle/>
          <a:p>
            <a:pPr indent="0" marL="0">
              <a:buNone/>
            </a:pPr>
            <a:r>
              <a:rPr lang="en-US" sz="3000" b="1" dirty="0">
                <a:solidFill>
                  <a:srgbClr val="D97706"/>
                </a:solidFill>
                <a:latin typeface="Cambria" pitchFamily="34" charset="0"/>
                <a:ea typeface="Cambria" pitchFamily="34" charset="-122"/>
                <a:cs typeface="Cambria" pitchFamily="34" charset="-120"/>
              </a:rPr>
              <a:t>0 / 17</a:t>
            </a:r>
            <a:endParaRPr lang="en-US" sz="3000" dirty="0"/>
          </a:p>
        </p:txBody>
      </p:sp>
      <p:sp>
        <p:nvSpPr>
          <p:cNvPr id="7" name="Text 4"/>
          <p:cNvSpPr txBox="1"/>
          <p:nvPr/>
        </p:nvSpPr>
        <p:spPr>
          <a:xfrm>
            <a:off x="6858000" y="2057400"/>
            <a:ext cx="2011680" cy="56692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bypass and inference attacks leak</a:t>
            </a:r>
            <a:endParaRPr lang="en-US" sz="1400" dirty="0"/>
          </a:p>
        </p:txBody>
      </p:sp>
      <p:sp>
        <p:nvSpPr>
          <p:cNvPr id="8" name="Text 5"/>
          <p:cNvSpPr txBox="1"/>
          <p:nvPr/>
        </p:nvSpPr>
        <p:spPr>
          <a:xfrm>
            <a:off x="6858000" y="2651760"/>
            <a:ext cx="2011680" cy="68580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Output-only masking leaks 14 of the same 17</a:t>
            </a:r>
            <a:endParaRPr lang="en-US" sz="1150" dirty="0"/>
          </a:p>
        </p:txBody>
      </p:sp>
      <p:sp>
        <p:nvSpPr>
          <p:cNvPr id="9" name="evidence stat 2"/>
          <p:cNvSpPr/>
          <p:nvPr/>
        </p:nvSpPr>
        <p:spPr>
          <a:xfrm>
            <a:off x="9189720" y="1188720"/>
            <a:ext cx="2331720" cy="2240280"/>
          </a:xfrm>
          <a:prstGeom prst="roundRect">
            <a:avLst>
              <a:gd name="adj" fmla="val 3265"/>
            </a:avLst>
          </a:prstGeom>
          <a:solidFill>
            <a:srgbClr val="F1F5F9"/>
          </a:solidFill>
          <a:ln w="9525">
            <a:solidFill>
              <a:srgbClr val="F1F5F9"/>
            </a:solidFill>
            <a:prstDash val="solid"/>
          </a:ln>
        </p:spPr>
      </p:sp>
      <p:sp>
        <p:nvSpPr>
          <p:cNvPr id="10" name="Text 7"/>
          <p:cNvSpPr txBox="1"/>
          <p:nvPr/>
        </p:nvSpPr>
        <p:spPr>
          <a:xfrm>
            <a:off x="9372600" y="1371600"/>
            <a:ext cx="2011680" cy="640080"/>
          </a:xfrm>
          <a:prstGeom prst="rect">
            <a:avLst/>
          </a:prstGeom>
          <a:noFill/>
          <a:ln/>
        </p:spPr>
        <p:txBody>
          <a:bodyPr wrap="square" lIns="0" tIns="0" rIns="0" bIns="0" rtlCol="0" anchor="ctr"/>
          <a:lstStyle/>
          <a:p>
            <a:pPr indent="0" marL="0">
              <a:buNone/>
            </a:pPr>
            <a:r>
              <a:rPr lang="en-US" sz="3000" b="1" dirty="0">
                <a:solidFill>
                  <a:srgbClr val="0B1D33"/>
                </a:solidFill>
                <a:latin typeface="Cambria" pitchFamily="34" charset="0"/>
                <a:ea typeface="Cambria" pitchFamily="34" charset="-122"/>
                <a:cs typeface="Cambria" pitchFamily="34" charset="-120"/>
              </a:rPr>
              <a:t>672</a:t>
            </a:r>
            <a:endParaRPr lang="en-US" sz="3000" dirty="0"/>
          </a:p>
        </p:txBody>
      </p:sp>
      <p:sp>
        <p:nvSpPr>
          <p:cNvPr id="11" name="Text 8"/>
          <p:cNvSpPr txBox="1"/>
          <p:nvPr/>
        </p:nvSpPr>
        <p:spPr>
          <a:xfrm>
            <a:off x="9372600" y="2057400"/>
            <a:ext cx="2011680" cy="566928"/>
          </a:xfrm>
          <a:prstGeom prst="rect">
            <a:avLst/>
          </a:prstGeom>
          <a:noFill/>
          <a:ln/>
        </p:spPr>
        <p:txBody>
          <a:bodyPr wrap="square" lIns="0" tIns="0" rIns="0" bIns="0" rtlCol="0" anchor="t"/>
          <a:lstStyle/>
          <a:p>
            <a:pPr indent="0" marL="0">
              <a:buNone/>
            </a:pPr>
            <a:r>
              <a:rPr lang="en-US" sz="1400" b="1" dirty="0">
                <a:solidFill>
                  <a:srgbClr val="0B1D33"/>
                </a:solidFill>
                <a:latin typeface="Calibri" pitchFamily="34" charset="0"/>
                <a:ea typeface="Calibri" pitchFamily="34" charset="-122"/>
                <a:cs typeface="Calibri" pitchFamily="34" charset="-120"/>
              </a:rPr>
              <a:t>attack-matrix cases, 0 leaks</a:t>
            </a:r>
            <a:endParaRPr lang="en-US" sz="1400" dirty="0"/>
          </a:p>
        </p:txBody>
      </p:sp>
      <p:sp>
        <p:nvSpPr>
          <p:cNvPr id="12" name="Text 9"/>
          <p:cNvSpPr txBox="1"/>
          <p:nvPr/>
        </p:nvSpPr>
        <p:spPr>
          <a:xfrm>
            <a:off x="9372600" y="2651760"/>
            <a:ext cx="2011680" cy="68580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12 SQL families × 3 roles × 3 databases + seeded fuzzer</a:t>
            </a:r>
            <a:endParaRPr lang="en-US" sz="1150" dirty="0"/>
          </a:p>
        </p:txBody>
      </p:sp>
      <p:sp>
        <p:nvSpPr>
          <p:cNvPr id="13" name="evidence stat 3"/>
          <p:cNvSpPr/>
          <p:nvPr/>
        </p:nvSpPr>
        <p:spPr>
          <a:xfrm>
            <a:off x="6675120" y="3657600"/>
            <a:ext cx="2331720" cy="2240280"/>
          </a:xfrm>
          <a:prstGeom prst="roundRect">
            <a:avLst>
              <a:gd name="adj" fmla="val 3265"/>
            </a:avLst>
          </a:prstGeom>
          <a:solidFill>
            <a:srgbClr val="F1F5F9"/>
          </a:solidFill>
          <a:ln w="9525">
            <a:solidFill>
              <a:srgbClr val="F1F5F9"/>
            </a:solidFill>
            <a:prstDash val="solid"/>
          </a:ln>
        </p:spPr>
      </p:sp>
      <p:sp>
        <p:nvSpPr>
          <p:cNvPr id="14" name="Text 11"/>
          <p:cNvSpPr txBox="1"/>
          <p:nvPr/>
        </p:nvSpPr>
        <p:spPr>
          <a:xfrm>
            <a:off x="6858000" y="3840480"/>
            <a:ext cx="2011680" cy="640080"/>
          </a:xfrm>
          <a:prstGeom prst="rect">
            <a:avLst/>
          </a:prstGeom>
          <a:noFill/>
          <a:ln/>
        </p:spPr>
        <p:txBody>
          <a:bodyPr wrap="square" lIns="0" tIns="0" rIns="0" bIns="0" rtlCol="0" anchor="ctr"/>
          <a:lstStyle/>
          <a:p>
            <a:pPr indent="0" marL="0">
              <a:buNone/>
            </a:pPr>
            <a:r>
              <a:rPr lang="en-US" sz="3000" b="1" dirty="0">
                <a:solidFill>
                  <a:srgbClr val="0B1D33"/>
                </a:solidFill>
                <a:latin typeface="Cambria" pitchFamily="34" charset="0"/>
                <a:ea typeface="Cambria" pitchFamily="34" charset="-122"/>
                <a:cs typeface="Cambria" pitchFamily="34" charset="-120"/>
              </a:rPr>
              <a:t>4–8 ms</a:t>
            </a:r>
            <a:endParaRPr lang="en-US" sz="3000" dirty="0"/>
          </a:p>
        </p:txBody>
      </p:sp>
      <p:sp>
        <p:nvSpPr>
          <p:cNvPr id="15" name="Text 12"/>
          <p:cNvSpPr txBox="1"/>
          <p:nvPr/>
        </p:nvSpPr>
        <p:spPr>
          <a:xfrm>
            <a:off x="6858000" y="4526280"/>
            <a:ext cx="2011680" cy="566928"/>
          </a:xfrm>
          <a:prstGeom prst="rect">
            <a:avLst/>
          </a:prstGeom>
          <a:noFill/>
          <a:ln/>
        </p:spPr>
        <p:txBody>
          <a:bodyPr wrap="square" lIns="0" tIns="0" rIns="0" bIns="0" rtlCol="0" anchor="t"/>
          <a:lstStyle/>
          <a:p>
            <a:pPr indent="0" marL="0">
              <a:buNone/>
            </a:pPr>
            <a:r>
              <a:rPr lang="en-US" sz="1400" b="1" dirty="0">
                <a:solidFill>
                  <a:srgbClr val="0B1D33"/>
                </a:solidFill>
                <a:latin typeface="Calibri" pitchFamily="34" charset="0"/>
                <a:ea typeface="Calibri" pitchFamily="34" charset="-122"/>
                <a:cs typeface="Calibri" pitchFamily="34" charset="-120"/>
              </a:rPr>
              <a:t>added per query, 300 → 100,000 rows</a:t>
            </a:r>
            <a:endParaRPr lang="en-US" sz="1400" dirty="0"/>
          </a:p>
        </p:txBody>
      </p:sp>
      <p:sp>
        <p:nvSpPr>
          <p:cNvPr id="16" name="Text 13"/>
          <p:cNvSpPr txBox="1"/>
          <p:nvPr/>
        </p:nvSpPr>
        <p:spPr>
          <a:xfrm>
            <a:off x="6858000" y="5120640"/>
            <a:ext cx="2011680" cy="68580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SQLite and PostgreSQL; MySQL 6–22 ms (p50, warm)</a:t>
            </a:r>
            <a:endParaRPr lang="en-US" sz="1150" dirty="0"/>
          </a:p>
        </p:txBody>
      </p:sp>
      <p:sp>
        <p:nvSpPr>
          <p:cNvPr id="17" name="evidence stat 4"/>
          <p:cNvSpPr/>
          <p:nvPr/>
        </p:nvSpPr>
        <p:spPr>
          <a:xfrm>
            <a:off x="9189720" y="3657600"/>
            <a:ext cx="2331720" cy="2240280"/>
          </a:xfrm>
          <a:prstGeom prst="roundRect">
            <a:avLst>
              <a:gd name="adj" fmla="val 3265"/>
            </a:avLst>
          </a:prstGeom>
          <a:solidFill>
            <a:srgbClr val="F1F5F9"/>
          </a:solidFill>
          <a:ln w="9525">
            <a:solidFill>
              <a:srgbClr val="F1F5F9"/>
            </a:solidFill>
            <a:prstDash val="solid"/>
          </a:ln>
        </p:spPr>
      </p:sp>
      <p:sp>
        <p:nvSpPr>
          <p:cNvPr id="18" name="Text 15"/>
          <p:cNvSpPr txBox="1"/>
          <p:nvPr/>
        </p:nvSpPr>
        <p:spPr>
          <a:xfrm>
            <a:off x="9372600" y="3840480"/>
            <a:ext cx="2011680" cy="640080"/>
          </a:xfrm>
          <a:prstGeom prst="rect">
            <a:avLst/>
          </a:prstGeom>
          <a:noFill/>
          <a:ln/>
        </p:spPr>
        <p:txBody>
          <a:bodyPr wrap="square" lIns="0" tIns="0" rIns="0" bIns="0" rtlCol="0" anchor="ctr"/>
          <a:lstStyle/>
          <a:p>
            <a:pPr indent="0" marL="0">
              <a:buNone/>
            </a:pPr>
            <a:r>
              <a:rPr lang="en-US" sz="3000" b="1" dirty="0">
                <a:solidFill>
                  <a:srgbClr val="0B1D33"/>
                </a:solidFill>
                <a:latin typeface="Cambria" pitchFamily="34" charset="0"/>
                <a:ea typeface="Cambria" pitchFamily="34" charset="-122"/>
                <a:cs typeface="Cambria" pitchFamily="34" charset="-120"/>
              </a:rPr>
              <a:t>1,235</a:t>
            </a:r>
            <a:endParaRPr lang="en-US" sz="3000" dirty="0"/>
          </a:p>
        </p:txBody>
      </p:sp>
      <p:sp>
        <p:nvSpPr>
          <p:cNvPr id="19" name="Text 16"/>
          <p:cNvSpPr txBox="1"/>
          <p:nvPr/>
        </p:nvSpPr>
        <p:spPr>
          <a:xfrm>
            <a:off x="9372600" y="4526280"/>
            <a:ext cx="2011680" cy="566928"/>
          </a:xfrm>
          <a:prstGeom prst="rect">
            <a:avLst/>
          </a:prstGeom>
          <a:noFill/>
          <a:ln/>
        </p:spPr>
        <p:txBody>
          <a:bodyPr wrap="square" lIns="0" tIns="0" rIns="0" bIns="0" rtlCol="0" anchor="t"/>
          <a:lstStyle/>
          <a:p>
            <a:pPr indent="0" marL="0">
              <a:buNone/>
            </a:pPr>
            <a:r>
              <a:rPr lang="en-US" sz="1400" b="1" dirty="0">
                <a:solidFill>
                  <a:srgbClr val="0B1D33"/>
                </a:solidFill>
                <a:latin typeface="Calibri" pitchFamily="34" charset="0"/>
                <a:ea typeface="Calibri" pitchFamily="34" charset="-122"/>
                <a:cs typeface="Calibri" pitchFamily="34" charset="-120"/>
              </a:rPr>
              <a:t>automated tests, all green</a:t>
            </a:r>
            <a:endParaRPr lang="en-US" sz="1400" dirty="0"/>
          </a:p>
        </p:txBody>
      </p:sp>
      <p:sp>
        <p:nvSpPr>
          <p:cNvPr id="20" name="Text 17"/>
          <p:cNvSpPr txBox="1"/>
          <p:nvPr/>
        </p:nvSpPr>
        <p:spPr>
          <a:xfrm>
            <a:off x="9372600" y="5120640"/>
            <a:ext cx="2011680" cy="68580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+ 45 container checks + 121 Postman assertions, CI on every push</a:t>
            </a:r>
            <a:endParaRPr lang="en-US" sz="1150" dirty="0"/>
          </a:p>
        </p:txBody>
      </p:sp>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growing compliance need, no affordable answer</a:t>
            </a:r>
            <a:endParaRPr lang="en-US" sz="3000" dirty="0"/>
          </a:p>
        </p:txBody>
      </p:sp>
      <p:graphicFrame>
        <p:nvGraphicFramePr>
          <p:cNvPr id="10" name="competitor table"/>
          <p:cNvGraphicFramePr>
            <a:graphicFrameLocks noGrp="1"/>
          </p:cNvGraphicFramePr>
          <p:nvPr>
            <p:extLst>
              <p:ext uri="{D42A27DB-BD31-4B8C-83A1-F6EECF244321}">
                <p14:modId xmlns:p14="http://schemas.microsoft.com/office/powerpoint/2010/main" val="1579011935"/>
              </p:ext>
            </p:extLst>
          </p:nvPr>
        </p:nvGraphicFramePr>
        <p:xfrm>
          <a:off x="548640" y="1234440"/>
          <a:ext cx="7589520" cy="914400"/>
        </p:xfrm>
        <a:graphic>
          <a:graphicData uri="http://schemas.openxmlformats.org/drawingml/2006/table">
            <a:tbl>
              <a:tblPr/>
              <a:tblGrid>
                <a:gridCol w="1783080"/>
                <a:gridCol w="1554480"/>
                <a:gridCol w="1600200"/>
                <a:gridCol w="1371600"/>
                <a:gridCol w="1280160"/>
              </a:tblGrid>
              <a:tr h="566928">
                <a:tc>
                  <a:txBody>
                    <a:bodyPr/>
                    <a:lstStyle/>
                    <a:p>
                      <a:pPr indent="0" marL="0">
                        <a:buNone/>
                      </a:pP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D33"/>
                    </a:solidFill>
                  </a:tcPr>
                </a:tc>
                <a:tc>
                  <a:txBody>
                    <a:bodyPr/>
                    <a:lstStyle/>
                    <a:p>
                      <a:pPr indent="0" marL="0">
                        <a:buNone/>
                      </a:pPr>
                      <a:r>
                        <a:rPr lang="en-US" sz="1250" b="1" dirty="0">
                          <a:solidFill>
                            <a:srgbClr val="FFFFFF"/>
                          </a:solidFill>
                        </a:rPr>
                        <a:t>Finds PII from values</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D33"/>
                    </a:solidFill>
                  </a:tcPr>
                </a:tc>
                <a:tc>
                  <a:txBody>
                    <a:bodyPr/>
                    <a:lstStyle/>
                    <a:p>
                      <a:pPr indent="0" marL="0">
                        <a:buNone/>
                      </a:pPr>
                      <a:r>
                        <a:rPr lang="en-US" sz="1250" b="1" dirty="0">
                          <a:solidFill>
                            <a:srgbClr val="FFFFFF"/>
                          </a:solidFill>
                        </a:rPr>
                        <a:t>Masks inside the query</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D33"/>
                    </a:solidFill>
                  </a:tcPr>
                </a:tc>
                <a:tc>
                  <a:txBody>
                    <a:bodyPr/>
                    <a:lstStyle/>
                    <a:p>
                      <a:pPr indent="0" marL="0">
                        <a:buNone/>
                      </a:pPr>
                      <a:r>
                        <a:rPr lang="en-US" sz="1250" b="1" dirty="0">
                          <a:solidFill>
                            <a:srgbClr val="FFFFFF"/>
                          </a:solidFill>
                        </a:rPr>
                        <a:t>Several databases</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D33"/>
                    </a:solidFill>
                  </a:tcPr>
                </a:tc>
                <a:tc>
                  <a:txBody>
                    <a:bodyPr/>
                    <a:lstStyle/>
                    <a:p>
                      <a:pPr indent="0" marL="0">
                        <a:buNone/>
                      </a:pPr>
                      <a:r>
                        <a:rPr lang="en-US" sz="1250" b="1" dirty="0">
                          <a:solidFill>
                            <a:srgbClr val="FFFFFF"/>
                          </a:solidFill>
                        </a:rPr>
                        <a:t>Typical cost</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D33"/>
                    </a:solidFill>
                  </a:tcPr>
                </a:tc>
              </a:tr>
              <a:tr h="566928">
                <a:tc>
                  <a:txBody>
                    <a:bodyPr/>
                    <a:lstStyle/>
                    <a:p>
                      <a:pPr indent="0" marL="0">
                        <a:buNone/>
                      </a:pPr>
                      <a:r>
                        <a:rPr lang="en-US" sz="1250" b="1" dirty="0">
                          <a:solidFill>
                            <a:srgbClr val="0B1D33"/>
                          </a:solidFill>
                        </a:rPr>
                        <a:t>MaskGuard</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DEBD0"/>
                    </a:solidFill>
                  </a:tcPr>
                </a:tc>
                <a:tc>
                  <a:txBody>
                    <a:bodyPr/>
                    <a:lstStyle/>
                    <a:p>
                      <a:pPr indent="0" marL="0">
                        <a:buNone/>
                      </a:pPr>
                      <a:r>
                        <a:rPr lang="en-US" sz="1250" dirty="0">
                          <a:solidFill>
                            <a:srgbClr val="0B1D33"/>
                          </a:solidFill>
                        </a:rPr>
                        <a:t>Yes (checksums + ML + rules)</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DEBD0"/>
                    </a:solidFill>
                  </a:tcPr>
                </a:tc>
                <a:tc>
                  <a:txBody>
                    <a:bodyPr/>
                    <a:lstStyle/>
                    <a:p>
                      <a:pPr indent="0" marL="0">
                        <a:buNone/>
                      </a:pPr>
                      <a:r>
                        <a:rPr lang="en-US" sz="1250" dirty="0">
                          <a:solidFill>
                            <a:srgbClr val="0B1D33"/>
                          </a:solidFill>
                        </a:rPr>
                        <a:t>Yes (AST rewrite)</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DEBD0"/>
                    </a:solidFill>
                  </a:tcPr>
                </a:tc>
                <a:tc>
                  <a:txBody>
                    <a:bodyPr/>
                    <a:lstStyle/>
                    <a:p>
                      <a:pPr indent="0" marL="0">
                        <a:buNone/>
                      </a:pPr>
                      <a:r>
                        <a:rPr lang="en-US" sz="1250" dirty="0">
                          <a:solidFill>
                            <a:srgbClr val="0B1D33"/>
                          </a:solidFill>
                        </a:rPr>
                        <a:t>SQLite · PostgreSQL · MySQL</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DEBD0"/>
                    </a:solidFill>
                  </a:tcPr>
                </a:tc>
                <a:tc>
                  <a:txBody>
                    <a:bodyPr/>
                    <a:lstStyle/>
                    <a:p>
                      <a:pPr indent="0" marL="0">
                        <a:buNone/>
                      </a:pPr>
                      <a:r>
                        <a:rPr lang="en-US" sz="1250" dirty="0">
                          <a:solidFill>
                            <a:srgbClr val="0B1D33"/>
                          </a:solidFill>
                        </a:rPr>
                        <a:t>Open source</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DEBD0"/>
                    </a:solidFill>
                  </a:tcPr>
                </a:tc>
              </a:tr>
              <a:tr h="566928">
                <a:tc>
                  <a:txBody>
                    <a:bodyPr/>
                    <a:lstStyle/>
                    <a:p>
                      <a:pPr indent="0" marL="0">
                        <a:buNone/>
                      </a:pPr>
                      <a:r>
                        <a:rPr lang="en-US" sz="1250" b="1" dirty="0">
                          <a:solidFill>
                            <a:srgbClr val="1E3A5F"/>
                          </a:solidFill>
                        </a:rPr>
                        <a:t>PostgreSQL Anonymizer</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250" dirty="0">
                          <a:solidFill>
                            <a:srgbClr val="1E3A5F"/>
                          </a:solidFill>
                        </a:rPr>
                        <a:t>Column names only</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250" dirty="0">
                          <a:solidFill>
                            <a:srgbClr val="1E3A5F"/>
                          </a:solidFill>
                        </a:rPr>
                        <a:t>Yes (masking views)</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250" dirty="0">
                          <a:solidFill>
                            <a:srgbClr val="1E3A5F"/>
                          </a:solidFill>
                        </a:rPr>
                        <a:t>PostgreSQL only</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250" dirty="0">
                          <a:solidFill>
                            <a:srgbClr val="1E3A5F"/>
                          </a:solidFill>
                        </a:rPr>
                        <a:t>Open source</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r>
              <a:tr h="566928">
                <a:tc>
                  <a:txBody>
                    <a:bodyPr/>
                    <a:lstStyle/>
                    <a:p>
                      <a:pPr indent="0" marL="0">
                        <a:buNone/>
                      </a:pPr>
                      <a:r>
                        <a:rPr lang="en-US" sz="1250" b="1" dirty="0">
                          <a:solidFill>
                            <a:srgbClr val="1E3A5F"/>
                          </a:solidFill>
                        </a:rPr>
                        <a:t>SQL Server Dynamic Data Masking</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1E3A5F"/>
                          </a:solidFill>
                        </a:rPr>
                        <a:t>No</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1E3A5F"/>
                          </a:solidFill>
                        </a:rPr>
                        <a:t>Results only; inference not stopped</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1E3A5F"/>
                          </a:solidFill>
                        </a:rPr>
                        <a:t>SQL Server only</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1E3A5F"/>
                          </a:solidFill>
                        </a:rPr>
                        <a:t>In SQL Server licence</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E3A5F"/>
                          </a:solidFill>
                        </a:rPr>
                        <a:t>Immuta · Delphix</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250" dirty="0">
                          <a:solidFill>
                            <a:srgbClr val="1E3A5F"/>
                          </a:solidFill>
                        </a:rPr>
                        <a:t>Yes</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250" dirty="0">
                          <a:solidFill>
                            <a:srgbClr val="1E3A5F"/>
                          </a:solidFill>
                        </a:rPr>
                        <a:t>Yes (platform)</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250" dirty="0">
                          <a:solidFill>
                            <a:srgbClr val="1E3A5F"/>
                          </a:solidFill>
                        </a:rPr>
                        <a:t>Many</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indent="0" marL="0">
                        <a:buNone/>
                      </a:pPr>
                      <a:r>
                        <a:rPr lang="en-US" sz="1250" dirty="0">
                          <a:solidFill>
                            <a:srgbClr val="1E3A5F"/>
                          </a:solidFill>
                        </a:rPr>
                        <a:t>≈ $100k–370k a year*</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r>
              <a:tr h="566928">
                <a:tc>
                  <a:txBody>
                    <a:bodyPr/>
                    <a:lstStyle/>
                    <a:p>
                      <a:pPr indent="0" marL="0">
                        <a:buNone/>
                      </a:pPr>
                      <a:r>
                        <a:rPr lang="en-US" sz="1250" b="1" dirty="0">
                          <a:solidFill>
                            <a:srgbClr val="1E3A5F"/>
                          </a:solidFill>
                        </a:rPr>
                        <a:t>Microsoft Presidio</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1E3A5F"/>
                          </a:solidFill>
                        </a:rPr>
                        <a:t>Text detection</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1E3A5F"/>
                          </a:solidFill>
                        </a:rPr>
                        <a:t>No gateway</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1E3A5F"/>
                          </a:solidFill>
                        </a:rPr>
                        <a:t>—</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1E3A5F"/>
                          </a:solidFill>
                        </a:rPr>
                        <a:t>Open source</a:t>
                      </a:r>
                      <a:endParaRPr lang="en-US" sz="1250" dirty="0"/>
                    </a:p>
                  </a:txBody>
                  <a:tcPr marL="91440" marR="91440"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754880"/>
            <a:ext cx="7589520" cy="27432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 review-site estimates (PeerSpot, IT Central Station); vendors do not publish prices.</a:t>
            </a:r>
            <a:endParaRPr lang="en-US" sz="1000" dirty="0"/>
          </a:p>
        </p:txBody>
      </p:sp>
      <p:sp>
        <p:nvSpPr>
          <p:cNvPr id="5" name="Text 2"/>
          <p:cNvSpPr txBox="1"/>
          <p:nvPr/>
        </p:nvSpPr>
        <p:spPr>
          <a:xfrm>
            <a:off x="548640" y="5120640"/>
            <a:ext cx="7589520" cy="1005840"/>
          </a:xfrm>
          <a:prstGeom prst="rect">
            <a:avLst/>
          </a:prstGeom>
          <a:noFill/>
          <a:ln/>
        </p:spPr>
        <p:txBody>
          <a:bodyPr wrap="square" lIns="0" tIns="0" rIns="0" bIns="0" rtlCol="0" anchor="t"/>
          <a:lstStyle/>
          <a:p>
            <a:pPr indent="0" marL="0">
              <a:buNone/>
            </a:pPr>
            <a:r>
              <a:rPr lang="en-US" sz="1400" b="1" dirty="0">
                <a:solidFill>
                  <a:srgbClr val="0B1D33"/>
                </a:solidFill>
                <a:latin typeface="Calibri" pitchFamily="34" charset="0"/>
                <a:ea typeface="Calibri" pitchFamily="34" charset="-122"/>
                <a:cs typeface="Calibri" pitchFamily="34" charset="-120"/>
              </a:rPr>
              <a:t>Who buys first: </a:t>
            </a:r>
            <a:pPr indent="0" marL="0">
              <a:buNone/>
            </a:pPr>
            <a:r>
              <a:rPr lang="en-US" sz="1400" dirty="0">
                <a:solidFill>
                  <a:srgbClr val="1E3A5F"/>
                </a:solidFill>
                <a:latin typeface="Calibri" pitchFamily="34" charset="0"/>
                <a:ea typeface="Calibri" pitchFamily="34" charset="-122"/>
                <a:cs typeface="Calibri" pitchFamily="34" charset="-120"/>
              </a:rPr>
              <a:t>NBFCs, cooperative and small finance banks, fintechs and hospitals — bound by DPDP from May 2027, with SQL access spread across support and analytics teams and no budget for a six-figure platform.</a:t>
            </a:r>
            <a:endParaRPr lang="en-US" sz="1400" dirty="0"/>
          </a:p>
        </p:txBody>
      </p:sp>
      <p:sp>
        <p:nvSpPr>
          <p:cNvPr id="6" name="market stat 1"/>
          <p:cNvSpPr/>
          <p:nvPr/>
        </p:nvSpPr>
        <p:spPr>
          <a:xfrm>
            <a:off x="8458200" y="1234440"/>
            <a:ext cx="3154680" cy="1463040"/>
          </a:xfrm>
          <a:prstGeom prst="roundRect">
            <a:avLst>
              <a:gd name="adj" fmla="val 5000"/>
            </a:avLst>
          </a:prstGeom>
          <a:solidFill>
            <a:srgbClr val="0B1D33"/>
          </a:solidFill>
          <a:ln w="9525">
            <a:solidFill>
              <a:srgbClr val="0B1D33"/>
            </a:solidFill>
            <a:prstDash val="solid"/>
          </a:ln>
        </p:spPr>
      </p:sp>
      <p:sp>
        <p:nvSpPr>
          <p:cNvPr id="7" name="Text 4"/>
          <p:cNvSpPr txBox="1"/>
          <p:nvPr/>
        </p:nvSpPr>
        <p:spPr>
          <a:xfrm>
            <a:off x="8641080" y="1344168"/>
            <a:ext cx="2834640" cy="502920"/>
          </a:xfrm>
          <a:prstGeom prst="rect">
            <a:avLst/>
          </a:prstGeom>
          <a:noFill/>
          <a:ln/>
        </p:spPr>
        <p:txBody>
          <a:bodyPr wrap="square" lIns="0" tIns="0" rIns="0" bIns="0" rtlCol="0" anchor="ctr"/>
          <a:lstStyle/>
          <a:p>
            <a:pPr indent="0" marL="0">
              <a:buNone/>
            </a:pPr>
            <a:r>
              <a:rPr lang="en-US" sz="2400" b="1" dirty="0">
                <a:solidFill>
                  <a:srgbClr val="D97706"/>
                </a:solidFill>
                <a:latin typeface="Cambria" pitchFamily="34" charset="0"/>
                <a:ea typeface="Cambria" pitchFamily="34" charset="-122"/>
                <a:cs typeface="Cambria" pitchFamily="34" charset="-120"/>
              </a:rPr>
              <a:t>$1.47 B → $2.60 B</a:t>
            </a:r>
            <a:endParaRPr lang="en-US" sz="2400" dirty="0"/>
          </a:p>
        </p:txBody>
      </p:sp>
      <p:sp>
        <p:nvSpPr>
          <p:cNvPr id="8" name="Text 5"/>
          <p:cNvSpPr txBox="1"/>
          <p:nvPr/>
        </p:nvSpPr>
        <p:spPr>
          <a:xfrm>
            <a:off x="8641080" y="1856232"/>
            <a:ext cx="283464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data-masking market, 2025 → 2030</a:t>
            </a:r>
            <a:endParaRPr lang="en-US" sz="1350" dirty="0"/>
          </a:p>
        </p:txBody>
      </p:sp>
      <p:sp>
        <p:nvSpPr>
          <p:cNvPr id="9" name="Text 6"/>
          <p:cNvSpPr txBox="1"/>
          <p:nvPr/>
        </p:nvSpPr>
        <p:spPr>
          <a:xfrm>
            <a:off x="8641080" y="2194560"/>
            <a:ext cx="2834640" cy="41148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12% a year · Knowledge Sourcing Intelligence</a:t>
            </a:r>
            <a:endParaRPr lang="en-US" sz="1100" dirty="0"/>
          </a:p>
        </p:txBody>
      </p:sp>
      <p:sp>
        <p:nvSpPr>
          <p:cNvPr id="10" name="market stat 2"/>
          <p:cNvSpPr/>
          <p:nvPr/>
        </p:nvSpPr>
        <p:spPr>
          <a:xfrm>
            <a:off x="8458200" y="2880360"/>
            <a:ext cx="3154680" cy="1463040"/>
          </a:xfrm>
          <a:prstGeom prst="roundRect">
            <a:avLst>
              <a:gd name="adj" fmla="val 5000"/>
            </a:avLst>
          </a:prstGeom>
          <a:solidFill>
            <a:srgbClr val="F1F5F9"/>
          </a:solidFill>
          <a:ln w="9525">
            <a:solidFill>
              <a:srgbClr val="F1F5F9"/>
            </a:solidFill>
            <a:prstDash val="solid"/>
          </a:ln>
        </p:spPr>
      </p:sp>
      <p:sp>
        <p:nvSpPr>
          <p:cNvPr id="11" name="Text 8"/>
          <p:cNvSpPr txBox="1"/>
          <p:nvPr/>
        </p:nvSpPr>
        <p:spPr>
          <a:xfrm>
            <a:off x="8641080" y="2990088"/>
            <a:ext cx="2834640" cy="502920"/>
          </a:xfrm>
          <a:prstGeom prst="rect">
            <a:avLst/>
          </a:prstGeom>
          <a:noFill/>
          <a:ln/>
        </p:spPr>
        <p:txBody>
          <a:bodyPr wrap="square" lIns="0" tIns="0" rIns="0" bIns="0" rtlCol="0" anchor="ctr"/>
          <a:lstStyle/>
          <a:p>
            <a:pPr indent="0" marL="0">
              <a:buNone/>
            </a:pPr>
            <a:r>
              <a:rPr lang="en-US" sz="2400" b="1" dirty="0">
                <a:solidFill>
                  <a:srgbClr val="0B1D33"/>
                </a:solidFill>
                <a:latin typeface="Cambria" pitchFamily="34" charset="0"/>
                <a:ea typeface="Cambria" pitchFamily="34" charset="-122"/>
                <a:cs typeface="Cambria" pitchFamily="34" charset="-120"/>
              </a:rPr>
              <a:t>₹22 crore</a:t>
            </a:r>
            <a:endParaRPr lang="en-US" sz="2400" dirty="0"/>
          </a:p>
        </p:txBody>
      </p:sp>
      <p:sp>
        <p:nvSpPr>
          <p:cNvPr id="12" name="Text 9"/>
          <p:cNvSpPr txBox="1"/>
          <p:nvPr/>
        </p:nvSpPr>
        <p:spPr>
          <a:xfrm>
            <a:off x="8641080" y="3502152"/>
            <a:ext cx="2834640" cy="347472"/>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average breach cost in India, 2025</a:t>
            </a:r>
            <a:endParaRPr lang="en-US" sz="1350" dirty="0"/>
          </a:p>
        </p:txBody>
      </p:sp>
      <p:sp>
        <p:nvSpPr>
          <p:cNvPr id="13" name="Text 10"/>
          <p:cNvSpPr txBox="1"/>
          <p:nvPr/>
        </p:nvSpPr>
        <p:spPr>
          <a:xfrm>
            <a:off x="8641080" y="3840480"/>
            <a:ext cx="2834640" cy="41148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highest ever · IBM Cost of a Data Breach</a:t>
            </a:r>
            <a:endParaRPr lang="en-US" sz="1100" dirty="0"/>
          </a:p>
        </p:txBody>
      </p:sp>
      <p:sp>
        <p:nvSpPr>
          <p:cNvPr id="14" name="market stat 3"/>
          <p:cNvSpPr/>
          <p:nvPr/>
        </p:nvSpPr>
        <p:spPr>
          <a:xfrm>
            <a:off x="8458200" y="4526280"/>
            <a:ext cx="3154680" cy="1463040"/>
          </a:xfrm>
          <a:prstGeom prst="roundRect">
            <a:avLst>
              <a:gd name="adj" fmla="val 5000"/>
            </a:avLst>
          </a:prstGeom>
          <a:solidFill>
            <a:srgbClr val="F1F5F9"/>
          </a:solidFill>
          <a:ln w="9525">
            <a:solidFill>
              <a:srgbClr val="F1F5F9"/>
            </a:solidFill>
            <a:prstDash val="solid"/>
          </a:ln>
        </p:spPr>
      </p:sp>
      <p:sp>
        <p:nvSpPr>
          <p:cNvPr id="15" name="Text 12"/>
          <p:cNvSpPr txBox="1"/>
          <p:nvPr/>
        </p:nvSpPr>
        <p:spPr>
          <a:xfrm>
            <a:off x="8641080" y="4636008"/>
            <a:ext cx="2834640" cy="502920"/>
          </a:xfrm>
          <a:prstGeom prst="rect">
            <a:avLst/>
          </a:prstGeom>
          <a:noFill/>
          <a:ln/>
        </p:spPr>
        <p:txBody>
          <a:bodyPr wrap="square" lIns="0" tIns="0" rIns="0" bIns="0" rtlCol="0" anchor="ctr"/>
          <a:lstStyle/>
          <a:p>
            <a:pPr indent="0" marL="0">
              <a:buNone/>
            </a:pPr>
            <a:r>
              <a:rPr lang="en-US" sz="2400" b="1" dirty="0">
                <a:solidFill>
                  <a:srgbClr val="0B1D33"/>
                </a:solidFill>
                <a:latin typeface="Cambria" pitchFamily="34" charset="0"/>
                <a:ea typeface="Cambria" pitchFamily="34" charset="-122"/>
                <a:cs typeface="Cambria" pitchFamily="34" charset="-120"/>
              </a:rPr>
              <a:t>May 2027</a:t>
            </a:r>
            <a:endParaRPr lang="en-US" sz="2400" dirty="0"/>
          </a:p>
        </p:txBody>
      </p:sp>
      <p:sp>
        <p:nvSpPr>
          <p:cNvPr id="16" name="Text 13"/>
          <p:cNvSpPr txBox="1"/>
          <p:nvPr/>
        </p:nvSpPr>
        <p:spPr>
          <a:xfrm>
            <a:off x="8641080" y="5148072"/>
            <a:ext cx="2834640" cy="347472"/>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DPDP obligations apply</a:t>
            </a:r>
            <a:endParaRPr lang="en-US" sz="1350" dirty="0"/>
          </a:p>
        </p:txBody>
      </p:sp>
      <p:sp>
        <p:nvSpPr>
          <p:cNvPr id="17" name="Text 14"/>
          <p:cNvSpPr txBox="1"/>
          <p:nvPr/>
        </p:nvSpPr>
        <p:spPr>
          <a:xfrm>
            <a:off x="8641080" y="5486400"/>
            <a:ext cx="2834640" cy="41148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penalties up to ₹250 crore per safeguard failure</a:t>
            </a:r>
            <a:endParaRPr lang="en-US" sz="1100" dirty="0"/>
          </a:p>
        </p:txBody>
      </p:sp>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Production-ready today, honest about what comes next</a:t>
            </a:r>
            <a:endParaRPr lang="en-US" sz="3000" dirty="0"/>
          </a:p>
        </p:txBody>
      </p:sp>
      <p:sp>
        <p:nvSpPr>
          <p:cNvPr id="3" name="close card 1"/>
          <p:cNvSpPr/>
          <p:nvPr/>
        </p:nvSpPr>
        <p:spPr>
          <a:xfrm>
            <a:off x="548640" y="1280160"/>
            <a:ext cx="3520440" cy="3794760"/>
          </a:xfrm>
          <a:prstGeom prst="roundRect">
            <a:avLst>
              <a:gd name="adj" fmla="val 2078"/>
            </a:avLst>
          </a:prstGeom>
          <a:solidFill>
            <a:srgbClr val="13294B"/>
          </a:solidFill>
          <a:ln w="9525">
            <a:solidFill>
              <a:srgbClr val="1E3A5F"/>
            </a:solidFill>
            <a:prstDash val="solid"/>
          </a:ln>
        </p:spPr>
      </p:sp>
      <p:pic>
        <p:nvPicPr>
          <p:cNvPr id="4" name="Ready now icon" descr="Ready now">    </p:cNvPr>
          <p:cNvPicPr>
            <a:picLocks noChangeAspect="1"/>
          </p:cNvPicPr>
          <p:nvPr/>
        </p:nvPicPr>
        <p:blipFill>
          <a:blip r:embed="rId1"/>
          <a:stretch>
            <a:fillRect/>
          </a:stretch>
        </p:blipFill>
        <p:spPr>
          <a:xfrm>
            <a:off x="777240" y="1481328"/>
            <a:ext cx="365760" cy="365760"/>
          </a:xfrm>
          <a:prstGeom prst="rect">
            <a:avLst/>
          </a:prstGeom>
        </p:spPr>
      </p:pic>
      <p:sp>
        <p:nvSpPr>
          <p:cNvPr id="5" name="Text 2"/>
          <p:cNvSpPr txBox="1"/>
          <p:nvPr/>
        </p:nvSpPr>
        <p:spPr>
          <a:xfrm>
            <a:off x="1280160" y="1444752"/>
            <a:ext cx="265176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Ready now</a:t>
            </a:r>
            <a:endParaRPr lang="en-US" sz="2000" dirty="0"/>
          </a:p>
        </p:txBody>
      </p:sp>
      <p:sp>
        <p:nvSpPr>
          <p:cNvPr id="6" name="Text 3"/>
          <p:cNvSpPr txBox="1"/>
          <p:nvPr/>
        </p:nvSpPr>
        <p:spPr>
          <a:xfrm>
            <a:off x="777240" y="2057400"/>
            <a:ext cx="310896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2E8F0"/>
                </a:solidFill>
                <a:latin typeface="Calibri" pitchFamily="34" charset="0"/>
                <a:ea typeface="Calibri" pitchFamily="34" charset="-122"/>
                <a:cs typeface="Calibri" pitchFamily="34" charset="-120"/>
              </a:rPr>
              <a:t>Production profile refuses to start on anything unsafe</a:t>
            </a:r>
            <a:endParaRPr lang="en-US" sz="1400" dirty="0"/>
          </a:p>
          <a:p>
            <a:pPr marL="342900" indent="-342900">
              <a:spcAft>
                <a:spcPts val="800"/>
              </a:spcAft>
              <a:buSzPct val="100000"/>
              <a:buChar char="•"/>
            </a:pPr>
            <a:r>
              <a:rPr lang="en-US" sz="1400" dirty="0">
                <a:solidFill>
                  <a:srgbClr val="E2E8F0"/>
                </a:solidFill>
                <a:latin typeface="Calibri" pitchFamily="34" charset="0"/>
                <a:ea typeface="Calibri" pitchFamily="34" charset="-122"/>
                <a:cs typeface="Calibri" pitchFamily="34" charset="-120"/>
              </a:rPr>
              <a:t>Read-only database account, checked at startup</a:t>
            </a:r>
            <a:endParaRPr lang="en-US" sz="1400" dirty="0"/>
          </a:p>
          <a:p>
            <a:pPr marL="342900" indent="-342900">
              <a:spcAft>
                <a:spcPts val="800"/>
              </a:spcAft>
              <a:buSzPct val="100000"/>
              <a:buChar char="•"/>
            </a:pPr>
            <a:r>
              <a:rPr lang="en-US" sz="1400" dirty="0">
                <a:solidFill>
                  <a:srgbClr val="E2E8F0"/>
                </a:solidFill>
                <a:latin typeface="Calibri" pitchFamily="34" charset="0"/>
                <a:ea typeface="Calibri" pitchFamily="34" charset="-122"/>
                <a:cs typeface="Calibri" pitchFamily="34" charset="-120"/>
              </a:rPr>
              <a:t>HTTPS API, hash-chained audit with an external anchor</a:t>
            </a:r>
            <a:endParaRPr lang="en-US" sz="1400" dirty="0"/>
          </a:p>
          <a:p>
            <a:pPr marL="342900" indent="-342900">
              <a:spcAft>
                <a:spcPts val="800"/>
              </a:spcAft>
              <a:buSzPct val="100000"/>
              <a:buChar char="•"/>
            </a:pPr>
            <a:r>
              <a:rPr lang="en-US" sz="1400" dirty="0">
                <a:solidFill>
                  <a:srgbClr val="E2E8F0"/>
                </a:solidFill>
                <a:latin typeface="Calibri" pitchFamily="34" charset="0"/>
                <a:ea typeface="Calibri" pitchFamily="34" charset="-122"/>
                <a:cs typeface="Calibri" pitchFamily="34" charset="-120"/>
              </a:rPr>
              <a:t>pip install maskguard · 45-check container test</a:t>
            </a:r>
            <a:endParaRPr lang="en-US" sz="1400" dirty="0"/>
          </a:p>
        </p:txBody>
      </p:sp>
      <p:sp>
        <p:nvSpPr>
          <p:cNvPr id="7" name="close card 2"/>
          <p:cNvSpPr/>
          <p:nvPr/>
        </p:nvSpPr>
        <p:spPr>
          <a:xfrm>
            <a:off x="4297680" y="1280160"/>
            <a:ext cx="3520440" cy="3794760"/>
          </a:xfrm>
          <a:prstGeom prst="roundRect">
            <a:avLst>
              <a:gd name="adj" fmla="val 2078"/>
            </a:avLst>
          </a:prstGeom>
          <a:solidFill>
            <a:srgbClr val="13294B"/>
          </a:solidFill>
          <a:ln w="9525">
            <a:solidFill>
              <a:srgbClr val="1E3A5F"/>
            </a:solidFill>
            <a:prstDash val="solid"/>
          </a:ln>
        </p:spPr>
      </p:sp>
      <p:pic>
        <p:nvPicPr>
          <p:cNvPr id="8" name="Limits we state icon" descr="Limits we state">    </p:cNvPr>
          <p:cNvPicPr>
            <a:picLocks noChangeAspect="1"/>
          </p:cNvPicPr>
          <p:nvPr/>
        </p:nvPicPr>
        <p:blipFill>
          <a:blip r:embed="rId2"/>
          <a:stretch>
            <a:fillRect/>
          </a:stretch>
        </p:blipFill>
        <p:spPr>
          <a:xfrm>
            <a:off x="4526280" y="1481328"/>
            <a:ext cx="365760" cy="365760"/>
          </a:xfrm>
          <a:prstGeom prst="rect">
            <a:avLst/>
          </a:prstGeom>
        </p:spPr>
      </p:pic>
      <p:sp>
        <p:nvSpPr>
          <p:cNvPr id="9" name="Text 5"/>
          <p:cNvSpPr txBox="1"/>
          <p:nvPr/>
        </p:nvSpPr>
        <p:spPr>
          <a:xfrm>
            <a:off x="5029200" y="1444752"/>
            <a:ext cx="265176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Limits we state</a:t>
            </a:r>
            <a:endParaRPr lang="en-US" sz="2000" dirty="0"/>
          </a:p>
        </p:txBody>
      </p:sp>
      <p:sp>
        <p:nvSpPr>
          <p:cNvPr id="10" name="Text 6"/>
          <p:cNvSpPr txBox="1"/>
          <p:nvPr/>
        </p:nvSpPr>
        <p:spPr>
          <a:xfrm>
            <a:off x="4526280" y="2057400"/>
            <a:ext cx="310896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2E8F0"/>
                </a:solidFill>
                <a:latin typeface="Calibri" pitchFamily="34" charset="0"/>
                <a:ea typeface="Calibri" pitchFamily="34" charset="-122"/>
                <a:cs typeface="Calibri" pitchFamily="34" charset="-120"/>
              </a:rPr>
              <a:t>Inference through business rules between columns is not stopped by masking</a:t>
            </a:r>
            <a:endParaRPr lang="en-US" sz="1400" dirty="0"/>
          </a:p>
          <a:p>
            <a:pPr marL="342900" indent="-342900">
              <a:spcAft>
                <a:spcPts val="800"/>
              </a:spcAft>
              <a:buSzPct val="100000"/>
              <a:buChar char="•"/>
            </a:pPr>
            <a:r>
              <a:rPr lang="en-US" sz="1400" dirty="0">
                <a:solidFill>
                  <a:srgbClr val="E2E8F0"/>
                </a:solidFill>
                <a:latin typeface="Calibri" pitchFamily="34" charset="0"/>
                <a:ea typeface="Calibri" pitchFamily="34" charset="-122"/>
                <a:cs typeface="Calibri" pitchFamily="34" charset="-120"/>
              </a:rPr>
              <a:t>Names and addresses inside prose need NER (not integrated yet)</a:t>
            </a:r>
            <a:endParaRPr lang="en-US" sz="1400" dirty="0"/>
          </a:p>
          <a:p>
            <a:pPr marL="342900" indent="-342900">
              <a:spcAft>
                <a:spcPts val="800"/>
              </a:spcAft>
              <a:buSzPct val="100000"/>
              <a:buChar char="•"/>
            </a:pPr>
            <a:r>
              <a:rPr lang="en-US" sz="1400" dirty="0">
                <a:solidFill>
                  <a:srgbClr val="E2E8F0"/>
                </a:solidFill>
                <a:latin typeface="Calibri" pitchFamily="34" charset="0"/>
                <a:ea typeface="Calibri" pitchFamily="34" charset="-122"/>
                <a:cs typeface="Calibri" pitchFamily="34" charset="-120"/>
              </a:rPr>
              <a:t>The PostgreSQL proxy has no TLS of its own: loopback only in production</a:t>
            </a:r>
            <a:endParaRPr lang="en-US" sz="1400" dirty="0"/>
          </a:p>
        </p:txBody>
      </p:sp>
      <p:sp>
        <p:nvSpPr>
          <p:cNvPr id="11" name="close card 3"/>
          <p:cNvSpPr/>
          <p:nvPr/>
        </p:nvSpPr>
        <p:spPr>
          <a:xfrm>
            <a:off x="8046720" y="1280160"/>
            <a:ext cx="3520440" cy="3794760"/>
          </a:xfrm>
          <a:prstGeom prst="roundRect">
            <a:avLst>
              <a:gd name="adj" fmla="val 2078"/>
            </a:avLst>
          </a:prstGeom>
          <a:solidFill>
            <a:srgbClr val="13294B"/>
          </a:solidFill>
          <a:ln w="9525">
            <a:solidFill>
              <a:srgbClr val="1E3A5F"/>
            </a:solidFill>
            <a:prstDash val="solid"/>
          </a:ln>
        </p:spPr>
      </p:sp>
      <p:pic>
        <p:nvPicPr>
          <p:cNvPr id="12" name="Next 90 days icon" descr="Next 90 days">    </p:cNvPr>
          <p:cNvPicPr>
            <a:picLocks noChangeAspect="1"/>
          </p:cNvPicPr>
          <p:nvPr/>
        </p:nvPicPr>
        <p:blipFill>
          <a:blip r:embed="rId3"/>
          <a:stretch>
            <a:fillRect/>
          </a:stretch>
        </p:blipFill>
        <p:spPr>
          <a:xfrm>
            <a:off x="8275320" y="1481328"/>
            <a:ext cx="365760" cy="365760"/>
          </a:xfrm>
          <a:prstGeom prst="rect">
            <a:avLst/>
          </a:prstGeom>
        </p:spPr>
      </p:pic>
      <p:sp>
        <p:nvSpPr>
          <p:cNvPr id="13" name="Text 8"/>
          <p:cNvSpPr txBox="1"/>
          <p:nvPr/>
        </p:nvSpPr>
        <p:spPr>
          <a:xfrm>
            <a:off x="8778240" y="1444752"/>
            <a:ext cx="265176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Next 90 days</a:t>
            </a:r>
            <a:endParaRPr lang="en-US" sz="2000" dirty="0"/>
          </a:p>
        </p:txBody>
      </p:sp>
      <p:sp>
        <p:nvSpPr>
          <p:cNvPr id="14" name="Text 9"/>
          <p:cNvSpPr txBox="1"/>
          <p:nvPr/>
        </p:nvSpPr>
        <p:spPr>
          <a:xfrm>
            <a:off x="8275320" y="2057400"/>
            <a:ext cx="310896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2E8F0"/>
                </a:solidFill>
                <a:latin typeface="Calibri" pitchFamily="34" charset="0"/>
                <a:ea typeface="Calibri" pitchFamily="34" charset="-122"/>
                <a:cs typeface="Calibri" pitchFamily="34" charset="-120"/>
              </a:rPr>
              <a:t>NER for names in free text, benchmarked before release</a:t>
            </a:r>
            <a:endParaRPr lang="en-US" sz="1400" dirty="0"/>
          </a:p>
          <a:p>
            <a:pPr marL="342900" indent="-342900">
              <a:spcAft>
                <a:spcPts val="800"/>
              </a:spcAft>
              <a:buSzPct val="100000"/>
              <a:buChar char="•"/>
            </a:pPr>
            <a:r>
              <a:rPr lang="en-US" sz="1400" dirty="0">
                <a:solidFill>
                  <a:srgbClr val="E2E8F0"/>
                </a:solidFill>
                <a:latin typeface="Calibri" pitchFamily="34" charset="0"/>
                <a:ea typeface="Calibri" pitchFamily="34" charset="-122"/>
                <a:cs typeface="Calibri" pitchFamily="34" charset="-120"/>
              </a:rPr>
              <a:t>Pilot with one NBFC or cooperative bank on a read replica</a:t>
            </a:r>
            <a:endParaRPr lang="en-US" sz="1400" dirty="0"/>
          </a:p>
          <a:p>
            <a:pPr marL="342900" indent="-342900">
              <a:spcAft>
                <a:spcPts val="800"/>
              </a:spcAft>
              <a:buSzPct val="100000"/>
              <a:buChar char="•"/>
            </a:pPr>
            <a:r>
              <a:rPr lang="en-US" sz="1400" dirty="0">
                <a:solidFill>
                  <a:srgbClr val="E2E8F0"/>
                </a:solidFill>
                <a:latin typeface="Calibri" pitchFamily="34" charset="0"/>
                <a:ea typeface="Calibri" pitchFamily="34" charset="-122"/>
                <a:cs typeface="Calibri" pitchFamily="34" charset="-120"/>
              </a:rPr>
              <a:t>DPDP report export: what is masked, for whom, and why</a:t>
            </a:r>
            <a:endParaRPr lang="en-US" sz="1400" dirty="0"/>
          </a:p>
        </p:txBody>
      </p:sp>
      <p:sp>
        <p:nvSpPr>
          <p:cNvPr id="15" name="Text 10"/>
          <p:cNvSpPr txBox="1"/>
          <p:nvPr/>
        </p:nvSpPr>
        <p:spPr>
          <a:xfrm>
            <a:off x="548640" y="5349240"/>
            <a:ext cx="11064240" cy="411480"/>
          </a:xfrm>
          <a:prstGeom prst="rect">
            <a:avLst/>
          </a:prstGeom>
          <a:noFill/>
          <a:ln/>
        </p:spPr>
        <p:txBody>
          <a:bodyPr wrap="square" lIns="0" tIns="0" rIns="0" bIns="0" rtlCol="0" anchor="ctr"/>
          <a:lstStyle/>
          <a:p>
            <a:pPr indent="0" marL="0">
              <a:buNone/>
            </a:pPr>
            <a:r>
              <a:rPr lang="en-US" sz="1600" b="1" dirty="0">
                <a:solidFill>
                  <a:srgbClr val="D97706"/>
                </a:solidFill>
                <a:latin typeface="Courier New" pitchFamily="34" charset="0"/>
                <a:ea typeface="Courier New" pitchFamily="34" charset="-122"/>
                <a:cs typeface="Courier New" pitchFamily="34" charset="-120"/>
              </a:rPr>
              <a:t>pip install maskguard</a:t>
            </a:r>
            <a:pPr indent="0" marL="0">
              <a:buNone/>
            </a:pPr>
            <a:r>
              <a:rPr lang="en-US" sz="1600" dirty="0">
                <a:solidFill>
                  <a:srgbClr val="CBD5E1"/>
                </a:solidFill>
                <a:latin typeface="Calibri" pitchFamily="34" charset="0"/>
                <a:ea typeface="Calibri" pitchFamily="34" charset="-122"/>
                <a:cs typeface="Calibri" pitchFamily="34" charset="-120"/>
              </a:rPr>
              <a:t>      github.com/hotaro6754/mask      12-minute walkthrough: docs/demo_full.mp4</a:t>
            </a:r>
            <a:endParaRPr lang="en-US" sz="1600" dirty="0"/>
          </a:p>
        </p:txBody>
      </p:sp>
      <p:sp>
        <p:nvSpPr>
          <p:cNvPr id="16" name="Text 11"/>
          <p:cNvSpPr txBox="1"/>
          <p:nvPr/>
        </p:nvSpPr>
        <p:spPr>
          <a:xfrm>
            <a:off x="548640" y="5806440"/>
            <a:ext cx="11064240" cy="502920"/>
          </a:xfrm>
          <a:prstGeom prst="rect">
            <a:avLst/>
          </a:prstGeom>
          <a:noFill/>
          <a:ln/>
        </p:spPr>
        <p:txBody>
          <a:bodyPr wrap="square" lIns="0" tIns="0" rIns="0" bIns="0" rtlCol="0" anchor="ctr"/>
          <a:lstStyle/>
          <a:p>
            <a:pPr indent="0" marL="0">
              <a:buNone/>
            </a:pPr>
            <a:r>
              <a:rPr lang="en-US" sz="2400" b="1" i="1" dirty="0">
                <a:solidFill>
                  <a:srgbClr val="FFFFFF"/>
                </a:solidFill>
                <a:latin typeface="Cambria" pitchFamily="34" charset="0"/>
                <a:ea typeface="Cambria" pitchFamily="34" charset="-122"/>
                <a:cs typeface="Cambria" pitchFamily="34" charset="-120"/>
              </a:rPr>
              <a:t>Finds it. Hides it. Proves it.</a:t>
            </a:r>
            <a:endParaRPr lang="en-US" sz="2400" dirty="0"/>
          </a:p>
        </p:txBody>
      </p:sp>
      <p:sp>
        <p:nvSpPr>
          <p:cNvPr id="25" name="Slide Number Placeholder 0"/>
          <p:cNvSpPr>
            <a:spLocks noGrp="1"/>
          </p:cNvSpPr>
          <p:nvPr>
            <p:ph type="sldNum" sz="quarter" idx="4294967295"/>
          </p:nvPr>
        </p:nvSpPr>
        <p:spPr>
          <a:xfrm>
            <a:off x="1110996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MaskGuard Saffron">
  <a:themeElements>
    <a:clrScheme name="MaskGuard Saffron">
      <a:dk1>
        <a:srgbClr val="0B1D33"/>
      </a:dk1>
      <a:lt1>
        <a:srgbClr val="FFFFFF"/>
      </a:lt1>
      <a:dk2>
        <a:srgbClr val="1E3A5F"/>
      </a:dk2>
      <a:lt2>
        <a:srgbClr val="F1F5F9"/>
      </a:lt2>
      <a:accent1>
        <a:srgbClr val="D97706"/>
      </a:accent1>
      <a:accent2>
        <a:srgbClr val="0F766E"/>
      </a:accent2>
      <a:accent3>
        <a:srgbClr val="64748B"/>
      </a:accent3>
      <a:accent4>
        <a:srgbClr val="B42318"/>
      </a:accent4>
      <a:accent5>
        <a:srgbClr val="1E3A5F"/>
      </a:accent5>
      <a:accent6>
        <a:srgbClr val="F59E0B"/>
      </a:accent6>
      <a:hlink>
        <a:srgbClr val="0F766E"/>
      </a:hlink>
      <a:folHlink>
        <a:srgbClr val="64748B"/>
      </a:folHlink>
    </a:clrScheme>
    <a:fontScheme name="MaskGuard Saffr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TalentAP Mega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MaskGuard: smart data masking for PII</dc:title>
  <dc:subject>PptxGenJS Presentation</dc:subject>
  <dc:creator>MaskGuard team</dc:creator>
  <cp:lastModifiedBy>MaskGuard team</cp:lastModifiedBy>
  <cp:revision>1</cp:revision>
  <dcterms:created xsi:type="dcterms:W3CDTF">2026-10-30T08:25:35Z</dcterms:created>
  <dcterms:modified xsi:type="dcterms:W3CDTF">2026-10-30T08:25:35Z</dcterms:modified>
</cp:coreProperties>
</file>