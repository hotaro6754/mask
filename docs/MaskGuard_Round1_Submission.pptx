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 /><Relationship Id="rId2" Type="http://schemas.openxmlformats.org/package/2006/relationships/metadata/core-properties" Target="docProps/core.xml" /><Relationship Id="rId1" Type="http://schemas.openxmlformats.org/officeDocument/2006/relationships/officeDocument" Target="ppt/presentation.xml" /><Relationship Id="rId4" Type="http://schemas.microsoft.com/office/2020/02/relationships/classificationlabels" Target="docMetadata/LabelInfo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tableStyles" Target="tableStyles.xml" /><Relationship Id="rId3" Type="http://schemas.openxmlformats.org/officeDocument/2006/relationships/slide" Target="slides/slide2.xml" /><Relationship Id="rId7" Type="http://schemas.openxmlformats.org/officeDocument/2006/relationships/slide" Target="slides/slide6.xml" /><Relationship Id="rId12" Type="http://schemas.openxmlformats.org/officeDocument/2006/relationships/theme" Target="theme/theme1.xml" /><Relationship Id="rId2" Type="http://schemas.openxmlformats.org/officeDocument/2006/relationships/slide" Target="slides/slid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viewProps" Target="viewProps.xml" /><Relationship Id="rId5" Type="http://schemas.openxmlformats.org/officeDocument/2006/relationships/slide" Target="slides/slide4.xml" /><Relationship Id="rId10" Type="http://schemas.openxmlformats.org/officeDocument/2006/relationships/presProps" Target="presProps.xml" /><Relationship Id="rId4" Type="http://schemas.openxmlformats.org/officeDocument/2006/relationships/slide" Target="slides/slide3.xml" /><Relationship Id="rId9" Type="http://schemas.openxmlformats.org/officeDocument/2006/relationships/notesMaster" Target="notesMasters/notesMaster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1860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 /><Relationship Id="rId1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 /><Relationship Id="rId1" Type="http://schemas.openxmlformats.org/officeDocument/2006/relationships/slideLayout" Target="../slideLayouts/slideLayout1.xml" /></Relationships>
</file>

<file path=ppt/slides/_rels/slide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.xml" /><Relationship Id="rId1" Type="http://schemas.openxmlformats.org/officeDocument/2006/relationships/slideLayout" Target="../slideLayouts/slideLayout1.xml" /><Relationship Id="rIdMg1" Type="http://schemas.openxmlformats.org/officeDocument/2006/relationships/image" Target="../media/maskguard_s3_1.png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 /><Relationship Id="rId1" Type="http://schemas.openxmlformats.org/officeDocument/2006/relationships/slideLayout" Target="../slideLayouts/slideLayout1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 /><Relationship Id="rId1" Type="http://schemas.openxmlformats.org/officeDocument/2006/relationships/slideLayout" Target="../slideLayouts/slideLayout1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 /><Relationship Id="rId1" Type="http://schemas.openxmlformats.org/officeDocument/2006/relationships/slideLayout" Target="../slideLayouts/slideLayout1.xml" /></Relationships>
</file>

<file path=ppt/slides/_rels/slide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7.xml" /><Relationship Id="rId1" Type="http://schemas.openxmlformats.org/officeDocument/2006/relationships/slideLayout" Target="../slideLayouts/slideLayout1.xml" /><Relationship Id="rIdMg1" Type="http://schemas.openxmlformats.org/officeDocument/2006/relationships/image" Target="../media/maskguard_s7_1.png" /><Relationship Id="rIdMg2" Type="http://schemas.openxmlformats.org/officeDocument/2006/relationships/image" Target="../media/maskguard_s7_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7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REVIEW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A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Frontier Challenge 2026 Round 1 Submission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Team Name]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[Enter Leader Name]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1: Smart Data Masking (PII)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3383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3703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 2026</a:t>
            </a:r>
            <a:endParaRPr lang="en-US" sz="1800" dirty="0"/>
          </a:p>
        </p:txBody>
      </p:sp>
      <p:sp>
        <p:nvSpPr>
          <p:cNvPr id="101" name="Project name"/>
          <p:cNvSpPr txBox="1"/>
          <p:nvPr/>
        </p:nvSpPr>
        <p:spPr>
          <a:xfrm>
            <a:off x="457200" y="2157984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AI-powered PII discovery and leak-proof masking for any database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</a:t>
            </a:r>
            <a:endParaRPr lang="en-US" sz="4000" dirty="0"/>
          </a:p>
        </p:txBody>
      </p:sp>
      <p:sp>
        <p:nvSpPr>
          <p:cNvPr id="101" name="Problem Statement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/>
          </a:p>
        </p:txBody>
      </p:sp>
      <p:sp>
        <p:nvSpPr>
          <p:cNvPr id="102" name="Problem bullets"/>
          <p:cNvSpPr txBox="1"/>
          <p:nvPr/>
        </p:nvSpPr>
        <p:spPr>
          <a:xfrm>
            <a:off x="548640" y="1188720"/>
            <a:ext cx="8092440" cy="15544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NBFCs and fintechs give support, analytics and ops staff SQL access to tables full of card numbers, Aadhaar, PAN and balances, with no per-role control over what each person sees.</a:t>
            </a:r>
            <a:endParaRPr lang="en-US" sz="11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columns are hard to find: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lie (contact, ref_no) and regexes confuse order numbers with Aadhaar, so PII slips through unprotected.</a:t>
            </a:r>
            <a:endParaRPr lang="en-US" sz="11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leaks: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masking is a display filter, so WHERE, ORDER BY and aggregates still run on real values. An IEEE Access 2025 survey names masking's weakness as “limited protection against sophisticated attacks”.</a:t>
            </a:r>
            <a:endParaRPr lang="en-US" sz="1150" dirty="0"/>
          </a:p>
          <a:p>
            <a:pPr algn="l" marL="228600" indent="-228600">
              <a:spcAft>
                <a:spcPts val="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affected: 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(identity theft), institutions (breach costs, DPDP penalties) and teams who need the data.</a:t>
            </a:r>
            <a:endParaRPr lang="en-US" sz="1150" dirty="0"/>
          </a:p>
        </p:txBody>
      </p:sp>
      <p:sp>
        <p:nvSpPr>
          <p:cNvPr id="103" name="Market Opportunity"/>
          <p:cNvSpPr txBox="1"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2000" dirty="0"/>
          </a:p>
        </p:txBody>
      </p:sp>
      <p:sp>
        <p:nvSpPr>
          <p:cNvPr id="104" name="Stat 1"/>
          <p:cNvSpPr txBox="1"/>
          <p:nvPr/>
        </p:nvSpPr>
        <p:spPr>
          <a:xfrm>
            <a:off x="45720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₹25.5 cr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cost of a data breach in India in 2026; financial services is highest at ₹40.9 cr (IBM)</a:t>
            </a:r>
            <a:endParaRPr lang="en-US" sz="1050" dirty="0"/>
          </a:p>
        </p:txBody>
      </p:sp>
      <p:sp>
        <p:nvSpPr>
          <p:cNvPr id="105" name="Stat 2"/>
          <p:cNvSpPr txBox="1"/>
          <p:nvPr/>
        </p:nvSpPr>
        <p:spPr>
          <a:xfrm>
            <a:off x="324612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₹250 cr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DPDP penalty for weak security safeguards; Rule 6 names masking and 1-year access logs (from 13 May 2027)</a:t>
            </a:r>
            <a:endParaRPr lang="en-US" sz="1050" dirty="0"/>
          </a:p>
        </p:txBody>
      </p:sp>
      <p:sp>
        <p:nvSpPr>
          <p:cNvPr id="106" name="Stat 3"/>
          <p:cNvSpPr txBox="1"/>
          <p:nvPr/>
        </p:nvSpPr>
        <p:spPr>
          <a:xfrm>
            <a:off x="6035040" y="3145536"/>
            <a:ext cx="2651760" cy="109728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24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$1.1–1.5 B</a:t>
            </a:r>
            <a:endParaRPr lang="en-US" sz="2400" dirty="0"/>
          </a:p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data-masking market in 2025, growing about 12–18% a year (analyst estimates)</a:t>
            </a:r>
            <a:endParaRPr lang="en-US" sz="1050" dirty="0"/>
          </a:p>
        </p:txBody>
      </p:sp>
      <p:sp>
        <p:nvSpPr>
          <p:cNvPr id="107" name="Audience"/>
          <p:cNvSpPr txBox="1"/>
          <p:nvPr/>
        </p:nvSpPr>
        <p:spPr>
          <a:xfrm>
            <a:off x="457200" y="431596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NBFCs, insurers, fintechs and government data teams handling citizen records under DPDP.</a:t>
            </a:r>
            <a:endParaRPr lang="en-US" sz="1100" dirty="0"/>
          </a:p>
        </p:txBody>
      </p:sp>
      <p:sp>
        <p:nvSpPr>
          <p:cNvPr id="108" name="Sources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IBM Cost of a Data Breach 2026 (India); DPDP Rules 2025 (Rule 6), PIB; The Business Research Company; Research and Markets; Prabowo et al., IEEE Access 13 (2025).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4000" dirty="0"/>
          </a:p>
        </p:txBody>
      </p:sp>
      <p:sp>
        <p:nvSpPr>
          <p:cNvPr id="101" name="Solution Overview"/>
          <p:cNvSpPr txBox="1"/>
          <p:nvPr/>
        </p:nvSpPr>
        <p:spPr>
          <a:xfrm>
            <a:off x="457200" y="868680"/>
            <a:ext cx="40233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2000" dirty="0"/>
          </a:p>
        </p:txBody>
      </p:sp>
      <p:sp>
        <p:nvSpPr>
          <p:cNvPr id="102" name="Solution bullets"/>
          <p:cNvSpPr txBox="1"/>
          <p:nvPr/>
        </p:nvSpPr>
        <p:spPr>
          <a:xfrm>
            <a:off x="457200" y="1216152"/>
            <a:ext cx="4114800" cy="3630168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privacy gateway in front of any SQL database. It finds PII with AI and masks it per role at query time; stored data never changes.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PII discovery: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checksum validators find 20 PII types (Aadhaar, PAN, GSTIN, UPI, IFSC…) even behind misleading column names.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masking: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table is rewritten into a masked view inside the query. Admin sees all · Support 4111-XXXX-XXXX-1111 · Analyst keyed tokens · Auditor redacted; row filters per role.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Insider-threat engine: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anomaly scoring on the query stream blocks enumeration and probing.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Privacy-safe analytics: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differential-privacy aggregates with a per-analyst budget; free-text PII redacted in place.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engine, every interface: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dashboard, security CLI, REST API + Postman suite, PostgreSQL wire proxy; audit log, integrity proof, automated PIA.</a:t>
            </a:r>
            <a:endParaRPr lang="en-US" sz="1050" dirty="0"/>
          </a:p>
        </p:txBody>
      </p:sp>
      <p:pic>
        <p:nvPicPr>
          <p:cNvPr id="103" name="Screenshot 103" descr="Control Room playground: the same query as Admin, Support, Analyst and Auditor"/>
          <p:cNvPicPr>
            <a:picLocks noChangeAspect="1"/>
          </p:cNvPicPr>
          <p:nvPr/>
        </p:nvPicPr>
        <p:blipFill>
          <a:blip r:embed="rIdMg1"/>
          <a:stretch>
            <a:fillRect/>
          </a:stretch>
        </p:blipFill>
        <p:spPr>
          <a:xfrm>
            <a:off x="4709160" y="914400"/>
            <a:ext cx="3977640" cy="1544214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4" name="Caption"/>
          <p:cNvSpPr txBox="1"/>
          <p:nvPr/>
        </p:nvSpPr>
        <p:spPr>
          <a:xfrm>
            <a:off x="4709160" y="2486046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playground: one query, four roles, four real requests</a:t>
            </a:r>
            <a:endParaRPr lang="en-US" sz="950" dirty="0"/>
          </a:p>
        </p:txBody>
      </p:sp>
      <p:sp>
        <p:nvSpPr>
          <p:cNvPr id="105" name="Rewrite example"/>
          <p:cNvSpPr txBox="1"/>
          <p:nvPr/>
        </p:nvSpPr>
        <p:spPr>
          <a:xfrm>
            <a:off x="4709160" y="2806086"/>
            <a:ext cx="3977640" cy="141732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109728" tIns="109728" rIns="109728" bIns="10972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query is rewritten</a:t>
            </a:r>
            <a:endParaRPr lang="en-US" sz="1100" dirty="0"/>
          </a:p>
          <a:p>
            <a:pPr algn="l"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SELECT email AS mail FROM users</a:t>
            </a:r>
            <a:endParaRPr lang="en-US" sz="950" dirty="0"/>
          </a:p>
          <a:p>
            <a:pPr algn="l" marL="0" indent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SELECT email AS mail FROM (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SELECT id, mg_email(email) AS email,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  mg_partial(ssn, 0, 4) AS ssn, ...</a:t>
            </a:r>
            <a:endParaRPr lang="en-US" sz="9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  FROM main.users) AS users LIMIT 100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Steps &amp; Architecture</a:t>
            </a:r>
            <a:endParaRPr lang="en-US" sz="4000" dirty="0"/>
          </a:p>
        </p:txBody>
      </p:sp>
      <p:sp>
        <p:nvSpPr>
          <p:cNvPr id="101" name="Technical Implementation"/>
          <p:cNvSpPr txBox="1"/>
          <p:nvPr/>
        </p:nvSpPr>
        <p:spPr>
          <a:xfrm>
            <a:off x="457200" y="86868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Implementation</a:t>
            </a:r>
            <a:endParaRPr lang="en-US" sz="2000" dirty="0"/>
          </a:p>
        </p:txBody>
      </p:sp>
      <p:sp>
        <p:nvSpPr>
          <p:cNvPr id="102" name="Steps"/>
          <p:cNvSpPr txBox="1"/>
          <p:nvPr/>
        </p:nvSpPr>
        <p:spPr>
          <a:xfrm>
            <a:off x="457200" y="1216152"/>
            <a:ext cx="4160520" cy="3630168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SQLite, PostgreSQL and MySQL behind one engine, used by the Control Room, CLI, REST API, SDK and PostgreSQL wire proxy.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background AI scanner samples each column; LightGBM (85 features) + checksums tag it with evidence. Unsure columns stay masked.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passwords and signed JWTs; the role only comes from the session; capabilities gate audit, policy and integrity.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risk: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threat engine scores each session (rules + IsolationForest) and blocks probing.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&amp; execute: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sqlglot swaps every table for a masked view, adds DP noise to analyst aggregates, rejects unsafe SQL, runs read-only.</a:t>
            </a:r>
            <a:endParaRPr lang="en-US" sz="1050" dirty="0"/>
          </a:p>
          <a:p>
            <a:pPr algn="l" marL="228600" indent="-228600">
              <a:spcAft>
                <a:spcPts val="4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prove: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log with request id and policy version; integrity proof shows source data unchanged; PIA for DPDP Rule 6.</a:t>
            </a:r>
            <a:endParaRPr lang="en-US" sz="1050" dirty="0"/>
          </a:p>
        </p:txBody>
      </p:sp>
      <p:sp>
        <p:nvSpPr>
          <p:cNvPr id="103" name="Architecture Diagram"/>
          <p:cNvSpPr txBox="1"/>
          <p:nvPr/>
        </p:nvSpPr>
        <p:spPr>
          <a:xfrm>
            <a:off x="4846320" y="86868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2000" dirty="0"/>
          </a:p>
        </p:txBody>
      </p:sp>
      <p:sp>
        <p:nvSpPr>
          <p:cNvPr id="104" name="Control Room · CLI · API · BI tools"/>
          <p:cNvSpPr txBox="1"/>
          <p:nvPr/>
        </p:nvSpPr>
        <p:spPr>
          <a:xfrm>
            <a:off x="4846320" y="1298448"/>
            <a:ext cx="2103120" cy="475488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· CLI · API · BI tools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REST, SDK or PostgreSQL wire proxy</a:t>
            </a:r>
            <a:endParaRPr lang="en-US" sz="850" dirty="0"/>
          </a:p>
        </p:txBody>
      </p:sp>
      <p:sp>
        <p:nvSpPr>
          <p:cNvPr id="105" name="Auth + threat engine"/>
          <p:cNvSpPr txBox="1"/>
          <p:nvPr/>
        </p:nvSpPr>
        <p:spPr>
          <a:xfrm>
            <a:off x="4846320" y="2011680"/>
            <a:ext cx="2103120" cy="42062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threat engine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role · ML risk score</a:t>
            </a:r>
            <a:endParaRPr lang="en-US" sz="850" dirty="0"/>
          </a:p>
        </p:txBody>
      </p:sp>
      <p:sp>
        <p:nvSpPr>
          <p:cNvPr id="106" name="Audit + integrity"/>
          <p:cNvSpPr txBox="1"/>
          <p:nvPr/>
        </p:nvSpPr>
        <p:spPr>
          <a:xfrm>
            <a:off x="7178040" y="2011680"/>
            <a:ext cx="1508760" cy="42062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+ integrity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chain · digest proof</a:t>
            </a:r>
            <a:endParaRPr lang="en-US" sz="850" dirty="0"/>
          </a:p>
        </p:txBody>
      </p:sp>
      <p:sp>
        <p:nvSpPr>
          <p:cNvPr id="107" name="Masking engine (sqlglot)"/>
          <p:cNvSpPr txBox="1"/>
          <p:nvPr/>
        </p:nvSpPr>
        <p:spPr>
          <a:xfrm>
            <a:off x="4846320" y="2670048"/>
            <a:ext cx="2103120" cy="713232"/>
          </a:xfrm>
          <a:prstGeom prst="roundRect">
            <a:avLst>
              <a:gd name="adj" fmla="val 8000"/>
            </a:avLst>
          </a:prstGeom>
          <a:solidFill>
            <a:srgbClr val="1F4788"/>
          </a:solidFill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engine (sqlglot)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views · DP aggregates · firewall · row caps</a:t>
            </a:r>
            <a:endParaRPr lang="en-US" sz="850" dirty="0"/>
          </a:p>
        </p:txBody>
      </p:sp>
      <p:sp>
        <p:nvSpPr>
          <p:cNvPr id="108" name="Versioned policy"/>
          <p:cNvSpPr txBox="1"/>
          <p:nvPr/>
        </p:nvSpPr>
        <p:spPr>
          <a:xfrm>
            <a:off x="7178040" y="2670048"/>
            <a:ext cx="1508760" cy="329184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policy</a:t>
            </a:r>
            <a:endParaRPr lang="en-US" sz="1000" dirty="0"/>
          </a:p>
        </p:txBody>
      </p:sp>
      <p:sp>
        <p:nvSpPr>
          <p:cNvPr id="109" name="AI PII scanner"/>
          <p:cNvSpPr txBox="1"/>
          <p:nvPr/>
        </p:nvSpPr>
        <p:spPr>
          <a:xfrm>
            <a:off x="7178040" y="3090672"/>
            <a:ext cx="1508760" cy="1024128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PII scanner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worker: LightGBM + checksums → tags</a:t>
            </a:r>
            <a:endParaRPr lang="en-US" sz="850" dirty="0"/>
          </a:p>
        </p:txBody>
      </p:sp>
      <p:sp>
        <p:nvSpPr>
          <p:cNvPr id="110" name="SQLite | PostgreSQL | MySQL"/>
          <p:cNvSpPr txBox="1"/>
          <p:nvPr/>
        </p:nvSpPr>
        <p:spPr>
          <a:xfrm>
            <a:off x="4846320" y="3621024"/>
            <a:ext cx="2103120" cy="493776"/>
          </a:xfrm>
          <a:prstGeom prst="roundRect">
            <a:avLst>
              <a:gd name="adj" fmla="val 8000"/>
            </a:avLst>
          </a:prstGeom>
          <a:solidFill>
            <a:srgbClr val="E8EEF8"/>
          </a:solidFill>
          <a:ln w="9525">
            <a:solidFill>
              <a:srgbClr val="B7C6E0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| PostgreSQL | MySQL</a:t>
            </a:r>
            <a:endParaRPr lang="en-US" sz="1000" dirty="0"/>
          </a:p>
          <a:p>
            <a:pPr algn="ctr" marL="0" indent="0">
              <a:lnSpc>
                <a:spcPct val="90000"/>
              </a:lnSpc>
              <a:spcAft>
                <a:spcPts val="0"/>
              </a:spcAft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read-only; data never modified</a:t>
            </a:r>
            <a:endParaRPr lang="en-US" sz="850" dirty="0"/>
          </a:p>
        </p:txBody>
      </p:sp>
      <p:cxnSp>
        <p:nvCxnSpPr>
          <p:cNvPr id="111" name="Arrow 111"/>
          <p:cNvCxnSpPr/>
          <p:nvPr/>
        </p:nvCxnSpPr>
        <p:spPr>
          <a:xfrm>
            <a:off x="5897880" y="1773936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2" name="Arrow 112"/>
          <p:cNvCxnSpPr/>
          <p:nvPr/>
        </p:nvCxnSpPr>
        <p:spPr>
          <a:xfrm>
            <a:off x="5897880" y="2432304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3" name="Arrow 113"/>
          <p:cNvCxnSpPr/>
          <p:nvPr/>
        </p:nvCxnSpPr>
        <p:spPr>
          <a:xfrm>
            <a:off x="5897880" y="3383280"/>
            <a:ext cx="0" cy="237744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4" name="Arrow 114"/>
          <p:cNvCxnSpPr/>
          <p:nvPr/>
        </p:nvCxnSpPr>
        <p:spPr>
          <a:xfrm>
            <a:off x="6949440" y="2221992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5" name="Arrow 115"/>
          <p:cNvCxnSpPr/>
          <p:nvPr/>
        </p:nvCxnSpPr>
        <p:spPr>
          <a:xfrm flipH="1">
            <a:off x="6949440" y="2834640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6" name="Arrow 116"/>
          <p:cNvCxnSpPr/>
          <p:nvPr/>
        </p:nvCxnSpPr>
        <p:spPr>
          <a:xfrm flipH="1">
            <a:off x="6949440" y="3246120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cxnSp>
        <p:nvCxnSpPr>
          <p:cNvPr id="117" name="Arrow 117"/>
          <p:cNvCxnSpPr/>
          <p:nvPr/>
        </p:nvCxnSpPr>
        <p:spPr>
          <a:xfrm>
            <a:off x="6949440" y="3867912"/>
            <a:ext cx="228600" cy="0"/>
          </a:xfrm>
          <a:prstGeom prst="straightConnector1">
            <a:avLst/>
          </a:prstGeom>
          <a:ln w="15875">
            <a:solidFill>
              <a:srgbClr val="1F4788"/>
            </a:solidFill>
            <a:tailEnd type="triangle" w="med" len="med"/>
          </a:ln>
        </p:spPr>
      </p:cxnSp>
      <p:sp>
        <p:nvSpPr>
          <p:cNvPr id="118" name="Diagram caption"/>
          <p:cNvSpPr txBox="1"/>
          <p:nvPr/>
        </p:nvSpPr>
        <p:spPr>
          <a:xfrm>
            <a:off x="4846320" y="420624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rows return the same way. The scanner samples the database; its tags and the policy decide each column's mask per role.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Mitigation</a:t>
            </a:r>
            <a:endParaRPr lang="en-US" sz="4000" dirty="0"/>
          </a:p>
        </p:txBody>
      </p:sp>
      <p:sp>
        <p:nvSpPr>
          <p:cNvPr id="101" name="Challenge 1"/>
          <p:cNvSpPr txBox="1"/>
          <p:nvPr/>
        </p:nvSpPr>
        <p:spPr>
          <a:xfrm>
            <a:off x="457200" y="84124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Finding PII when column names lie</a:t>
            </a:r>
            <a:endParaRPr lang="en-US" sz="1250" dirty="0"/>
          </a:p>
        </p:txBody>
      </p:sp>
      <p:sp>
        <p:nvSpPr>
          <p:cNvPr id="102" name="Challenge 1 detail"/>
          <p:cNvSpPr txBox="1"/>
          <p:nvPr/>
        </p:nvSpPr>
        <p:spPr>
          <a:xfrm>
            <a:off x="594360" y="111556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mislead (contact, ref_no) and regexes mistake order numbers or OTPs for Aadhaar and pincodes.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on value statistics plus checksum validators; checksum hits can never be overridden, and uncertain columns are still masked for review.</a:t>
            </a:r>
            <a:endParaRPr lang="en-US" sz="1050" dirty="0"/>
          </a:p>
        </p:txBody>
      </p:sp>
      <p:sp>
        <p:nvSpPr>
          <p:cNvPr id="103" name="Rect 103"/>
          <p:cNvSpPr/>
          <p:nvPr/>
        </p:nvSpPr>
        <p:spPr>
          <a:xfrm>
            <a:off x="457200" y="2093976"/>
            <a:ext cx="4663440" cy="9144"/>
          </a:xfrm>
          <a:prstGeom prst="rect">
            <a:avLst/>
          </a:prstGeom>
          <a:solidFill>
            <a:srgbClr val="DADF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Challenge 2"/>
          <p:cNvSpPr txBox="1"/>
          <p:nvPr/>
        </p:nvSpPr>
        <p:spPr>
          <a:xfrm>
            <a:off x="457200" y="216712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Inference through filters and aggregates</a:t>
            </a:r>
            <a:endParaRPr lang="en-US" sz="1250" dirty="0"/>
          </a:p>
        </p:txBody>
      </p:sp>
      <p:sp>
        <p:nvSpPr>
          <p:cNvPr id="105" name="Challenge 2 detail"/>
          <p:cNvSpPr txBox="1"/>
          <p:nvPr/>
        </p:nvSpPr>
        <p:spPr>
          <a:xfrm>
            <a:off x="594360" y="244144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/ LIKE / BETWEEN probes, ORDER BY and one-row aggregates reveal masked values without selecting them.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at the table source, suppress groups under 5 rows, reject unsafe SQL; the threat engine alerts within ~8 queries and blocks.</a:t>
            </a:r>
            <a:endParaRPr lang="en-US" sz="1050" dirty="0"/>
          </a:p>
        </p:txBody>
      </p:sp>
      <p:sp>
        <p:nvSpPr>
          <p:cNvPr id="106" name="Rect 106"/>
          <p:cNvSpPr/>
          <p:nvPr/>
        </p:nvSpPr>
        <p:spPr>
          <a:xfrm>
            <a:off x="457200" y="3419856"/>
            <a:ext cx="4663440" cy="9144"/>
          </a:xfrm>
          <a:prstGeom prst="rect">
            <a:avLst/>
          </a:prstGeom>
          <a:solidFill>
            <a:srgbClr val="DADF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7" name="Challenge 3"/>
          <p:cNvSpPr txBox="1"/>
          <p:nvPr/>
        </p:nvSpPr>
        <p:spPr>
          <a:xfrm>
            <a:off x="457200" y="3493008"/>
            <a:ext cx="4663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2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Privacy vs. usefulness for analysts</a:t>
            </a:r>
            <a:endParaRPr lang="en-US" sz="1250" dirty="0"/>
          </a:p>
        </p:txBody>
      </p:sp>
      <p:sp>
        <p:nvSpPr>
          <p:cNvPr id="108" name="Challenge 3 detail"/>
          <p:cNvSpPr txBox="1"/>
          <p:nvPr/>
        </p:nvSpPr>
        <p:spPr>
          <a:xfrm>
            <a:off x="594360" y="3767328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redaction makes analytics useless; plain hashes of IDs are brute-forceable.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tokens keep joins working; differential-privacy aggregates (5.4% error at n=150) with a daily per-analyst budget.</a:t>
            </a:r>
            <a:endParaRPr lang="en-US" sz="1050" dirty="0"/>
          </a:p>
        </p:txBody>
      </p:sp>
      <p:sp>
        <p:nvSpPr>
          <p:cNvPr id="109" name="Evidence panel"/>
          <p:cNvSpPr txBox="1"/>
          <p:nvPr/>
        </p:nvSpPr>
        <p:spPr>
          <a:xfrm>
            <a:off x="5349240" y="841248"/>
            <a:ext cx="3337560" cy="4005072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n-US"/>
          </a:p>
        </p:txBody>
      </p:sp>
      <p:sp>
        <p:nvSpPr>
          <p:cNvPr id="110" name="Evidence title"/>
          <p:cNvSpPr txBox="1"/>
          <p:nvPr/>
        </p:nvSpPr>
        <p:spPr>
          <a:xfrm>
            <a:off x="5486400" y="896112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3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results</a:t>
            </a:r>
            <a:endParaRPr lang="en-US" sz="1300" dirty="0"/>
          </a:p>
        </p:txBody>
      </p:sp>
      <p:sp>
        <p:nvSpPr>
          <p:cNvPr id="111" name="PII discovery, misleading column names (F1)"/>
          <p:cNvSpPr txBox="1"/>
          <p:nvPr/>
        </p:nvSpPr>
        <p:spPr>
          <a:xfrm>
            <a:off x="5486400" y="1234440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discovery, misleading column names (F1)</a:t>
            </a:r>
            <a:endParaRPr lang="en-US" sz="1050" dirty="0"/>
          </a:p>
        </p:txBody>
      </p:sp>
      <p:sp>
        <p:nvSpPr>
          <p:cNvPr id="112" name="PII discovery, misleading column names (F1) label 0"/>
          <p:cNvSpPr txBox="1"/>
          <p:nvPr/>
        </p:nvSpPr>
        <p:spPr>
          <a:xfrm>
            <a:off x="5486400" y="1508760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baseline</a:t>
            </a:r>
            <a:endParaRPr lang="en-US" sz="950" dirty="0"/>
          </a:p>
        </p:txBody>
      </p:sp>
      <p:sp>
        <p:nvSpPr>
          <p:cNvPr id="113" name="Rect 113"/>
          <p:cNvSpPr/>
          <p:nvPr/>
        </p:nvSpPr>
        <p:spPr>
          <a:xfrm>
            <a:off x="6720840" y="1536192"/>
            <a:ext cx="1103608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PII discovery, misleading column names (F1) value 0"/>
          <p:cNvSpPr txBox="1"/>
          <p:nvPr/>
        </p:nvSpPr>
        <p:spPr>
          <a:xfrm>
            <a:off x="7879312" y="150876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0.844</a:t>
            </a:r>
            <a:endParaRPr lang="en-US" sz="1000" dirty="0"/>
          </a:p>
        </p:txBody>
      </p:sp>
      <p:sp>
        <p:nvSpPr>
          <p:cNvPr id="115" name="PII discovery, misleading column names (F1) label 1"/>
          <p:cNvSpPr txBox="1"/>
          <p:nvPr/>
        </p:nvSpPr>
        <p:spPr>
          <a:xfrm>
            <a:off x="5486400" y="1783080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AI</a:t>
            </a:r>
            <a:endParaRPr lang="en-US" sz="950" dirty="0"/>
          </a:p>
        </p:txBody>
      </p:sp>
      <p:sp>
        <p:nvSpPr>
          <p:cNvPr id="116" name="Rect 116"/>
          <p:cNvSpPr/>
          <p:nvPr/>
        </p:nvSpPr>
        <p:spPr>
          <a:xfrm>
            <a:off x="6720840" y="1810512"/>
            <a:ext cx="1306284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7" name="PII discovery, misleading column names (F1) value 1"/>
          <p:cNvSpPr txBox="1"/>
          <p:nvPr/>
        </p:nvSpPr>
        <p:spPr>
          <a:xfrm>
            <a:off x="8081988" y="178308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</a:t>
            </a:r>
            <a:endParaRPr lang="en-US" sz="1000" dirty="0"/>
          </a:p>
        </p:txBody>
      </p:sp>
      <p:sp>
        <p:nvSpPr>
          <p:cNvPr id="118" name="False alarms on look-alike data"/>
          <p:cNvSpPr txBox="1"/>
          <p:nvPr/>
        </p:nvSpPr>
        <p:spPr>
          <a:xfrm>
            <a:off x="5486400" y="2212848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 on look-alike data</a:t>
            </a:r>
            <a:endParaRPr lang="en-US" sz="1050" dirty="0"/>
          </a:p>
        </p:txBody>
      </p:sp>
      <p:sp>
        <p:nvSpPr>
          <p:cNvPr id="119" name="False alarms on look-alike data label 0"/>
          <p:cNvSpPr txBox="1"/>
          <p:nvPr/>
        </p:nvSpPr>
        <p:spPr>
          <a:xfrm>
            <a:off x="5486400" y="2487168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baseline</a:t>
            </a:r>
            <a:endParaRPr lang="en-US" sz="950" dirty="0"/>
          </a:p>
        </p:txBody>
      </p:sp>
      <p:sp>
        <p:nvSpPr>
          <p:cNvPr id="120" name="Rect 120"/>
          <p:cNvSpPr/>
          <p:nvPr/>
        </p:nvSpPr>
        <p:spPr>
          <a:xfrm>
            <a:off x="6720840" y="2514600"/>
            <a:ext cx="1161142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1" name="False alarms on look-alike data value 0"/>
          <p:cNvSpPr txBox="1"/>
          <p:nvPr/>
        </p:nvSpPr>
        <p:spPr>
          <a:xfrm>
            <a:off x="7936846" y="248716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1000" dirty="0"/>
          </a:p>
        </p:txBody>
      </p:sp>
      <p:sp>
        <p:nvSpPr>
          <p:cNvPr id="122" name="False alarms on look-alike data label 1"/>
          <p:cNvSpPr txBox="1"/>
          <p:nvPr/>
        </p:nvSpPr>
        <p:spPr>
          <a:xfrm>
            <a:off x="5486400" y="2761488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AI</a:t>
            </a:r>
            <a:endParaRPr lang="en-US" sz="950" dirty="0"/>
          </a:p>
        </p:txBody>
      </p:sp>
      <p:sp>
        <p:nvSpPr>
          <p:cNvPr id="123" name="Rect 123"/>
          <p:cNvSpPr/>
          <p:nvPr/>
        </p:nvSpPr>
        <p:spPr>
          <a:xfrm>
            <a:off x="6720840" y="2788920"/>
            <a:ext cx="78456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4" name="False alarms on look-alike data value 1"/>
          <p:cNvSpPr txBox="1"/>
          <p:nvPr/>
        </p:nvSpPr>
        <p:spPr>
          <a:xfrm>
            <a:off x="6854160" y="276148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1.5%</a:t>
            </a:r>
            <a:endParaRPr lang="en-US" sz="1000" dirty="0"/>
          </a:p>
        </p:txBody>
      </p:sp>
      <p:sp>
        <p:nvSpPr>
          <p:cNvPr id="125" name="False alarms on look-alike data note"/>
          <p:cNvSpPr txBox="1"/>
          <p:nvPr/>
        </p:nvSpPr>
        <p:spPr>
          <a:xfrm>
            <a:off x="5486400" y="3035808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</a:t>
            </a:r>
            <a:endParaRPr lang="en-US" sz="850" dirty="0"/>
          </a:p>
        </p:txBody>
      </p:sp>
      <p:sp>
        <p:nvSpPr>
          <p:cNvPr id="126" name="PII leaks across 17 attacks"/>
          <p:cNvSpPr txBox="1"/>
          <p:nvPr/>
        </p:nvSpPr>
        <p:spPr>
          <a:xfrm>
            <a:off x="5486400" y="3364992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leaks across 17 attacks</a:t>
            </a:r>
            <a:endParaRPr lang="en-US" sz="1050" dirty="0"/>
          </a:p>
        </p:txBody>
      </p:sp>
      <p:sp>
        <p:nvSpPr>
          <p:cNvPr id="127" name="PII leaks across 17 attacks label 0"/>
          <p:cNvSpPr txBox="1"/>
          <p:nvPr/>
        </p:nvSpPr>
        <p:spPr>
          <a:xfrm>
            <a:off x="5486400" y="363931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masking</a:t>
            </a:r>
            <a:endParaRPr lang="en-US" sz="950" dirty="0"/>
          </a:p>
        </p:txBody>
      </p:sp>
      <p:sp>
        <p:nvSpPr>
          <p:cNvPr id="128" name="Rect 128"/>
          <p:cNvSpPr/>
          <p:nvPr/>
        </p:nvSpPr>
        <p:spPr>
          <a:xfrm>
            <a:off x="6720840" y="3666744"/>
            <a:ext cx="1153758" cy="164592"/>
          </a:xfrm>
          <a:prstGeom prst="rect">
            <a:avLst/>
          </a:prstGeom>
          <a:solidFill>
            <a:srgbClr val="B8C2D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9" name="PII leaks across 17 attacks value 0"/>
          <p:cNvSpPr txBox="1"/>
          <p:nvPr/>
        </p:nvSpPr>
        <p:spPr>
          <a:xfrm>
            <a:off x="7929462" y="3639312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130" name="PII leaks across 17 attacks label 1"/>
          <p:cNvSpPr txBox="1"/>
          <p:nvPr/>
        </p:nvSpPr>
        <p:spPr>
          <a:xfrm>
            <a:off x="5486400" y="3913632"/>
            <a:ext cx="12344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9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</a:t>
            </a:r>
            <a:endParaRPr lang="en-US" sz="950" dirty="0"/>
          </a:p>
        </p:txBody>
      </p:sp>
      <p:sp>
        <p:nvSpPr>
          <p:cNvPr id="131" name="Rect 131"/>
          <p:cNvSpPr/>
          <p:nvPr/>
        </p:nvSpPr>
        <p:spPr>
          <a:xfrm>
            <a:off x="6720840" y="3941064"/>
            <a:ext cx="27432" cy="164592"/>
          </a:xfrm>
          <a:prstGeom prst="rect">
            <a:avLst/>
          </a:prstGeom>
          <a:solidFill>
            <a:srgbClr val="1F478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2" name="PII leaks across 17 attacks value 1"/>
          <p:cNvSpPr txBox="1"/>
          <p:nvPr/>
        </p:nvSpPr>
        <p:spPr>
          <a:xfrm>
            <a:off x="6803136" y="3913632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1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33" name="PII leaks across 17 attacks note"/>
          <p:cNvSpPr txBox="1"/>
          <p:nvPr/>
        </p:nvSpPr>
        <p:spPr>
          <a:xfrm>
            <a:off x="5486400" y="4187952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</a:t>
            </a:r>
            <a:endParaRPr lang="en-US" sz="850" dirty="0"/>
          </a:p>
        </p:txBody>
      </p:sp>
      <p:sp>
        <p:nvSpPr>
          <p:cNvPr id="134" name="Evidence source"/>
          <p:cNvSpPr txBox="1"/>
          <p:nvPr/>
        </p:nvSpPr>
        <p:spPr>
          <a:xfrm>
            <a:off x="5486400" y="4462272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0" indent="0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bharat-pii-bench (Apache-2.0), 2,880 unseen columns; attack suite on PostgreSQL.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Proposition (USP)</a:t>
            </a:r>
            <a:endParaRPr lang="en-US" sz="4000" dirty="0"/>
          </a:p>
        </p:txBody>
      </p:sp>
      <p:sp>
        <p:nvSpPr>
          <p:cNvPr id="101" name="Rect 101"/>
          <p:cNvSpPr/>
          <p:nvPr/>
        </p:nvSpPr>
        <p:spPr>
          <a:xfrm>
            <a:off x="5486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I that beats the benchmark"/>
          <p:cNvSpPr txBox="1"/>
          <p:nvPr/>
        </p:nvSpPr>
        <p:spPr>
          <a:xfrm>
            <a:off x="5486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beats the benchmark</a:t>
            </a:r>
            <a:endParaRPr lang="en-US" sz="1350" dirty="0"/>
          </a:p>
        </p:txBody>
      </p:sp>
      <p:sp>
        <p:nvSpPr>
          <p:cNvPr id="103" name="AI that beats the benchmark detail"/>
          <p:cNvSpPr txBox="1"/>
          <p:nvPr/>
        </p:nvSpPr>
        <p:spPr>
          <a:xfrm>
            <a:off x="5486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LightGBM + checksum scanner scores 0.999 F1 on an independent Indian-PII benchmark with misleading column names (baseline 0.844) and cuts false alarms from 22.2% to 1.5%.</a:t>
            </a:r>
            <a:endParaRPr lang="en-US" sz="1100" dirty="0"/>
          </a:p>
        </p:txBody>
      </p:sp>
      <p:sp>
        <p:nvSpPr>
          <p:cNvPr id="104" name="Rect 104"/>
          <p:cNvSpPr/>
          <p:nvPr/>
        </p:nvSpPr>
        <p:spPr>
          <a:xfrm>
            <a:off x="32918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Leak-proof by construction"/>
          <p:cNvSpPr txBox="1"/>
          <p:nvPr/>
        </p:nvSpPr>
        <p:spPr>
          <a:xfrm>
            <a:off x="32918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Leak-proof by construction</a:t>
            </a:r>
            <a:endParaRPr lang="en-US" sz="1350" dirty="0"/>
          </a:p>
        </p:txBody>
      </p:sp>
      <p:sp>
        <p:nvSpPr>
          <p:cNvPr id="106" name="Leak-proof by construction detail"/>
          <p:cNvSpPr txBox="1"/>
          <p:nvPr/>
        </p:nvSpPr>
        <p:spPr>
          <a:xfrm>
            <a:off x="32918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Masks at the table source: 0 of 17 bypass and inference attacks leak (naive masking: 15). The threat engine catches 95–100% of simulated insider attacks, blocking no normal users.</a:t>
            </a:r>
            <a:endParaRPr lang="en-US" sz="1100" dirty="0"/>
          </a:p>
        </p:txBody>
      </p:sp>
      <p:sp>
        <p:nvSpPr>
          <p:cNvPr id="107" name="Rect 107"/>
          <p:cNvSpPr/>
          <p:nvPr/>
        </p:nvSpPr>
        <p:spPr>
          <a:xfrm>
            <a:off x="6035040" y="914400"/>
            <a:ext cx="2560320" cy="73152"/>
          </a:xfrm>
          <a:prstGeom prst="rect">
            <a:avLst/>
          </a:prstGeom>
          <a:solidFill>
            <a:srgbClr val="00A4E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8" name="Built for India and DPDP"/>
          <p:cNvSpPr txBox="1"/>
          <p:nvPr/>
        </p:nvSpPr>
        <p:spPr>
          <a:xfrm>
            <a:off x="6035040" y="1051560"/>
            <a:ext cx="2560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3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India and DPDP</a:t>
            </a:r>
            <a:endParaRPr lang="en-US" sz="1350" dirty="0"/>
          </a:p>
        </p:txBody>
      </p:sp>
      <p:sp>
        <p:nvSpPr>
          <p:cNvPr id="109" name="Built for India and DPDP detail"/>
          <p:cNvSpPr txBox="1"/>
          <p:nvPr/>
        </p:nvSpPr>
        <p:spPr>
          <a:xfrm>
            <a:off x="6035040" y="1417320"/>
            <a:ext cx="2560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36576" tIns="36576" rIns="36576" bIns="36576" rtlCol="0" anchor="t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PAN, GSTIN, UPI, IFSC, EPIC and Devanagari names; keyed tokens; one-year tamper-evident audit and an automated PIA mapped to DPDP Rule 6.</a:t>
            </a:r>
            <a:endParaRPr lang="en-US" sz="1100" dirty="0"/>
          </a:p>
        </p:txBody>
      </p:sp>
      <p:sp>
        <p:nvSpPr>
          <p:cNvPr id="110" name="Proof 1"/>
          <p:cNvSpPr txBox="1"/>
          <p:nvPr/>
        </p:nvSpPr>
        <p:spPr>
          <a:xfrm>
            <a:off x="5486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with misleading headers</a:t>
            </a:r>
            <a:endParaRPr lang="en-US" sz="1000" dirty="0"/>
          </a:p>
        </p:txBody>
      </p:sp>
      <p:sp>
        <p:nvSpPr>
          <p:cNvPr id="111" name="Proof 2"/>
          <p:cNvSpPr txBox="1"/>
          <p:nvPr/>
        </p:nvSpPr>
        <p:spPr>
          <a:xfrm>
            <a:off x="26060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17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leaks in attack suite</a:t>
            </a:r>
            <a:endParaRPr lang="en-US" sz="1000" dirty="0"/>
          </a:p>
        </p:txBody>
      </p:sp>
      <p:sp>
        <p:nvSpPr>
          <p:cNvPr id="112" name="Proof 3"/>
          <p:cNvSpPr txBox="1"/>
          <p:nvPr/>
        </p:nvSpPr>
        <p:spPr>
          <a:xfrm>
            <a:off x="46634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95–100%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 attacks caught</a:t>
            </a:r>
            <a:endParaRPr lang="en-US" sz="1000" dirty="0"/>
          </a:p>
        </p:txBody>
      </p:sp>
      <p:sp>
        <p:nvSpPr>
          <p:cNvPr id="113" name="Proof 4"/>
          <p:cNvSpPr txBox="1"/>
          <p:nvPr/>
        </p:nvSpPr>
        <p:spPr>
          <a:xfrm>
            <a:off x="6720840" y="2651760"/>
            <a:ext cx="1920240" cy="658368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416 + 121</a:t>
            </a:r>
            <a:endParaRPr lang="en-US" sz="1800" dirty="0"/>
          </a:p>
          <a:p>
            <a:pPr algn="ctr" marL="0" indent="0">
              <a:spcAft>
                <a:spcPts val="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+ API checks pass, 3 DBs</a:t>
            </a:r>
            <a:endParaRPr lang="en-US" sz="1000" dirty="0"/>
          </a:p>
        </p:txBody>
      </p:sp>
      <p:sp>
        <p:nvSpPr>
          <p:cNvPr id="114" name="Competitive Advantage Summary"/>
          <p:cNvSpPr txBox="1"/>
          <p:nvPr/>
        </p:nvSpPr>
        <p:spPr>
          <a:xfrm>
            <a:off x="457200" y="3456432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 Summary</a:t>
            </a:r>
            <a:endParaRPr lang="en-US" sz="2000" dirty="0"/>
          </a:p>
        </p:txBody>
      </p:sp>
      <p:sp>
        <p:nvSpPr>
          <p:cNvPr id="115" name="Advantages"/>
          <p:cNvSpPr txBox="1"/>
          <p:nvPr/>
        </p:nvSpPr>
        <p:spPr>
          <a:xfrm>
            <a:off x="548640" y="3794760"/>
            <a:ext cx="8138160" cy="105156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228600" indent="-228600">
              <a:spcAft>
                <a:spcPts val="2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native dynamic masking: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and sorting there still run on real values; here they never see them.</a:t>
            </a:r>
            <a:endParaRPr lang="en-US" sz="1100" dirty="0"/>
          </a:p>
          <a:p>
            <a:pPr algn="l" marL="228600" indent="-228600">
              <a:spcAft>
                <a:spcPts val="2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text PII tools (Presidio, pii-masker):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find PII in text but do not enforce per-role access in the database at query time.</a:t>
            </a:r>
            <a:endParaRPr lang="en-US" sz="1100" dirty="0"/>
          </a:p>
          <a:p>
            <a:pPr algn="l" marL="228600" indent="-228600">
              <a:spcAft>
                <a:spcPts val="2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PostgreSQL Anonymizer: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one engine; MaskGuard applies one policy across databases and BI tools.</a:t>
            </a:r>
            <a:endParaRPr lang="en-US" sz="1100" dirty="0"/>
          </a:p>
          <a:p>
            <a:pPr algn="l" marL="228600" indent="-228600">
              <a:spcAft>
                <a:spcPts val="200"/>
              </a:spcAft>
              <a:buClr>
                <a:srgbClr val="1F4788"/>
              </a:buClr>
              <a:buFont typeface="Arial"/>
              <a:buChar char="•"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Proven, not promised: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416 automated tests and 121 Postman assertions pass on SQLite, PostgreSQL and MySQL; ~8 ms added per query.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7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&amp; POC Video</a:t>
            </a:r>
            <a:endParaRPr lang="en-US" sz="4000" dirty="0"/>
          </a:p>
        </p:txBody>
      </p:sp>
      <p:sp>
        <p:nvSpPr>
          <p:cNvPr id="101" name="Live Demonstration"/>
          <p:cNvSpPr txBox="1"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</a:t>
            </a:r>
            <a:endParaRPr lang="en-US" sz="2000" dirty="0"/>
          </a:p>
        </p:txBody>
      </p:sp>
      <p:pic>
        <p:nvPicPr>
          <p:cNvPr id="102" name="Screenshot 102" descr="maskguard CLI: branded console with live engine health checks"/>
          <p:cNvPicPr>
            <a:picLocks noChangeAspect="1"/>
          </p:cNvPicPr>
          <p:nvPr/>
        </p:nvPicPr>
        <p:blipFill>
          <a:blip r:embed="rIdMg1"/>
          <a:stretch>
            <a:fillRect/>
          </a:stretch>
        </p:blipFill>
        <p:spPr>
          <a:xfrm>
            <a:off x="457200" y="1243584"/>
            <a:ext cx="4206240" cy="1559387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pic>
        <p:nvPicPr>
          <p:cNvPr id="103" name="Screenshot 103" descr="Integrity proof: same query as four roles, digest unchanged"/>
          <p:cNvPicPr>
            <a:picLocks noChangeAspect="1"/>
          </p:cNvPicPr>
          <p:nvPr/>
        </p:nvPicPr>
        <p:blipFill>
          <a:blip r:embed="rIdMg2"/>
          <a:stretch>
            <a:fillRect/>
          </a:stretch>
        </p:blipFill>
        <p:spPr>
          <a:xfrm>
            <a:off x="457200" y="2912699"/>
            <a:ext cx="4206240" cy="1190791"/>
          </a:xfrm>
          <a:prstGeom prst="rect">
            <a:avLst/>
          </a:prstGeom>
          <a:ln w="9525">
            <a:solidFill>
              <a:srgbClr val="C9D3E3"/>
            </a:solidFill>
          </a:ln>
        </p:spPr>
      </p:pic>
      <p:sp>
        <p:nvSpPr>
          <p:cNvPr id="104" name="Caption"/>
          <p:cNvSpPr txBox="1"/>
          <p:nvPr/>
        </p:nvSpPr>
        <p:spPr>
          <a:xfrm>
            <a:off x="457200" y="4130921"/>
            <a:ext cx="42062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health checks (top) · integrity proof: digest unchanged after 4 roles (bottom)</a:t>
            </a:r>
            <a:endParaRPr lang="en-US" sz="900" dirty="0"/>
          </a:p>
        </p:txBody>
      </p:sp>
      <p:sp>
        <p:nvSpPr>
          <p:cNvPr id="105" name="Demo steps"/>
          <p:cNvSpPr txBox="1"/>
          <p:nvPr/>
        </p:nvSpPr>
        <p:spPr>
          <a:xfrm>
            <a:off x="4937760" y="1216152"/>
            <a:ext cx="3749040" cy="178308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demo shows</a:t>
            </a:r>
            <a:endParaRPr lang="en-US" sz="120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maskguard console: real health checks, then scan for PII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Playground: one query as Admin, Support, Analyst, Auditor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masked field explained; risky policy edits need sign-off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suite: naive masking leaks 15/17, MaskGuard 0/17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Postman: 55 requests, 26 attacks refused, 121/121 pass</a:t>
            </a:r>
            <a:endParaRPr lang="en-US" sz="1050" dirty="0"/>
          </a:p>
          <a:p>
            <a:pPr algn="l" marL="228600" indent="-228600">
              <a:spcAft>
                <a:spcPts val="300"/>
              </a:spcAft>
              <a:buClr>
                <a:srgbClr val="1F4788"/>
              </a:buClr>
              <a:buFont typeface="Calibri"/>
              <a:buAutoNum type="arabicPeriod"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proof: source records unchanged (PASS)</a:t>
            </a:r>
            <a:endParaRPr lang="en-US" sz="1050" dirty="0"/>
          </a:p>
        </p:txBody>
      </p:sp>
      <p:sp>
        <p:nvSpPr>
          <p:cNvPr id="106" name="Run box"/>
          <p:cNvSpPr txBox="1"/>
          <p:nvPr/>
        </p:nvSpPr>
        <p:spPr>
          <a:xfrm>
            <a:off x="4937760" y="3108960"/>
            <a:ext cx="3749040" cy="100584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it: </a:t>
            </a:r>
            <a:r>
              <a:rPr lang="en-US" sz="1000" dirty="0">
                <a:solidFill>
                  <a:srgbClr val="2D2D2D"/>
                </a:solidFill>
                <a:latin typeface="Courier New" pitchFamily="49" charset="0"/>
                <a:cs typeface="Courier New" pitchFamily="49" charset="0"/>
              </a:rPr>
              <a:t>uv run maskguard</a:t>
            </a:r>
            <a:endParaRPr lang="en-US" sz="1050" dirty="0"/>
          </a:p>
          <a:p>
            <a:pPr algn="l"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Room :8000/ui · API :8000/docs · psql :6543</a:t>
            </a:r>
            <a:endParaRPr lang="en-US" sz="1050" dirty="0"/>
          </a:p>
          <a:p>
            <a:pPr algn="l" marL="0" indent="0">
              <a:spcAft>
                <a:spcPts val="0"/>
              </a:spcAft>
              <a:buNone/>
            </a:pPr>
            <a:r>
              <a:rPr lang="en-US" sz="1050" b="1" dirty="0">
                <a:solidFill>
                  <a:srgbClr val="1F4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</a:t>
            </a: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docs/demo.mp4 in the repo (paste your upload link here)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325</Words>
  <Application>Microsoft Office PowerPoint</Application>
  <PresentationFormat>On-screen Show (16:9)</PresentationFormat>
  <Paragraphs>65</Paragraphs>
  <Slides>7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Guest User</cp:lastModifiedBy>
  <cp:revision>3</cp:revision>
  <dcterms:created xsi:type="dcterms:W3CDTF">2026-08-06T14:25:19Z</dcterms:created>
  <dcterms:modified xsi:type="dcterms:W3CDTF">2026-10-08T12:28:30Z</dcterms:modified>
</cp:coreProperties>
</file>