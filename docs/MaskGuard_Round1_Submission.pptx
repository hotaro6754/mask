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Relationship Id="rIdVid" Type="http://schemas.openxmlformats.org/officeDocument/2006/relationships/hyperlink" Target="https://github.com/hotaro6754/mask/blob/claude/zealous-bell-me62fn/docs/demo.mp4" TargetMode="External" /><Relationship Id="rIdRepo" Type="http://schemas.openxmlformats.org/officeDocument/2006/relationships/hyperlink" Target="https://github.com/hotaro6754/mask/tree/claude/zealous-bell-me62fn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Pirates of the Caribbean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11: Smart Data Masking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  <p:sp>
        <p:nvSpPr>
          <p:cNvPr id="102" name="Team members"/>
          <p:cNvSpPr txBox="1"/>
          <p:nvPr/>
        </p:nvSpPr>
        <p:spPr>
          <a:xfrm>
            <a:off x="1005840" y="4370832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Harshith (Lead) · G. Praneeth · D. Mandeep · K. Surya Srinivas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of card numbers, Aadhaar, PAN and balances across several databases, with no per-role control over what each person sees: a GDPR, HIPAA and DPDP compliance risk.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017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sp>
        <p:nvSpPr>
          <p:cNvPr id="103" name="Outcome 1"/>
          <p:cNvSpPr txBox="1"/>
          <p:nvPr/>
        </p:nvSpPr>
        <p:spPr>
          <a:xfrm>
            <a:off x="457200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PII scanner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 tags PII_HIGH / FINANCIAL_CONFIDENTIAL</a:t>
            </a:r>
            <a:endParaRPr lang="en-US" sz="900" dirty="0"/>
          </a:p>
        </p:txBody>
      </p:sp>
      <p:sp>
        <p:nvSpPr>
          <p:cNvPr id="104" name="Outcome 2"/>
          <p:cNvSpPr txBox="1"/>
          <p:nvPr/>
        </p:nvSpPr>
        <p:spPr>
          <a:xfrm>
            <a:off x="2542032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Masking engine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SQLite, PostgreSQL and MySQL; the brief asks for two</a:t>
            </a:r>
            <a:endParaRPr lang="en-US" sz="900" dirty="0"/>
          </a:p>
        </p:txBody>
      </p:sp>
      <p:sp>
        <p:nvSpPr>
          <p:cNvPr id="105" name="Outcome 3"/>
          <p:cNvSpPr txBox="1"/>
          <p:nvPr/>
        </p:nvSpPr>
        <p:spPr>
          <a:xfrm>
            <a:off x="4626864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Demo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Postman suite · dashboard with live role toggle</a:t>
            </a:r>
            <a:endParaRPr lang="en-US" sz="900" dirty="0"/>
          </a:p>
        </p:txBody>
      </p:sp>
      <p:sp>
        <p:nvSpPr>
          <p:cNvPr id="106" name="Outcome 4"/>
          <p:cNvSpPr txBox="1"/>
          <p:nvPr/>
        </p:nvSpPr>
        <p:spPr>
          <a:xfrm>
            <a:off x="6711696" y="4334256"/>
            <a:ext cx="1975104" cy="512064"/>
          </a:xfrm>
          <a:prstGeom prst="roundRect">
            <a:avLst>
              <a:gd name="adj" fmla="val 8000"/>
            </a:avLst>
          </a:prstGeom>
          <a:solidFill>
            <a:srgbClr val="E8F3E0"/>
          </a:solidFill>
          <a:ln w="9525">
            <a:solidFill>
              <a:srgbClr val="B9D99F"/>
            </a:solidFill>
          </a:ln>
        </p:spPr>
        <p:txBody>
          <a:bodyPr wrap="square" lIns="64008" tIns="64008" rIns="64008" bIns="64008" rtlCol="0" anchor="ctr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Raw data intact</a:t>
            </a:r>
            <a:endParaRPr lang="en-US" sz="1000" dirty="0"/>
          </a:p>
          <a:p>
            <a:pPr algn="l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table digests unchanged</a:t>
            </a:r>
            <a:endParaRPr lang="en-US" sz="900" dirty="0"/>
          </a:p>
        </p:txBody>
      </p:sp>
      <p:pic>
        <p:nvPicPr>
          <p:cNvPr id="107" name="Screenshot 107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8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9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Tech stack"/>
          <p:cNvSpPr txBox="1"/>
          <p:nvPr/>
        </p:nvSpPr>
        <p:spPr>
          <a:xfrm>
            <a:off x="457200" y="3794760"/>
            <a:ext cx="4160520" cy="102412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sqlglot · PostgreSQL wire proxy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· scikit-learn IsolationForest · checksums · DP</a:t>
            </a:r>
            <a:endParaRPr lang="en-US" sz="9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security: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PostgreSQL · MySQL · JWT · HMAC-SHA256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QA: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Typer/Rich CLI · web dashboard · pytest · Postman · Docker</a:t>
            </a:r>
            <a:endParaRPr lang="en-US" sz="950" dirty="0"/>
          </a:p>
        </p:txBody>
      </p:sp>
      <p:sp>
        <p:nvSpPr>
          <p:cNvPr id="104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5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6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7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8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9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10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1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2" name="Arrow 112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8" name="Arrow 118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9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26182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37530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0.965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329513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7105217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(Apache-2.0): synthetic, held-out seeds, only 5 values per column (with 20 values: 0.999 and 1.5%). Attacks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0.965 F1 on an independent Indian-PII benchmark with misleading column names from just 5 sample values (baseline 0.844), and cuts false alarms from 22.2% to 6.3%.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0.965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+ 121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67328"/>
            <a:ext cx="8138160" cy="1143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automated tests and 121 Postman assertions pass on SQLite, PostgreSQL and MySQL; ~8 ms added per query.</a:t>
            </a:r>
            <a:endParaRPr lang="en-US" sz="1050" dirty="0"/>
          </a:p>
          <a:p>
            <a:pPr algn="l" marL="228600" indent="-228600">
              <a:spcAft>
                <a:spcPts val="1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and scalable today: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Docker deploy, drop-in for existing PostgreSQL clients, stateless gateway that scales out; policy is a reviewed YAML file.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55 requests, 26 attacks refused, 121/121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3258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(3 min, CLI + dashboard):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Vid"/>
              </a:rPr>
              <a:t>Watch on GitHub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https://github.com/hotaro6754/mask/blob/claude/zealous-bell-me62fn/docs/demo.mp4</a:t>
            </a:r>
            <a:endParaRPr lang="en-US" sz="8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r>
              <a:rPr lang="en-US" sz="1050" u="sng" dirty="0">
                <a:solidFill>
                  <a:srgbClr val="0B66C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Repo"/>
              </a:rPr>
              <a:t>github.com/hotaro6754/mask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