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186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Mg1" Type="http://schemas.openxmlformats.org/officeDocument/2006/relationships/image" Target="../media/maskguard_s3_1.pn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Mg1" Type="http://schemas.openxmlformats.org/officeDocument/2006/relationships/image" Target="../media/maskguard_s7_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7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REVIEW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Frontier Challenge 2026 Round 1 Submission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Team Name]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Leader Name]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1: Smart Data Masking (PII)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Oct 2026</a:t>
            </a:r>
            <a:endParaRPr lang="en-US" sz="1800" dirty="0"/>
          </a:p>
        </p:txBody>
      </p:sp>
      <p:sp>
        <p:nvSpPr>
          <p:cNvPr id="101" name="Project name"/>
          <p:cNvSpPr txBox="1"/>
          <p:nvPr/>
        </p:nvSpPr>
        <p:spPr>
          <a:xfrm>
            <a:off x="457200" y="215798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MaskGuard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query-time PII masking gateway for SQLite &amp; PostgreSQL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4000" dirty="0"/>
          </a:p>
        </p:txBody>
      </p:sp>
      <p:sp>
        <p:nvSpPr>
          <p:cNvPr id="101" name="Problem Statement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102" name="Problem bullets"/>
          <p:cNvSpPr txBox="1"/>
          <p:nvPr/>
        </p:nvSpPr>
        <p:spPr>
          <a:xfrm>
            <a:off x="548640" y="1188720"/>
            <a:ext cx="8092440" cy="15361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l" marL="228600" indent="-228600">
              <a:spcAft>
                <a:spcPts val="4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fintechs give support, analytics and ops staff SQL access to tables full of card numbers, SSN/Aadhaar, PAN and balances, with no column-level control over what each role sees.</a:t>
            </a:r>
            <a:endParaRPr lang="en-US" sz="1200" dirty="0"/>
          </a:p>
          <a:p>
            <a:pPr algn="l" marL="228600" indent="-228600">
              <a:spcAft>
                <a:spcPts val="4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copies go stale and multiply the data. Native dynamic masking is a display filter: WHERE, ORDER BY and aggregates still run on real values, so values can be inferred.</a:t>
            </a:r>
            <a:endParaRPr lang="en-US" sz="1200" dirty="0"/>
          </a:p>
          <a:p>
            <a:pPr algn="l" marL="228600" indent="-228600">
              <a:spcAft>
                <a:spcPts val="4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affected: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whose PII is exposed; the institution (breach costs, DPDP and GDPR penalties); and internal teams who still need the data to work.</a:t>
            </a:r>
            <a:endParaRPr lang="en-US" sz="1200" dirty="0"/>
          </a:p>
          <a:p>
            <a:pPr algn="l" marL="228600" indent="-228600">
              <a:spcAft>
                <a:spcPts val="4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PII automatically and mask it per role at query time, on any database, without changing stored data.</a:t>
            </a:r>
            <a:endParaRPr lang="en-US" sz="1200" dirty="0"/>
          </a:p>
        </p:txBody>
      </p:sp>
      <p:sp>
        <p:nvSpPr>
          <p:cNvPr id="103" name="Market Opportunity"/>
          <p:cNvSpPr txBox="1"/>
          <p:nvPr/>
        </p:nvSpPr>
        <p:spPr>
          <a:xfrm>
            <a:off x="457200" y="27706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2000" dirty="0"/>
          </a:p>
        </p:txBody>
      </p:sp>
      <p:sp>
        <p:nvSpPr>
          <p:cNvPr id="104" name="Stat 1"/>
          <p:cNvSpPr txBox="1"/>
          <p:nvPr/>
        </p:nvSpPr>
        <p:spPr>
          <a:xfrm>
            <a:off x="457200" y="3127248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109728" tIns="109728" rIns="109728" bIns="109728" rtlCol="0" anchor="t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₹25.5 cr</a:t>
            </a:r>
            <a:endParaRPr lang="en-US" sz="2400" dirty="0"/>
          </a:p>
          <a:p>
            <a:pPr algn="l"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data breach in India in 2026; financial services is highest at ₹40.9 cr (IBM)</a:t>
            </a:r>
            <a:endParaRPr lang="en-US" sz="1050" dirty="0"/>
          </a:p>
        </p:txBody>
      </p:sp>
      <p:sp>
        <p:nvSpPr>
          <p:cNvPr id="105" name="Stat 2"/>
          <p:cNvSpPr txBox="1"/>
          <p:nvPr/>
        </p:nvSpPr>
        <p:spPr>
          <a:xfrm>
            <a:off x="3246120" y="3127248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109728" tIns="109728" rIns="109728" bIns="109728" rtlCol="0" anchor="t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₹250 cr</a:t>
            </a:r>
            <a:endParaRPr lang="en-US" sz="2400" dirty="0"/>
          </a:p>
          <a:p>
            <a:pPr algn="l"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DPDP penalty for weak security safeguards; Rule 6 names masking and 1-year access logs (from 13 May 2027)</a:t>
            </a:r>
            <a:endParaRPr lang="en-US" sz="1050" dirty="0"/>
          </a:p>
        </p:txBody>
      </p:sp>
      <p:sp>
        <p:nvSpPr>
          <p:cNvPr id="106" name="Stat 3"/>
          <p:cNvSpPr txBox="1"/>
          <p:nvPr/>
        </p:nvSpPr>
        <p:spPr>
          <a:xfrm>
            <a:off x="6035040" y="3127248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109728" tIns="109728" rIns="109728" bIns="109728" rtlCol="0" anchor="t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$1.1–1.5 B</a:t>
            </a:r>
            <a:endParaRPr lang="en-US" sz="2400" dirty="0"/>
          </a:p>
          <a:p>
            <a:pPr algn="l"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data-masking market in 2025, growing about 12–18% a year (analyst estimates)</a:t>
            </a:r>
            <a:endParaRPr lang="en-US" sz="1050" dirty="0"/>
          </a:p>
        </p:txBody>
      </p:sp>
      <p:sp>
        <p:nvSpPr>
          <p:cNvPr id="107" name="Audience"/>
          <p:cNvSpPr txBox="1"/>
          <p:nvPr/>
        </p:nvSpPr>
        <p:spPr>
          <a:xfrm>
            <a:off x="457200" y="42976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NBFCs, insurers and fintechs; their DBAs, compliance and data teams. Competitive landscape: see USP slide.</a:t>
            </a:r>
            <a:endParaRPr lang="en-US" sz="1100" dirty="0"/>
          </a:p>
        </p:txBody>
      </p:sp>
      <p:sp>
        <p:nvSpPr>
          <p:cNvPr id="108" name="Sources"/>
          <p:cNvSpPr txBox="1"/>
          <p:nvPr/>
        </p:nvSpPr>
        <p:spPr>
          <a:xfrm>
            <a:off x="457200" y="45720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IBM Cost of a Data Breach Report 2026 (India); DPDP Rules 2025 (Rule 6) and PIB overview; The Business Research Company, Research and Markets.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4000" dirty="0"/>
          </a:p>
        </p:txBody>
      </p:sp>
      <p:sp>
        <p:nvSpPr>
          <p:cNvPr id="101" name="Solution Overview"/>
          <p:cNvSpPr txBox="1"/>
          <p:nvPr/>
        </p:nvSpPr>
        <p:spPr>
          <a:xfrm>
            <a:off x="457200" y="8686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000" dirty="0"/>
          </a:p>
        </p:txBody>
      </p:sp>
      <p:sp>
        <p:nvSpPr>
          <p:cNvPr id="102" name="Solution bullets"/>
          <p:cNvSpPr txBox="1"/>
          <p:nvPr/>
        </p:nvSpPr>
        <p:spPr>
          <a:xfrm>
            <a:off x="457200" y="1216152"/>
            <a:ext cx="4069080" cy="3611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l" marL="228600" indent="-228600">
              <a:spcAft>
                <a:spcPts val="5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1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MaskGuard, a gateway between users and the database that finds PII and masks it per role at query time. Stored data never changes.</a:t>
            </a:r>
            <a:endParaRPr lang="en-US" sz="1150" dirty="0"/>
          </a:p>
          <a:p>
            <a:pPr algn="l" marL="228600" indent="-228600">
              <a:spcAft>
                <a:spcPts val="5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1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in a query is swapped for a masked derived table, so aliases, *, CTEs, joins, WHERE, ORDER BY and aggregates only ever see masked values.</a:t>
            </a:r>
            <a:endParaRPr lang="en-US" sz="1150" dirty="0"/>
          </a:p>
          <a:p>
            <a:pPr algn="l" marL="228600" indent="-228600">
              <a:spcAft>
                <a:spcPts val="5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1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sees everything · Support gets partial masks (4111-XXXX-XXXX-1111) · Analyst gets REDACTED or keyed-HMAC tokens.</a:t>
            </a:r>
            <a:endParaRPr lang="en-US" sz="1150" dirty="0"/>
          </a:p>
          <a:p>
            <a:pPr algn="l" marL="228600" indent="-228600">
              <a:spcAft>
                <a:spcPts val="5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1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auto-scanner with background rescans, YAML policy, SQLite + PostgreSQL, read-only execution, statement firewall, small-group suppression, hash-chained audit log; dashboard, REST API and CLI.</a:t>
            </a:r>
            <a:endParaRPr lang="en-US" sz="1150" dirty="0"/>
          </a:p>
          <a:p>
            <a:pPr algn="l" marL="228600" indent="-228600">
              <a:spcAft>
                <a:spcPts val="5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1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unique: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attack suite proves it: 0/17 PII leaks vs 13–15/17 for naive output masking.</a:t>
            </a:r>
            <a:endParaRPr lang="en-US" sz="1150" dirty="0"/>
          </a:p>
        </p:txBody>
      </p:sp>
      <p:pic>
        <p:nvPicPr>
          <p:cNvPr id="103" name="Screenshot 103" descr="Dashboard: the same query as Admin, Support and Analyst"/>
          <p:cNvPicPr>
            <a:picLocks noChangeAspect="1"/>
          </p:cNvPicPr>
          <p:nvPr/>
        </p:nvPicPr>
        <p:blipFill>
          <a:blip r:embed="rIdMg1"/>
          <a:stretch>
            <a:fillRect/>
          </a:stretch>
        </p:blipFill>
        <p:spPr>
          <a:xfrm>
            <a:off x="4709160" y="914400"/>
            <a:ext cx="3977640" cy="1563385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4" name="Caption"/>
          <p:cNvSpPr txBox="1"/>
          <p:nvPr/>
        </p:nvSpPr>
        <p:spPr>
          <a:xfrm>
            <a:off x="4709160" y="2505217"/>
            <a:ext cx="3977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(PostgreSQL): one query, three roles</a:t>
            </a:r>
            <a:endParaRPr lang="en-US" sz="950" dirty="0"/>
          </a:p>
        </p:txBody>
      </p:sp>
      <p:sp>
        <p:nvSpPr>
          <p:cNvPr id="105" name="Rewrite example"/>
          <p:cNvSpPr txBox="1"/>
          <p:nvPr/>
        </p:nvSpPr>
        <p:spPr>
          <a:xfrm>
            <a:off x="4709160" y="2825257"/>
            <a:ext cx="3977640" cy="14173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109728" tIns="109728" rIns="109728" bIns="109728" rtlCol="0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query is rewritten</a:t>
            </a:r>
            <a:endParaRPr lang="en-US" sz="1100" dirty="0"/>
          </a:p>
          <a:p>
            <a:pPr algn="l"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49" charset="0"/>
                <a:cs typeface="Courier New" pitchFamily="49" charset="0"/>
              </a:rPr>
              <a:t>SELECT email AS mail FROM users</a:t>
            </a:r>
            <a:endParaRPr lang="en-US" sz="950" dirty="0"/>
          </a:p>
          <a:p>
            <a:pPr algn="l" marL="0" indent="0"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</a:t>
            </a:r>
            <a:endParaRPr lang="en-US" sz="950" dirty="0"/>
          </a:p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49" charset="0"/>
                <a:cs typeface="Courier New" pitchFamily="49" charset="0"/>
              </a:rPr>
              <a:t>SELECT email AS mail FROM (</a:t>
            </a:r>
            <a:endParaRPr lang="en-US" sz="950" dirty="0"/>
          </a:p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49" charset="0"/>
                <a:cs typeface="Courier New" pitchFamily="49" charset="0"/>
              </a:rPr>
              <a:t>  SELECT id, mg_email(email) AS email,</a:t>
            </a:r>
            <a:endParaRPr lang="en-US" sz="950" dirty="0"/>
          </a:p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49" charset="0"/>
                <a:cs typeface="Courier New" pitchFamily="49" charset="0"/>
              </a:rPr>
              <a:t>    mg_partial(ssn, 0, 4) AS ssn, ...</a:t>
            </a:r>
            <a:endParaRPr lang="en-US" sz="950" dirty="0"/>
          </a:p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49" charset="0"/>
                <a:cs typeface="Courier New" pitchFamily="49" charset="0"/>
              </a:rPr>
              <a:t>  FROM main.users) AS users LIMIT 100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Steps &amp; Architecture</a:t>
            </a:r>
            <a:endParaRPr lang="en-US" sz="4000" dirty="0"/>
          </a:p>
        </p:txBody>
      </p:sp>
      <p:sp>
        <p:nvSpPr>
          <p:cNvPr id="101" name="Technical Implementation"/>
          <p:cNvSpPr txBox="1"/>
          <p:nvPr/>
        </p:nvSpPr>
        <p:spPr>
          <a:xfrm>
            <a:off x="457200" y="868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2000" dirty="0"/>
          </a:p>
        </p:txBody>
      </p:sp>
      <p:sp>
        <p:nvSpPr>
          <p:cNvPr id="102" name="Steps"/>
          <p:cNvSpPr txBox="1"/>
          <p:nvPr/>
        </p:nvSpPr>
        <p:spPr>
          <a:xfrm>
            <a:off x="457200" y="1216152"/>
            <a:ext cx="4160520" cy="3611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l" marL="228600" indent="-228600">
              <a:spcAft>
                <a:spcPts val="5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Connect: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or PostgreSQL via one backend interface; mask functions installed (Python UDFs, PL/pgSQL + pgcrypto).</a:t>
            </a:r>
            <a:endParaRPr lang="en-US" sz="1100" dirty="0"/>
          </a:p>
          <a:p>
            <a:pPr algn="l" marL="228600" indent="-228600">
              <a:spcAft>
                <a:spcPts val="5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Scan: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+ 200 sampled values per column through Luhn, Verhoeff, PAN, IBAN, email, phone and SSN checks; tags with evidence; background rescans.</a:t>
            </a:r>
            <a:endParaRPr lang="en-US" sz="1100" dirty="0"/>
          </a:p>
          <a:p>
            <a:pPr algn="l" marL="228600" indent="-228600">
              <a:spcAft>
                <a:spcPts val="5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Authenticate: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passwords and signed JWTs; the role only ever comes from the session.</a:t>
            </a:r>
            <a:endParaRPr lang="en-US" sz="1100" dirty="0"/>
          </a:p>
          <a:p>
            <a:pPr algn="l" marL="228600" indent="-228600">
              <a:spcAft>
                <a:spcPts val="5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Rewrite: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sqlglot parses one SELECT, rejects anything else, swaps each table for a masked derived table, caps rows, suppresses groups under 5.</a:t>
            </a:r>
            <a:endParaRPr lang="en-US" sz="1100" dirty="0"/>
          </a:p>
          <a:p>
            <a:pPr algn="l" marL="228600" indent="-228600">
              <a:spcAft>
                <a:spcPts val="5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Execute: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(SQLite authorizer, Postgres READ ONLY transaction + timeout).</a:t>
            </a:r>
            <a:endParaRPr lang="en-US" sz="1100" dirty="0"/>
          </a:p>
          <a:p>
            <a:pPr algn="l" marL="228600" indent="-228600">
              <a:spcAft>
                <a:spcPts val="5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Audit: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log with literals stripped, so typed-in PII never reaches it.</a:t>
            </a:r>
            <a:endParaRPr lang="en-US" sz="1100" dirty="0"/>
          </a:p>
        </p:txBody>
      </p:sp>
      <p:sp>
        <p:nvSpPr>
          <p:cNvPr id="103" name="Architecture Diagram"/>
          <p:cNvSpPr txBox="1"/>
          <p:nvPr/>
        </p:nvSpPr>
        <p:spPr>
          <a:xfrm>
            <a:off x="4846320" y="8686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2000" dirty="0"/>
          </a:p>
        </p:txBody>
      </p:sp>
      <p:sp>
        <p:nvSpPr>
          <p:cNvPr id="104" name="Dashboard · REST API · CLI"/>
          <p:cNvSpPr txBox="1"/>
          <p:nvPr/>
        </p:nvSpPr>
        <p:spPr>
          <a:xfrm>
            <a:off x="4846320" y="1298448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9525">
            <a:solidFill>
              <a:srgbClr val="B7C6E0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REST API · CLI</a:t>
            </a:r>
            <a:endParaRPr lang="en-US" sz="1050" dirty="0"/>
          </a:p>
          <a:p>
            <a:pPr algn="ctr"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in, sends SQL</a:t>
            </a:r>
            <a:endParaRPr lang="en-US" sz="850" dirty="0"/>
          </a:p>
        </p:txBody>
      </p:sp>
      <p:sp>
        <p:nvSpPr>
          <p:cNvPr id="105" name="Auth"/>
          <p:cNvSpPr txBox="1"/>
          <p:nvPr/>
        </p:nvSpPr>
        <p:spPr>
          <a:xfrm>
            <a:off x="4846320" y="2011680"/>
            <a:ext cx="2103120" cy="420624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9525">
            <a:solidFill>
              <a:srgbClr val="B7C6E0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  <a:p>
            <a:pPr algn="ctr"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 → role</a:t>
            </a:r>
            <a:endParaRPr lang="en-US" sz="850" dirty="0"/>
          </a:p>
        </p:txBody>
      </p:sp>
      <p:sp>
        <p:nvSpPr>
          <p:cNvPr id="106" name="Audit log"/>
          <p:cNvSpPr txBox="1"/>
          <p:nvPr/>
        </p:nvSpPr>
        <p:spPr>
          <a:xfrm>
            <a:off x="7178040" y="2011680"/>
            <a:ext cx="1508760" cy="420624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9525">
            <a:solidFill>
              <a:srgbClr val="B7C6E0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050" dirty="0"/>
          </a:p>
          <a:p>
            <a:pPr algn="ctr"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hash-chained, no literals</a:t>
            </a:r>
            <a:endParaRPr lang="en-US" sz="850" dirty="0"/>
          </a:p>
        </p:txBody>
      </p:sp>
      <p:sp>
        <p:nvSpPr>
          <p:cNvPr id="107" name="SQL rewriter (sqlglot)"/>
          <p:cNvSpPr txBox="1"/>
          <p:nvPr/>
        </p:nvSpPr>
        <p:spPr>
          <a:xfrm>
            <a:off x="4846320" y="2670048"/>
            <a:ext cx="2103120" cy="713232"/>
          </a:xfrm>
          <a:prstGeom prst="roundRect">
            <a:avLst>
              <a:gd name="adj" fmla="val 8000"/>
            </a:avLst>
          </a:prstGeom>
          <a:solidFill>
            <a:srgbClr val="1F4788"/>
          </a:solidFill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rewriter (sqlglot)</a:t>
            </a:r>
            <a:endParaRPr lang="en-US" sz="1050" dirty="0"/>
          </a:p>
          <a:p>
            <a:pPr algn="ctr"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8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derived tables · firewall · row cap · group floor</a:t>
            </a:r>
            <a:endParaRPr lang="en-US" sz="850" dirty="0"/>
          </a:p>
        </p:txBody>
      </p:sp>
      <p:sp>
        <p:nvSpPr>
          <p:cNvPr id="108" name="Policy YAML"/>
          <p:cNvSpPr txBox="1"/>
          <p:nvPr/>
        </p:nvSpPr>
        <p:spPr>
          <a:xfrm>
            <a:off x="7178040" y="2670048"/>
            <a:ext cx="1508760" cy="329184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9525">
            <a:solidFill>
              <a:srgbClr val="B7C6E0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YAML</a:t>
            </a:r>
            <a:endParaRPr lang="en-US" sz="1050" dirty="0"/>
          </a:p>
        </p:txBody>
      </p:sp>
      <p:sp>
        <p:nvSpPr>
          <p:cNvPr id="109" name="PII scanner"/>
          <p:cNvSpPr txBox="1"/>
          <p:nvPr/>
        </p:nvSpPr>
        <p:spPr>
          <a:xfrm>
            <a:off x="7178040" y="3090672"/>
            <a:ext cx="1508760" cy="1024128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9525">
            <a:solidFill>
              <a:srgbClr val="B7C6E0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scanner</a:t>
            </a:r>
            <a:endParaRPr lang="en-US" sz="1050" dirty="0"/>
          </a:p>
          <a:p>
            <a:pPr algn="ctr"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worker: headers + checksum validators → tags</a:t>
            </a:r>
            <a:endParaRPr lang="en-US" sz="850" dirty="0"/>
          </a:p>
        </p:txBody>
      </p:sp>
      <p:sp>
        <p:nvSpPr>
          <p:cNvPr id="110" name="SQLite | PostgreSQL"/>
          <p:cNvSpPr txBox="1"/>
          <p:nvPr/>
        </p:nvSpPr>
        <p:spPr>
          <a:xfrm>
            <a:off x="4846320" y="3621024"/>
            <a:ext cx="2103120" cy="493776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9525">
            <a:solidFill>
              <a:srgbClr val="B7C6E0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| PostgreSQL</a:t>
            </a:r>
            <a:endParaRPr lang="en-US" sz="1050" dirty="0"/>
          </a:p>
          <a:p>
            <a:pPr algn="ctr"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read-only; data never modified</a:t>
            </a:r>
            <a:endParaRPr lang="en-US" sz="850" dirty="0"/>
          </a:p>
        </p:txBody>
      </p:sp>
      <p:cxnSp>
        <p:nvCxnSpPr>
          <p:cNvPr id="111" name="Arrow 111"/>
          <p:cNvCxnSpPr/>
          <p:nvPr/>
        </p:nvCxnSpPr>
        <p:spPr>
          <a:xfrm>
            <a:off x="5897880" y="1773936"/>
            <a:ext cx="0" cy="237744"/>
          </a:xfrm>
          <a:prstGeom prst="straightConnector1">
            <a:avLst/>
          </a:prstGeom>
          <a:ln w="15875">
            <a:solidFill>
              <a:srgbClr val="1F4788"/>
            </a:solidFill>
            <a:tailEnd type="triangle" w="med" len="med"/>
          </a:ln>
        </p:spPr>
      </p:cxnSp>
      <p:cxnSp>
        <p:nvCxnSpPr>
          <p:cNvPr id="112" name="Arrow 112"/>
          <p:cNvCxnSpPr/>
          <p:nvPr/>
        </p:nvCxnSpPr>
        <p:spPr>
          <a:xfrm>
            <a:off x="5897880" y="2432304"/>
            <a:ext cx="0" cy="237744"/>
          </a:xfrm>
          <a:prstGeom prst="straightConnector1">
            <a:avLst/>
          </a:prstGeom>
          <a:ln w="15875">
            <a:solidFill>
              <a:srgbClr val="1F4788"/>
            </a:solidFill>
            <a:tailEnd type="triangle" w="med" len="med"/>
          </a:ln>
        </p:spPr>
      </p:cxnSp>
      <p:cxnSp>
        <p:nvCxnSpPr>
          <p:cNvPr id="113" name="Arrow 113"/>
          <p:cNvCxnSpPr/>
          <p:nvPr/>
        </p:nvCxnSpPr>
        <p:spPr>
          <a:xfrm>
            <a:off x="5897880" y="3383280"/>
            <a:ext cx="0" cy="237744"/>
          </a:xfrm>
          <a:prstGeom prst="straightConnector1">
            <a:avLst/>
          </a:prstGeom>
          <a:ln w="15875">
            <a:solidFill>
              <a:srgbClr val="1F4788"/>
            </a:solidFill>
            <a:tailEnd type="triangle" w="med" len="med"/>
          </a:ln>
        </p:spPr>
      </p:cxnSp>
      <p:cxnSp>
        <p:nvCxnSpPr>
          <p:cNvPr id="114" name="Arrow 114"/>
          <p:cNvCxnSpPr/>
          <p:nvPr/>
        </p:nvCxnSpPr>
        <p:spPr>
          <a:xfrm>
            <a:off x="6949440" y="2221992"/>
            <a:ext cx="228600" cy="0"/>
          </a:xfrm>
          <a:prstGeom prst="straightConnector1">
            <a:avLst/>
          </a:prstGeom>
          <a:ln w="15875">
            <a:solidFill>
              <a:srgbClr val="1F4788"/>
            </a:solidFill>
            <a:tailEnd type="triangle" w="med" len="med"/>
          </a:ln>
        </p:spPr>
      </p:cxnSp>
      <p:cxnSp>
        <p:nvCxnSpPr>
          <p:cNvPr id="115" name="Arrow 115"/>
          <p:cNvCxnSpPr/>
          <p:nvPr/>
        </p:nvCxnSpPr>
        <p:spPr>
          <a:xfrm flipH="1">
            <a:off x="6949440" y="2834640"/>
            <a:ext cx="228600" cy="0"/>
          </a:xfrm>
          <a:prstGeom prst="straightConnector1">
            <a:avLst/>
          </a:prstGeom>
          <a:ln w="15875">
            <a:solidFill>
              <a:srgbClr val="1F4788"/>
            </a:solidFill>
            <a:tailEnd type="triangle" w="med" len="med"/>
          </a:ln>
        </p:spPr>
      </p:cxnSp>
      <p:cxnSp>
        <p:nvCxnSpPr>
          <p:cNvPr id="116" name="Arrow 116"/>
          <p:cNvCxnSpPr/>
          <p:nvPr/>
        </p:nvCxnSpPr>
        <p:spPr>
          <a:xfrm flipH="1">
            <a:off x="6949440" y="3246120"/>
            <a:ext cx="228600" cy="0"/>
          </a:xfrm>
          <a:prstGeom prst="straightConnector1">
            <a:avLst/>
          </a:prstGeom>
          <a:ln w="15875">
            <a:solidFill>
              <a:srgbClr val="1F4788"/>
            </a:solidFill>
            <a:tailEnd type="triangle" w="med" len="med"/>
          </a:ln>
        </p:spPr>
      </p:cxnSp>
      <p:cxnSp>
        <p:nvCxnSpPr>
          <p:cNvPr id="117" name="Arrow 117"/>
          <p:cNvCxnSpPr/>
          <p:nvPr/>
        </p:nvCxnSpPr>
        <p:spPr>
          <a:xfrm>
            <a:off x="6949440" y="3867912"/>
            <a:ext cx="228600" cy="0"/>
          </a:xfrm>
          <a:prstGeom prst="straightConnector1">
            <a:avLst/>
          </a:prstGeom>
          <a:ln w="15875">
            <a:solidFill>
              <a:srgbClr val="1F4788"/>
            </a:solidFill>
            <a:tailEnd type="triangle" w="med" len="med"/>
          </a:ln>
        </p:spPr>
      </p:cxnSp>
      <p:sp>
        <p:nvSpPr>
          <p:cNvPr id="118" name="Diagram caption"/>
          <p:cNvSpPr txBox="1"/>
          <p:nvPr/>
        </p:nvSpPr>
        <p:spPr>
          <a:xfrm>
            <a:off x="4846320" y="420624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rows return the same way. The scanner samples the database; its tags and the policy decide each column's mask per role.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Mitigation</a:t>
            </a:r>
            <a:endParaRPr lang="en-US" sz="4000" dirty="0"/>
          </a:p>
        </p:txBody>
      </p:sp>
      <p:sp>
        <p:nvSpPr>
          <p:cNvPr id="101" name="Challenge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Query tricks get around column masking</a:t>
            </a:r>
            <a:endParaRPr lang="en-US" sz="1400" dirty="0"/>
          </a:p>
        </p:txBody>
      </p:sp>
      <p:sp>
        <p:nvSpPr>
          <p:cNvPr id="102" name="Challenge 1 detail"/>
          <p:cNvSpPr txBox="1"/>
          <p:nvPr/>
        </p:nvSpPr>
        <p:spPr>
          <a:xfrm>
            <a:off x="640080" y="1115568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 (email AS contact), SELECT *, CTEs, subqueries, UNION and expressions rename or wrap a sensitive column, so name-based masking misses it.</a:t>
            </a:r>
            <a:endParaRPr lang="en-US" sz="1100" dirty="0"/>
          </a:p>
          <a:p>
            <a:pPr algn="l" marL="0" indent="0"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at the source. Every table is replaced by a masked derived table pinned to the real schema, so any query shape only sees masked values. Attack suite: 0 leaks.</a:t>
            </a:r>
            <a:endParaRPr lang="en-US" sz="1100" dirty="0"/>
          </a:p>
        </p:txBody>
      </p:sp>
      <p:sp>
        <p:nvSpPr>
          <p:cNvPr id="103" name="Rect 103"/>
          <p:cNvSpPr/>
          <p:nvPr/>
        </p:nvSpPr>
        <p:spPr>
          <a:xfrm>
            <a:off x="457200" y="1929384"/>
            <a:ext cx="8229600" cy="9144"/>
          </a:xfrm>
          <a:prstGeom prst="rect">
            <a:avLst/>
          </a:prstGeom>
          <a:solidFill>
            <a:srgbClr val="DADF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Challenge 2"/>
          <p:cNvSpPr txBox="1"/>
          <p:nvPr/>
        </p:nvSpPr>
        <p:spPr>
          <a:xfrm>
            <a:off x="457200" y="19842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Inference through filters, ordering and aggregates</a:t>
            </a:r>
            <a:endParaRPr lang="en-US" sz="1400" dirty="0"/>
          </a:p>
        </p:txBody>
      </p:sp>
      <p:sp>
        <p:nvSpPr>
          <p:cNvPr id="105" name="Challenge 2 detail"/>
          <p:cNvSpPr txBox="1"/>
          <p:nvPr/>
        </p:nvSpPr>
        <p:spPr>
          <a:xfrm>
            <a:off x="640080" y="2258568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email = '…', LIKE prefixes, BETWEEN ranges, ORDER BY and AVG over one row reveal values without ever selecting them.</a:t>
            </a:r>
            <a:endParaRPr lang="en-US" sz="1100" dirty="0"/>
          </a:p>
          <a:p>
            <a:pPr algn="l" marL="0" indent="0"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predicates run on masked values, so probes give no signal; aggregates over fewer than 5 rows are suppressed; writes, catalogs and unknown functions are rejected.</a:t>
            </a:r>
            <a:endParaRPr lang="en-US" sz="1100" dirty="0"/>
          </a:p>
        </p:txBody>
      </p:sp>
      <p:sp>
        <p:nvSpPr>
          <p:cNvPr id="106" name="Rect 106"/>
          <p:cNvSpPr/>
          <p:nvPr/>
        </p:nvSpPr>
        <p:spPr>
          <a:xfrm>
            <a:off x="457200" y="3072384"/>
            <a:ext cx="8229600" cy="9144"/>
          </a:xfrm>
          <a:prstGeom prst="rect">
            <a:avLst/>
          </a:prstGeom>
          <a:solidFill>
            <a:srgbClr val="DADF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Challenge 3"/>
          <p:cNvSpPr txBox="1"/>
          <p:nvPr/>
        </p:nvSpPr>
        <p:spPr>
          <a:xfrm>
            <a:off x="457200" y="31272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Finding PII reliably</a:t>
            </a:r>
            <a:endParaRPr lang="en-US" sz="1400" dirty="0"/>
          </a:p>
        </p:txBody>
      </p:sp>
      <p:sp>
        <p:nvSpPr>
          <p:cNvPr id="108" name="Challenge 3 detail"/>
          <p:cNvSpPr txBox="1"/>
          <p:nvPr/>
        </p:nvSpPr>
        <p:spPr>
          <a:xfrm>
            <a:off x="640080" y="3401568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lie (contact holds phone numbers, payment_ref holds cards) and plain regexes mistake 12-digit order numbers for Aadhaar.</a:t>
            </a:r>
            <a:endParaRPr lang="en-US" sz="1100" dirty="0"/>
          </a:p>
          <a:p>
            <a:pPr algn="l" marL="0" indent="0"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checksum-validate sampled values (Luhn, Verhoeff, PAN, IBAN); low-confidence columns go to review; manual overrides; new tables are blocked until scanned.</a:t>
            </a:r>
            <a:endParaRPr lang="en-US" sz="1100" dirty="0"/>
          </a:p>
        </p:txBody>
      </p:sp>
      <p:sp>
        <p:nvSpPr>
          <p:cNvPr id="109" name="Known limits"/>
          <p:cNvSpPr txBox="1"/>
          <p:nvPr/>
        </p:nvSpPr>
        <p:spPr>
          <a:xfrm>
            <a:off x="457200" y="4261104"/>
            <a:ext cx="8229600" cy="58521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limits, stated up front: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tokens still allow equality joins and frequency analysis; partial masks reveal their visible digits; a column the scanner misses stays exposed until tagged; apps must not hold direct database credentials, or they can bypass the gateway.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Selling Proposition (USP)</a:t>
            </a:r>
            <a:endParaRPr lang="en-US" sz="4000" dirty="0"/>
          </a:p>
        </p:txBody>
      </p:sp>
      <p:sp>
        <p:nvSpPr>
          <p:cNvPr id="101" name="Rect 101"/>
          <p:cNvSpPr/>
          <p:nvPr/>
        </p:nvSpPr>
        <p:spPr>
          <a:xfrm>
            <a:off x="548640" y="914400"/>
            <a:ext cx="2560320" cy="73152"/>
          </a:xfrm>
          <a:prstGeom prst="rect">
            <a:avLst/>
          </a:prstGeom>
          <a:solidFill>
            <a:srgbClr val="00A4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Leak-proof by construction"/>
          <p:cNvSpPr txBox="1"/>
          <p:nvPr/>
        </p:nvSpPr>
        <p:spPr>
          <a:xfrm>
            <a:off x="548640" y="10515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Leak-proof by construction</a:t>
            </a:r>
            <a:endParaRPr lang="en-US" sz="1400" dirty="0"/>
          </a:p>
        </p:txBody>
      </p:sp>
      <p:sp>
        <p:nvSpPr>
          <p:cNvPr id="103" name="Leak-proof by construction detail"/>
          <p:cNvSpPr txBox="1"/>
          <p:nvPr/>
        </p:nvSpPr>
        <p:spPr>
          <a:xfrm>
            <a:off x="548640" y="1417320"/>
            <a:ext cx="2560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rtlCol="0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at the table source, not the output column. Our attack suite finds 0/17 PII leaks for Support and Analyst on both backends, vs 13–15/17 for naive output masking.</a:t>
            </a:r>
            <a:endParaRPr lang="en-US" sz="1150" dirty="0"/>
          </a:p>
        </p:txBody>
      </p:sp>
      <p:sp>
        <p:nvSpPr>
          <p:cNvPr id="104" name="Rect 104"/>
          <p:cNvSpPr/>
          <p:nvPr/>
        </p:nvSpPr>
        <p:spPr>
          <a:xfrm>
            <a:off x="3291840" y="914400"/>
            <a:ext cx="2560320" cy="73152"/>
          </a:xfrm>
          <a:prstGeom prst="rect">
            <a:avLst/>
          </a:prstGeom>
          <a:solidFill>
            <a:srgbClr val="00A4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India-aware auto-scanner"/>
          <p:cNvSpPr txBox="1"/>
          <p:nvPr/>
        </p:nvSpPr>
        <p:spPr>
          <a:xfrm>
            <a:off x="3291840" y="10515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India-aware auto-scanner</a:t>
            </a:r>
            <a:endParaRPr lang="en-US" sz="1400" dirty="0"/>
          </a:p>
        </p:txBody>
      </p:sp>
      <p:sp>
        <p:nvSpPr>
          <p:cNvPr id="106" name="India-aware auto-scanner detail"/>
          <p:cNvSpPr txBox="1"/>
          <p:nvPr/>
        </p:nvSpPr>
        <p:spPr>
          <a:xfrm>
            <a:off x="3291840" y="1417320"/>
            <a:ext cx="2560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rtlCol="0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validators for Aadhaar (Verhoeff), PAN, cards (Luhn) and IBAN on sampled rows find PII behind misleading headers. A background worker rescans; new tables stay blocked until tagged.</a:t>
            </a:r>
            <a:endParaRPr lang="en-US" sz="1150" dirty="0"/>
          </a:p>
        </p:txBody>
      </p:sp>
      <p:sp>
        <p:nvSpPr>
          <p:cNvPr id="107" name="Rect 107"/>
          <p:cNvSpPr/>
          <p:nvPr/>
        </p:nvSpPr>
        <p:spPr>
          <a:xfrm>
            <a:off x="6035040" y="914400"/>
            <a:ext cx="2560320" cy="73152"/>
          </a:xfrm>
          <a:prstGeom prst="rect">
            <a:avLst/>
          </a:prstGeom>
          <a:solidFill>
            <a:srgbClr val="00A4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Zero-touch, any database"/>
          <p:cNvSpPr txBox="1"/>
          <p:nvPr/>
        </p:nvSpPr>
        <p:spPr>
          <a:xfrm>
            <a:off x="6035040" y="10515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Zero-touch, any database</a:t>
            </a:r>
            <a:endParaRPr lang="en-US" sz="1400" dirty="0"/>
          </a:p>
        </p:txBody>
      </p:sp>
      <p:sp>
        <p:nvSpPr>
          <p:cNvPr id="109" name="Zero-touch, any database detail"/>
          <p:cNvSpPr txBox="1"/>
          <p:nvPr/>
        </p:nvSpPr>
        <p:spPr>
          <a:xfrm>
            <a:off x="6035040" y="1417320"/>
            <a:ext cx="2560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rtlCol="0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views, triggers or copies. SQLite and PostgreSQL behind one interface. Table checksums prove data is unchanged; a hash-chained audit log supports DPDP Rule 6.</a:t>
            </a:r>
            <a:endParaRPr lang="en-US" sz="1150" dirty="0"/>
          </a:p>
        </p:txBody>
      </p:sp>
      <p:sp>
        <p:nvSpPr>
          <p:cNvPr id="110" name="Proof 1"/>
          <p:cNvSpPr txBox="1"/>
          <p:nvPr/>
        </p:nvSpPr>
        <p:spPr>
          <a:xfrm>
            <a:off x="548640" y="2651760"/>
            <a:ext cx="1920240" cy="6583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17</a:t>
            </a:r>
            <a:endParaRPr lang="en-US" sz="180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leaks in our attack suite</a:t>
            </a:r>
            <a:endParaRPr lang="en-US" sz="1000" dirty="0"/>
          </a:p>
        </p:txBody>
      </p:sp>
      <p:sp>
        <p:nvSpPr>
          <p:cNvPr id="111" name="Proof 2"/>
          <p:cNvSpPr txBox="1"/>
          <p:nvPr/>
        </p:nvSpPr>
        <p:spPr>
          <a:xfrm>
            <a:off x="2606040" y="2651760"/>
            <a:ext cx="1920240" cy="6583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180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statements rejected</a:t>
            </a:r>
            <a:endParaRPr lang="en-US" sz="1000" dirty="0"/>
          </a:p>
        </p:txBody>
      </p:sp>
      <p:sp>
        <p:nvSpPr>
          <p:cNvPr id="112" name="Proof 3"/>
          <p:cNvSpPr txBox="1"/>
          <p:nvPr/>
        </p:nvSpPr>
        <p:spPr>
          <a:xfrm>
            <a:off x="4663440" y="2651760"/>
            <a:ext cx="1920240" cy="6583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80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2 backends</a:t>
            </a:r>
            <a:endParaRPr lang="en-US" sz="1000" dirty="0"/>
          </a:p>
        </p:txBody>
      </p:sp>
      <p:sp>
        <p:nvSpPr>
          <p:cNvPr id="113" name="Proof 4"/>
          <p:cNvSpPr txBox="1"/>
          <p:nvPr/>
        </p:nvSpPr>
        <p:spPr>
          <a:xfrm>
            <a:off x="6720840" y="2651760"/>
            <a:ext cx="1920240" cy="6583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~7.5 ms</a:t>
            </a:r>
            <a:endParaRPr lang="en-US" sz="180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added per query</a:t>
            </a:r>
            <a:endParaRPr lang="en-US" sz="1000" dirty="0"/>
          </a:p>
        </p:txBody>
      </p:sp>
      <p:sp>
        <p:nvSpPr>
          <p:cNvPr id="114" name="Competitive Advantage Summary"/>
          <p:cNvSpPr txBox="1"/>
          <p:nvPr/>
        </p:nvSpPr>
        <p:spPr>
          <a:xfrm>
            <a:off x="457200" y="34564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 Summary</a:t>
            </a:r>
            <a:endParaRPr lang="en-US" sz="2000" dirty="0"/>
          </a:p>
        </p:txBody>
      </p:sp>
      <p:sp>
        <p:nvSpPr>
          <p:cNvPr id="115" name="Advantages"/>
          <p:cNvSpPr txBox="1"/>
          <p:nvPr/>
        </p:nvSpPr>
        <p:spPr>
          <a:xfrm>
            <a:off x="548640" y="3794760"/>
            <a:ext cx="8138160" cy="10515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l" marL="228600" indent="-228600">
              <a:spcAft>
                <a:spcPts val="2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native dynamic masking: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there, filters and sorting still run on real values (inference); here they only see masked values.</a:t>
            </a:r>
            <a:endParaRPr lang="en-US" sz="1150" dirty="0"/>
          </a:p>
          <a:p>
            <a:pPr algn="l" marL="228600" indent="-228600">
              <a:spcAft>
                <a:spcPts val="2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static masked copies: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stale replicas to sync and secure; masking is applied per query, per role.</a:t>
            </a:r>
            <a:endParaRPr lang="en-US" sz="1150" dirty="0"/>
          </a:p>
          <a:p>
            <a:pPr algn="l" marL="228600" indent="-228600">
              <a:spcAft>
                <a:spcPts val="2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database-specific extensions: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policy across engines; adding MySQL is one new backend class.</a:t>
            </a:r>
            <a:endParaRPr lang="en-US" sz="1150" dirty="0"/>
          </a:p>
          <a:p>
            <a:pPr algn="l" marL="228600" indent="-228600">
              <a:spcAft>
                <a:spcPts val="2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cost: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7.5 ms median overhead per query (parse, rewrite, mask, audit) on our test machine.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POC Video</a:t>
            </a:r>
            <a:endParaRPr lang="en-US" sz="4000" dirty="0"/>
          </a:p>
        </p:txBody>
      </p:sp>
      <p:sp>
        <p:nvSpPr>
          <p:cNvPr id="101" name="Live Demonstration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2000" dirty="0"/>
          </a:p>
        </p:txBody>
      </p:sp>
      <p:pic>
        <p:nvPicPr>
          <p:cNvPr id="102" name="Screenshot 102" descr="Attack suite as Analyst: naive 15/17 leaks, MaskGuard 0/17"/>
          <p:cNvPicPr>
            <a:picLocks noChangeAspect="1"/>
          </p:cNvPicPr>
          <p:nvPr/>
        </p:nvPicPr>
        <p:blipFill>
          <a:blip r:embed="rIdMg1"/>
          <a:stretch>
            <a:fillRect/>
          </a:stretch>
        </p:blipFill>
        <p:spPr>
          <a:xfrm>
            <a:off x="457200" y="1261872"/>
            <a:ext cx="4983480" cy="2149397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3" name="Caption"/>
          <p:cNvSpPr txBox="1"/>
          <p:nvPr/>
        </p:nvSpPr>
        <p:spPr>
          <a:xfrm>
            <a:off x="457200" y="3438701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suite as Analyst on PostgreSQL: naive masking 15/17 leaks, MaskGuard 0/17</a:t>
            </a:r>
            <a:endParaRPr lang="en-US" sz="950" dirty="0"/>
          </a:p>
        </p:txBody>
      </p:sp>
      <p:sp>
        <p:nvSpPr>
          <p:cNvPr id="104" name="Demo steps"/>
          <p:cNvSpPr txBox="1"/>
          <p:nvPr/>
        </p:nvSpPr>
        <p:spPr>
          <a:xfrm>
            <a:off x="5669280" y="1216152"/>
            <a:ext cx="3017520" cy="2514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demo shows</a:t>
            </a:r>
            <a:endParaRPr lang="en-US" sz="1200" dirty="0"/>
          </a:p>
          <a:p>
            <a:pPr algn="l" marL="228600" indent="-228600">
              <a:spcAft>
                <a:spcPts val="3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Admin / Support / Analyst; the same query side by side</a:t>
            </a:r>
            <a:endParaRPr lang="en-US" sz="1100" dirty="0"/>
          </a:p>
          <a:p>
            <a:pPr algn="l" marL="228600" indent="-228600">
              <a:spcAft>
                <a:spcPts val="3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scanner tags with evidence and confidence</a:t>
            </a:r>
            <a:endParaRPr lang="en-US" sz="1100" dirty="0"/>
          </a:p>
          <a:p>
            <a:pPr algn="l" marL="228600" indent="-228600">
              <a:spcAft>
                <a:spcPts val="3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suite: naive masking vs MaskGuard</a:t>
            </a:r>
            <a:endParaRPr lang="en-US" sz="1100" dirty="0"/>
          </a:p>
          <a:p>
            <a:pPr algn="l" marL="228600" indent="-228600">
              <a:spcAft>
                <a:spcPts val="3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checksums unchanged after every query</a:t>
            </a:r>
            <a:endParaRPr lang="en-US" sz="1100" dirty="0"/>
          </a:p>
          <a:p>
            <a:pPr algn="l" marL="228600" indent="-228600">
              <a:spcAft>
                <a:spcPts val="3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with verified hash chain</a:t>
            </a:r>
            <a:endParaRPr lang="en-US" sz="1100" dirty="0"/>
          </a:p>
          <a:p>
            <a:pPr algn="l" marL="228600" indent="-228600">
              <a:spcAft>
                <a:spcPts val="3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/ p95 overhead per query</a:t>
            </a:r>
            <a:endParaRPr lang="en-US" sz="1100" dirty="0"/>
          </a:p>
        </p:txBody>
      </p:sp>
      <p:sp>
        <p:nvSpPr>
          <p:cNvPr id="105" name="Run box"/>
          <p:cNvSpPr txBox="1"/>
          <p:nvPr/>
        </p:nvSpPr>
        <p:spPr>
          <a:xfrm>
            <a:off x="5669280" y="3310128"/>
            <a:ext cx="3017520" cy="106070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it: </a:t>
            </a:r>
            <a:r>
              <a:rPr lang="en-US" sz="1000" dirty="0">
                <a:solidFill>
                  <a:srgbClr val="2D2D2D"/>
                </a:solidFill>
                <a:latin typeface="Courier New" pitchFamily="49" charset="0"/>
                <a:cs typeface="Courier New" pitchFamily="49" charset="0"/>
              </a:rPr>
              <a:t>docker compose up --build</a:t>
            </a:r>
            <a:endParaRPr lang="en-US" sz="1050" dirty="0"/>
          </a:p>
          <a:p>
            <a:pPr algn="l"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:8501 · API :8000/docs</a:t>
            </a:r>
            <a:endParaRPr lang="en-US" sz="1050" dirty="0"/>
          </a:p>
          <a:p>
            <a:pPr algn="l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docs/demo.mp4 in the repo (paste your upload link here)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325</Words>
  <Application>Microsoft Office PowerPoint</Application>
  <PresentationFormat>On-screen Show (16:9)</PresentationFormat>
  <Paragraphs>65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Guest User</cp:lastModifiedBy>
  <cp:revision>3</cp:revision>
  <dcterms:created xsi:type="dcterms:W3CDTF">2026-08-06T14:25:19Z</dcterms:created>
  <dcterms:modified xsi:type="dcterms:W3CDTF">2026-10-08T12:28:30Z</dcterms:modified>
</cp:coreProperties>
</file>