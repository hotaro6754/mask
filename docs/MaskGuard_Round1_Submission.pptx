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 /><Relationship Id="rId2" Type="http://schemas.openxmlformats.org/package/2006/relationships/metadata/core-properties" Target="docProps/core.xml" /><Relationship Id="rId1" Type="http://schemas.openxmlformats.org/officeDocument/2006/relationships/officeDocument" Target="ppt/presentation.xml" /><Relationship Id="rId4" Type="http://schemas.microsoft.com/office/2020/02/relationships/classificationlabels" Target="docMetadata/LabelInfo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 /><Relationship Id="rId13" Type="http://schemas.openxmlformats.org/officeDocument/2006/relationships/tableStyles" Target="tableStyles.xml" /><Relationship Id="rId3" Type="http://schemas.openxmlformats.org/officeDocument/2006/relationships/slide" Target="slides/slide2.xml" /><Relationship Id="rId7" Type="http://schemas.openxmlformats.org/officeDocument/2006/relationships/slide" Target="slides/slide6.xml" /><Relationship Id="rId12" Type="http://schemas.openxmlformats.org/officeDocument/2006/relationships/theme" Target="theme/theme1.xml" /><Relationship Id="rId2" Type="http://schemas.openxmlformats.org/officeDocument/2006/relationships/slide" Target="slides/slide1.xml" /><Relationship Id="rId1" Type="http://schemas.openxmlformats.org/officeDocument/2006/relationships/slideMaster" Target="slideMasters/slideMaster1.xml" /><Relationship Id="rId6" Type="http://schemas.openxmlformats.org/officeDocument/2006/relationships/slide" Target="slides/slide5.xml" /><Relationship Id="rId11" Type="http://schemas.openxmlformats.org/officeDocument/2006/relationships/viewProps" Target="viewProps.xml" /><Relationship Id="rId5" Type="http://schemas.openxmlformats.org/officeDocument/2006/relationships/slide" Target="slides/slide4.xml" /><Relationship Id="rId10" Type="http://schemas.openxmlformats.org/officeDocument/2006/relationships/presProps" Target="presProps.xml" /><Relationship Id="rId4" Type="http://schemas.openxmlformats.org/officeDocument/2006/relationships/slide" Target="slides/slide3.xml" /><Relationship Id="rId9" Type="http://schemas.openxmlformats.org/officeDocument/2006/relationships/notesMaster" Target="notesMasters/notesMaster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18600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 /><Relationship Id="rId1" Type="http://schemas.openxmlformats.org/officeDocument/2006/relationships/notesMaster" Target="../notesMasters/notesMaster1.xml" 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 /><Relationship Id="rId1" Type="http://schemas.openxmlformats.org/officeDocument/2006/relationships/slideLayout" Target="../slideLayouts/slideLayout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 /><Relationship Id="rId1" Type="http://schemas.openxmlformats.org/officeDocument/2006/relationships/slideLayout" Target="../slideLayouts/slideLayout1.xml" 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 /><Relationship Id="rId1" Type="http://schemas.openxmlformats.org/officeDocument/2006/relationships/slideLayout" Target="../slideLayouts/slideLayout1.xml" /></Relationships>
</file>

<file path=ppt/slides/_rels/slide3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3.xml" /><Relationship Id="rId1" Type="http://schemas.openxmlformats.org/officeDocument/2006/relationships/slideLayout" Target="../slideLayouts/slideLayout1.xml" /><Relationship Id="rIdMg1" Type="http://schemas.openxmlformats.org/officeDocument/2006/relationships/image" Target="../media/maskguard_s3_1.png" 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 /><Relationship Id="rId1" Type="http://schemas.openxmlformats.org/officeDocument/2006/relationships/slideLayout" Target="../slideLayouts/slideLayout1.xml" 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 /><Relationship Id="rId1" Type="http://schemas.openxmlformats.org/officeDocument/2006/relationships/slideLayout" Target="../slideLayouts/slideLayout1.xml" 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 /><Relationship Id="rId1" Type="http://schemas.openxmlformats.org/officeDocument/2006/relationships/slideLayout" Target="../slideLayouts/slideLayout1.xml" /></Relationships>
</file>

<file path=ppt/slides/_rels/slide7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7.xml" /><Relationship Id="rId1" Type="http://schemas.openxmlformats.org/officeDocument/2006/relationships/slideLayout" Target="../slideLayouts/slideLayout1.xml" /><Relationship Id="rIdMg1" Type="http://schemas.openxmlformats.org/officeDocument/2006/relationships/image" Target="../media/maskguard_s7_1.png" /><Relationship Id="rIdMg2" Type="http://schemas.openxmlformats.org/officeDocument/2006/relationships/image" Target="../media/maskguard_s7_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7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REVIEW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A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Frontier Challenge 2026 Round 1 Submission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0" y="25603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28803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[Enter Team Name]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0" y="25603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0" y="28803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[Enter Leader Name]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3832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7033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 1: Smart Data Masking (PII)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029200" y="33832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0" y="37033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Oct 2026</a:t>
            </a:r>
            <a:endParaRPr lang="en-US" sz="1800" dirty="0"/>
          </a:p>
        </p:txBody>
      </p:sp>
      <p:sp>
        <p:nvSpPr>
          <p:cNvPr id="101" name="Project name"/>
          <p:cNvSpPr txBox="1"/>
          <p:nvPr/>
        </p:nvSpPr>
        <p:spPr>
          <a:xfrm>
            <a:off x="457200" y="2157984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MaskGuard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AI-powered PII discovery and leak-proof masking for any database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</a:t>
            </a:r>
            <a:endParaRPr lang="en-US" sz="4000" dirty="0"/>
          </a:p>
        </p:txBody>
      </p:sp>
      <p:sp>
        <p:nvSpPr>
          <p:cNvPr id="101" name="Problem Statement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000" dirty="0"/>
          </a:p>
        </p:txBody>
      </p:sp>
      <p:sp>
        <p:nvSpPr>
          <p:cNvPr id="102" name="Problem bullets"/>
          <p:cNvSpPr txBox="1"/>
          <p:nvPr/>
        </p:nvSpPr>
        <p:spPr>
          <a:xfrm>
            <a:off x="548640" y="1188720"/>
            <a:ext cx="8092440" cy="155448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Autofit/>
          </a:bodyPr>
          <a:lstStyle/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Banks, NBFCs and fintechs give support, analytics and ops staff SQL access to tables full of card numbers, Aadhaar, PAN and balances, with no per-role control over what each person sees.</a:t>
            </a:r>
            <a:endParaRPr lang="en-US" sz="115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columns are hard to find: </a:t>
            </a: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 lie (contact, ref_no) and regexes confuse order numbers with Aadhaar, so PII slips through unprotected.</a:t>
            </a:r>
            <a:endParaRPr lang="en-US" sz="115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Masking leaks: </a:t>
            </a: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masking is a display filter, so WHERE, ORDER BY and aggregates still run on real values. An IEEE Access 2025 survey names masking's weakness as “limited protection against sophisticated attacks”.</a:t>
            </a:r>
            <a:endParaRPr lang="en-US" sz="1150" dirty="0"/>
          </a:p>
          <a:p>
            <a:pPr algn="l" marL="228600" indent="-228600">
              <a:spcAft>
                <a:spcPts val="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affected: </a:t>
            </a: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(identity theft), institutions (breach costs, DPDP penalties) and teams who need the data.</a:t>
            </a:r>
            <a:endParaRPr lang="en-US" sz="1150" dirty="0"/>
          </a:p>
        </p:txBody>
      </p:sp>
      <p:sp>
        <p:nvSpPr>
          <p:cNvPr id="103" name="Market Opportunity"/>
          <p:cNvSpPr txBox="1"/>
          <p:nvPr/>
        </p:nvSpPr>
        <p:spPr>
          <a:xfrm>
            <a:off x="457200" y="278892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Opportunity</a:t>
            </a:r>
            <a:endParaRPr lang="en-US" sz="2000" dirty="0"/>
          </a:p>
        </p:txBody>
      </p:sp>
      <p:sp>
        <p:nvSpPr>
          <p:cNvPr id="104" name="Stat 1"/>
          <p:cNvSpPr txBox="1"/>
          <p:nvPr/>
        </p:nvSpPr>
        <p:spPr>
          <a:xfrm>
            <a:off x="457200" y="3145536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109728" tIns="109728" rIns="109728" bIns="109728" rtlCol="0" anchor="t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₹25.5 cr</a:t>
            </a:r>
            <a:endParaRPr lang="en-US" sz="2400" dirty="0"/>
          </a:p>
          <a:p>
            <a:pPr algn="l" marL="0" indent="0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cost of a data breach in India in 2026; financial services is highest at ₹40.9 cr (IBM)</a:t>
            </a:r>
            <a:endParaRPr lang="en-US" sz="1050" dirty="0"/>
          </a:p>
        </p:txBody>
      </p:sp>
      <p:sp>
        <p:nvSpPr>
          <p:cNvPr id="105" name="Stat 2"/>
          <p:cNvSpPr txBox="1"/>
          <p:nvPr/>
        </p:nvSpPr>
        <p:spPr>
          <a:xfrm>
            <a:off x="3246120" y="3145536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109728" tIns="109728" rIns="109728" bIns="109728" rtlCol="0" anchor="t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₹250 cr</a:t>
            </a:r>
            <a:endParaRPr lang="en-US" sz="2400" dirty="0"/>
          </a:p>
          <a:p>
            <a:pPr algn="l" marL="0" indent="0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DPDP penalty for weak security safeguards; Rule 6 names masking and 1-year access logs (from 13 May 2027)</a:t>
            </a:r>
            <a:endParaRPr lang="en-US" sz="1050" dirty="0"/>
          </a:p>
        </p:txBody>
      </p:sp>
      <p:sp>
        <p:nvSpPr>
          <p:cNvPr id="106" name="Stat 3"/>
          <p:cNvSpPr txBox="1"/>
          <p:nvPr/>
        </p:nvSpPr>
        <p:spPr>
          <a:xfrm>
            <a:off x="6035040" y="3145536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109728" tIns="109728" rIns="109728" bIns="109728" rtlCol="0" anchor="t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$1.1–1.5 B</a:t>
            </a:r>
            <a:endParaRPr lang="en-US" sz="2400" dirty="0"/>
          </a:p>
          <a:p>
            <a:pPr algn="l" marL="0" indent="0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data-masking market in 2025, growing about 12–18% a year (analyst estimates)</a:t>
            </a:r>
            <a:endParaRPr lang="en-US" sz="1050" dirty="0"/>
          </a:p>
        </p:txBody>
      </p:sp>
      <p:sp>
        <p:nvSpPr>
          <p:cNvPr id="107" name="Audience"/>
          <p:cNvSpPr txBox="1"/>
          <p:nvPr/>
        </p:nvSpPr>
        <p:spPr>
          <a:xfrm>
            <a:off x="457200" y="4315968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users: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banks, NBFCs, insurers, fintechs and government data teams handling citizen records under DPDP.</a:t>
            </a:r>
            <a:endParaRPr lang="en-US" sz="1100" dirty="0"/>
          </a:p>
        </p:txBody>
      </p:sp>
      <p:sp>
        <p:nvSpPr>
          <p:cNvPr id="108" name="Sources"/>
          <p:cNvSpPr txBox="1"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IBM Cost of a Data Breach 2026 (India); DPDP Rules 2025 (Rule 6), PIB; The Business Research Company; Research and Markets; Prabowo et al., IEEE Access 13 (2025).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</a:t>
            </a:r>
            <a:endParaRPr lang="en-US" sz="4000" dirty="0"/>
          </a:p>
        </p:txBody>
      </p:sp>
      <p:sp>
        <p:nvSpPr>
          <p:cNvPr id="101" name="Solution Overview"/>
          <p:cNvSpPr txBox="1"/>
          <p:nvPr/>
        </p:nvSpPr>
        <p:spPr>
          <a:xfrm>
            <a:off x="457200" y="868680"/>
            <a:ext cx="40233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Overview</a:t>
            </a:r>
            <a:endParaRPr lang="en-US" sz="2000" dirty="0"/>
          </a:p>
        </p:txBody>
      </p:sp>
      <p:sp>
        <p:nvSpPr>
          <p:cNvPr id="102" name="Solution bullets"/>
          <p:cNvSpPr txBox="1"/>
          <p:nvPr/>
        </p:nvSpPr>
        <p:spPr>
          <a:xfrm>
            <a:off x="457200" y="1216152"/>
            <a:ext cx="4114800" cy="3630168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Autofit/>
          </a:bodyPr>
          <a:lstStyle/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MaskGuard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 privacy gateway in front of any SQL database. It finds PII with AI and masks it per role at query time; stored data never changes.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PII discovery: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+ checksum validators find 20 PII types (Aadhaar, PAN, GSTIN, UPI, IFSC…) even behind misleading column names.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Leak-proof masking: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table is rewritten into a masked view inside the query. Admin sees all · Support 4111-XXXX-XXXX-1111 · Analyst redacted or keyed tokens.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Insider-threat engine: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anomaly scoring on the query stream blocks enumeration and probing.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Privacy-safe analytics: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differential-privacy aggregates with a per-analyst budget; free-text PII redacted in place.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Plug-in anywhere: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wire proxy for BI tools, REST API, CLI, dashboard; tamper-evident audit and automated PIA.</a:t>
            </a:r>
            <a:endParaRPr lang="en-US" sz="1050" dirty="0"/>
          </a:p>
        </p:txBody>
      </p:sp>
      <p:pic>
        <p:nvPicPr>
          <p:cNvPr id="103" name="Screenshot 103" descr="Dashboard: the same query as Admin, Support and Analyst"/>
          <p:cNvPicPr>
            <a:picLocks noChangeAspect="1"/>
          </p:cNvPicPr>
          <p:nvPr/>
        </p:nvPicPr>
        <p:blipFill>
          <a:blip r:embed="rIdMg1"/>
          <a:stretch>
            <a:fillRect/>
          </a:stretch>
        </p:blipFill>
        <p:spPr>
          <a:xfrm>
            <a:off x="4709160" y="914400"/>
            <a:ext cx="3977640" cy="1563385"/>
          </a:xfrm>
          <a:prstGeom prst="rect">
            <a:avLst/>
          </a:prstGeom>
          <a:ln w="9525">
            <a:solidFill>
              <a:srgbClr val="C9D3E3"/>
            </a:solidFill>
          </a:ln>
        </p:spPr>
      </p:pic>
      <p:sp>
        <p:nvSpPr>
          <p:cNvPr id="104" name="Caption"/>
          <p:cNvSpPr txBox="1"/>
          <p:nvPr/>
        </p:nvSpPr>
        <p:spPr>
          <a:xfrm>
            <a:off x="4709160" y="2505217"/>
            <a:ext cx="39776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 (PostgreSQL): one query, three roles</a:t>
            </a:r>
            <a:endParaRPr lang="en-US" sz="950" dirty="0"/>
          </a:p>
        </p:txBody>
      </p:sp>
      <p:sp>
        <p:nvSpPr>
          <p:cNvPr id="105" name="Rewrite example"/>
          <p:cNvSpPr txBox="1"/>
          <p:nvPr/>
        </p:nvSpPr>
        <p:spPr>
          <a:xfrm>
            <a:off x="4709160" y="2825257"/>
            <a:ext cx="3977640" cy="141732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109728" tIns="109728" rIns="109728" bIns="109728" rtlCol="0" anchor="t">
            <a:no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query is rewritten</a:t>
            </a:r>
            <a:endParaRPr lang="en-US" sz="1100" dirty="0"/>
          </a:p>
          <a:p>
            <a:pPr algn="l"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SELECT email AS mail FROM users</a:t>
            </a:r>
            <a:endParaRPr lang="en-US" sz="950" dirty="0"/>
          </a:p>
          <a:p>
            <a:pPr algn="l" marL="0" indent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becomes</a:t>
            </a:r>
            <a:endParaRPr lang="en-US" sz="9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SELECT email AS mail FROM (</a:t>
            </a:r>
            <a:endParaRPr lang="en-US" sz="9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  SELECT id, mg_email(email) AS email,</a:t>
            </a:r>
            <a:endParaRPr lang="en-US" sz="9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    mg_partial(ssn, 0, 4) AS ssn, ...</a:t>
            </a:r>
            <a:endParaRPr lang="en-US" sz="9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  FROM main.users) AS users LIMIT 100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Steps &amp; Architecture</a:t>
            </a:r>
            <a:endParaRPr lang="en-US" sz="4000" dirty="0"/>
          </a:p>
        </p:txBody>
      </p:sp>
      <p:sp>
        <p:nvSpPr>
          <p:cNvPr id="101" name="Technical Implementation"/>
          <p:cNvSpPr txBox="1"/>
          <p:nvPr/>
        </p:nvSpPr>
        <p:spPr>
          <a:xfrm>
            <a:off x="457200" y="868680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Implementation</a:t>
            </a:r>
            <a:endParaRPr lang="en-US" sz="2000" dirty="0"/>
          </a:p>
        </p:txBody>
      </p:sp>
      <p:sp>
        <p:nvSpPr>
          <p:cNvPr id="102" name="Steps"/>
          <p:cNvSpPr txBox="1"/>
          <p:nvPr/>
        </p:nvSpPr>
        <p:spPr>
          <a:xfrm>
            <a:off x="457200" y="1216152"/>
            <a:ext cx="4160520" cy="3630168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Autofit/>
          </a:bodyPr>
          <a:lstStyle/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SQLite, PostgreSQL and MySQL behind one interface; apps use the REST API, SDK or PostgreSQL wire proxy.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background AI scanner samples each column; LightGBM (85 features) + checksums tag it with evidence. Unsure columns stay masked.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PBKDF2 passwords and signed JWTs; the role only ever comes from the session.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risk: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threat engine scores each session (rules + IsolationForest) and blocks probing.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&amp; execute: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sqlglot swaps every table for a masked view, adds DP noise to analyst aggregates, rejects unsafe SQL, runs read-only.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&amp; report: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hash-chained log without literals; one-click PIA report mapped to DPDP Rule 6.</a:t>
            </a:r>
            <a:endParaRPr lang="en-US" sz="1050" dirty="0"/>
          </a:p>
        </p:txBody>
      </p:sp>
      <p:sp>
        <p:nvSpPr>
          <p:cNvPr id="103" name="Architecture Diagram"/>
          <p:cNvSpPr txBox="1"/>
          <p:nvPr/>
        </p:nvSpPr>
        <p:spPr>
          <a:xfrm>
            <a:off x="4846320" y="868680"/>
            <a:ext cx="3840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Diagram</a:t>
            </a:r>
            <a:endParaRPr lang="en-US" sz="2000" dirty="0"/>
          </a:p>
        </p:txBody>
      </p:sp>
      <p:sp>
        <p:nvSpPr>
          <p:cNvPr id="104" name="BI tools · API · CLI · Dashboard"/>
          <p:cNvSpPr txBox="1"/>
          <p:nvPr/>
        </p:nvSpPr>
        <p:spPr>
          <a:xfrm>
            <a:off x="4846320" y="1298448"/>
            <a:ext cx="2103120" cy="475488"/>
          </a:xfrm>
          <a:prstGeom prst="roundRect">
            <a:avLst>
              <a:gd name="adj" fmla="val 8000"/>
            </a:avLst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 tools · API · CLI · Dashboard</a:t>
            </a:r>
            <a:endParaRPr lang="en-US" sz="100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PostgreSQL wire proxy or SDK</a:t>
            </a:r>
            <a:endParaRPr lang="en-US" sz="850" dirty="0"/>
          </a:p>
        </p:txBody>
      </p:sp>
      <p:sp>
        <p:nvSpPr>
          <p:cNvPr id="105" name="Auth + threat engine"/>
          <p:cNvSpPr txBox="1"/>
          <p:nvPr/>
        </p:nvSpPr>
        <p:spPr>
          <a:xfrm>
            <a:off x="4846320" y="2011680"/>
            <a:ext cx="2103120" cy="420624"/>
          </a:xfrm>
          <a:prstGeom prst="roundRect">
            <a:avLst>
              <a:gd name="adj" fmla="val 8000"/>
            </a:avLst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+ threat engine</a:t>
            </a:r>
            <a:endParaRPr lang="en-US" sz="100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role · ML risk score</a:t>
            </a:r>
            <a:endParaRPr lang="en-US" sz="850" dirty="0"/>
          </a:p>
        </p:txBody>
      </p:sp>
      <p:sp>
        <p:nvSpPr>
          <p:cNvPr id="106" name="Audit log + PIA"/>
          <p:cNvSpPr txBox="1"/>
          <p:nvPr/>
        </p:nvSpPr>
        <p:spPr>
          <a:xfrm>
            <a:off x="7178040" y="2011680"/>
            <a:ext cx="1508760" cy="420624"/>
          </a:xfrm>
          <a:prstGeom prst="roundRect">
            <a:avLst>
              <a:gd name="adj" fmla="val 8000"/>
            </a:avLst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 + PIA</a:t>
            </a:r>
            <a:endParaRPr lang="en-US" sz="100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hash-chained, no literals</a:t>
            </a:r>
            <a:endParaRPr lang="en-US" sz="850" dirty="0"/>
          </a:p>
        </p:txBody>
      </p:sp>
      <p:sp>
        <p:nvSpPr>
          <p:cNvPr id="107" name="Masking engine (sqlglot)"/>
          <p:cNvSpPr txBox="1"/>
          <p:nvPr/>
        </p:nvSpPr>
        <p:spPr>
          <a:xfrm>
            <a:off x="4846320" y="2670048"/>
            <a:ext cx="2103120" cy="713232"/>
          </a:xfrm>
          <a:prstGeom prst="roundRect">
            <a:avLst>
              <a:gd name="adj" fmla="val 8000"/>
            </a:avLst>
          </a:prstGeom>
          <a:solidFill>
            <a:srgbClr val="1F4788"/>
          </a:solidFill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Masking engine (sqlglot)</a:t>
            </a:r>
            <a:endParaRPr lang="en-US" sz="100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masked views · DP aggregates · firewall · row caps</a:t>
            </a:r>
            <a:endParaRPr lang="en-US" sz="850" dirty="0"/>
          </a:p>
        </p:txBody>
      </p:sp>
      <p:sp>
        <p:nvSpPr>
          <p:cNvPr id="108" name="Policy as code"/>
          <p:cNvSpPr txBox="1"/>
          <p:nvPr/>
        </p:nvSpPr>
        <p:spPr>
          <a:xfrm>
            <a:off x="7178040" y="2670048"/>
            <a:ext cx="1508760" cy="329184"/>
          </a:xfrm>
          <a:prstGeom prst="roundRect">
            <a:avLst>
              <a:gd name="adj" fmla="val 8000"/>
            </a:avLst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as code</a:t>
            </a:r>
            <a:endParaRPr lang="en-US" sz="1000" dirty="0"/>
          </a:p>
        </p:txBody>
      </p:sp>
      <p:sp>
        <p:nvSpPr>
          <p:cNvPr id="109" name="AI PII scanner"/>
          <p:cNvSpPr txBox="1"/>
          <p:nvPr/>
        </p:nvSpPr>
        <p:spPr>
          <a:xfrm>
            <a:off x="7178040" y="3090672"/>
            <a:ext cx="1508760" cy="1024128"/>
          </a:xfrm>
          <a:prstGeom prst="roundRect">
            <a:avLst>
              <a:gd name="adj" fmla="val 8000"/>
            </a:avLst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PII scanner</a:t>
            </a:r>
            <a:endParaRPr lang="en-US" sz="100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worker: LightGBM + checksums → tags</a:t>
            </a:r>
            <a:endParaRPr lang="en-US" sz="850" dirty="0"/>
          </a:p>
        </p:txBody>
      </p:sp>
      <p:sp>
        <p:nvSpPr>
          <p:cNvPr id="110" name="SQLite | PostgreSQL | MySQL"/>
          <p:cNvSpPr txBox="1"/>
          <p:nvPr/>
        </p:nvSpPr>
        <p:spPr>
          <a:xfrm>
            <a:off x="4846320" y="3621024"/>
            <a:ext cx="2103120" cy="493776"/>
          </a:xfrm>
          <a:prstGeom prst="roundRect">
            <a:avLst>
              <a:gd name="adj" fmla="val 8000"/>
            </a:avLst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| PostgreSQL | MySQL</a:t>
            </a:r>
            <a:endParaRPr lang="en-US" sz="100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read-only; data never modified</a:t>
            </a:r>
            <a:endParaRPr lang="en-US" sz="850" dirty="0"/>
          </a:p>
        </p:txBody>
      </p:sp>
      <p:cxnSp>
        <p:nvCxnSpPr>
          <p:cNvPr id="111" name="Arrow 111"/>
          <p:cNvCxnSpPr/>
          <p:nvPr/>
        </p:nvCxnSpPr>
        <p:spPr>
          <a:xfrm>
            <a:off x="5897880" y="1773936"/>
            <a:ext cx="0" cy="237744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2" name="Arrow 112"/>
          <p:cNvCxnSpPr/>
          <p:nvPr/>
        </p:nvCxnSpPr>
        <p:spPr>
          <a:xfrm>
            <a:off x="5897880" y="2432304"/>
            <a:ext cx="0" cy="237744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3" name="Arrow 113"/>
          <p:cNvCxnSpPr/>
          <p:nvPr/>
        </p:nvCxnSpPr>
        <p:spPr>
          <a:xfrm>
            <a:off x="5897880" y="3383280"/>
            <a:ext cx="0" cy="237744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4" name="Arrow 114"/>
          <p:cNvCxnSpPr/>
          <p:nvPr/>
        </p:nvCxnSpPr>
        <p:spPr>
          <a:xfrm>
            <a:off x="6949440" y="2221992"/>
            <a:ext cx="228600" cy="0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5" name="Arrow 115"/>
          <p:cNvCxnSpPr/>
          <p:nvPr/>
        </p:nvCxnSpPr>
        <p:spPr>
          <a:xfrm flipH="1">
            <a:off x="6949440" y="2834640"/>
            <a:ext cx="228600" cy="0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6" name="Arrow 116"/>
          <p:cNvCxnSpPr/>
          <p:nvPr/>
        </p:nvCxnSpPr>
        <p:spPr>
          <a:xfrm flipH="1">
            <a:off x="6949440" y="3246120"/>
            <a:ext cx="228600" cy="0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7" name="Arrow 117"/>
          <p:cNvCxnSpPr/>
          <p:nvPr/>
        </p:nvCxnSpPr>
        <p:spPr>
          <a:xfrm>
            <a:off x="6949440" y="3867912"/>
            <a:ext cx="228600" cy="0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sp>
        <p:nvSpPr>
          <p:cNvPr id="118" name="Diagram caption"/>
          <p:cNvSpPr txBox="1"/>
          <p:nvPr/>
        </p:nvSpPr>
        <p:spPr>
          <a:xfrm>
            <a:off x="4846320" y="4206240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Masked rows return the same way. The scanner samples the database; its tags and the policy decide each column's mask per role.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Mitigation</a:t>
            </a:r>
            <a:endParaRPr lang="en-US" sz="4000" dirty="0"/>
          </a:p>
        </p:txBody>
      </p:sp>
      <p:sp>
        <p:nvSpPr>
          <p:cNvPr id="101" name="Challenge 1"/>
          <p:cNvSpPr txBox="1"/>
          <p:nvPr/>
        </p:nvSpPr>
        <p:spPr>
          <a:xfrm>
            <a:off x="457200" y="841248"/>
            <a:ext cx="4663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2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Finding PII when column names lie</a:t>
            </a:r>
            <a:endParaRPr lang="en-US" sz="1250" dirty="0"/>
          </a:p>
        </p:txBody>
      </p:sp>
      <p:sp>
        <p:nvSpPr>
          <p:cNvPr id="102" name="Challenge 1 detail"/>
          <p:cNvSpPr txBox="1"/>
          <p:nvPr/>
        </p:nvSpPr>
        <p:spPr>
          <a:xfrm>
            <a:off x="594360" y="1115568"/>
            <a:ext cx="4526280" cy="9601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 mislead (contact, ref_no) and regexes mistake order numbers or OTPs for Aadhaar and pincodes.</a:t>
            </a:r>
            <a:endParaRPr lang="en-US" sz="10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on value statistics plus checksum validators; checksum hits can never be overridden, and uncertain columns are still masked for review.</a:t>
            </a:r>
            <a:endParaRPr lang="en-US" sz="1050" dirty="0"/>
          </a:p>
        </p:txBody>
      </p:sp>
      <p:sp>
        <p:nvSpPr>
          <p:cNvPr id="103" name="Rect 103"/>
          <p:cNvSpPr/>
          <p:nvPr/>
        </p:nvSpPr>
        <p:spPr>
          <a:xfrm>
            <a:off x="457200" y="2093976"/>
            <a:ext cx="4663440" cy="9144"/>
          </a:xfrm>
          <a:prstGeom prst="rect">
            <a:avLst/>
          </a:prstGeom>
          <a:solidFill>
            <a:srgbClr val="DADF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4" name="Challenge 2"/>
          <p:cNvSpPr txBox="1"/>
          <p:nvPr/>
        </p:nvSpPr>
        <p:spPr>
          <a:xfrm>
            <a:off x="457200" y="2167128"/>
            <a:ext cx="4663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2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Inference through filters and aggregates</a:t>
            </a:r>
            <a:endParaRPr lang="en-US" sz="1250" dirty="0"/>
          </a:p>
        </p:txBody>
      </p:sp>
      <p:sp>
        <p:nvSpPr>
          <p:cNvPr id="105" name="Challenge 2 detail"/>
          <p:cNvSpPr txBox="1"/>
          <p:nvPr/>
        </p:nvSpPr>
        <p:spPr>
          <a:xfrm>
            <a:off x="594360" y="2441448"/>
            <a:ext cx="4526280" cy="9601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/ LIKE / BETWEEN probes, ORDER BY and one-row aggregates reveal masked values without selecting them.</a:t>
            </a:r>
            <a:endParaRPr lang="en-US" sz="10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 at the table source, suppress groups under 5 rows, reject unsafe SQL; the ML threat engine stops multi-query probing.</a:t>
            </a:r>
            <a:endParaRPr lang="en-US" sz="1050" dirty="0"/>
          </a:p>
        </p:txBody>
      </p:sp>
      <p:sp>
        <p:nvSpPr>
          <p:cNvPr id="106" name="Rect 106"/>
          <p:cNvSpPr/>
          <p:nvPr/>
        </p:nvSpPr>
        <p:spPr>
          <a:xfrm>
            <a:off x="457200" y="3419856"/>
            <a:ext cx="4663440" cy="9144"/>
          </a:xfrm>
          <a:prstGeom prst="rect">
            <a:avLst/>
          </a:prstGeom>
          <a:solidFill>
            <a:srgbClr val="DADF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7" name="Challenge 3"/>
          <p:cNvSpPr txBox="1"/>
          <p:nvPr/>
        </p:nvSpPr>
        <p:spPr>
          <a:xfrm>
            <a:off x="457200" y="3493008"/>
            <a:ext cx="4663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2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Privacy vs. usefulness for analysts</a:t>
            </a:r>
            <a:endParaRPr lang="en-US" sz="1250" dirty="0"/>
          </a:p>
        </p:txBody>
      </p:sp>
      <p:sp>
        <p:nvSpPr>
          <p:cNvPr id="108" name="Challenge 3 detail"/>
          <p:cNvSpPr txBox="1"/>
          <p:nvPr/>
        </p:nvSpPr>
        <p:spPr>
          <a:xfrm>
            <a:off x="594360" y="3767328"/>
            <a:ext cx="4526280" cy="9601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redaction makes analytics useless; plain hashes of IDs are brute-forceable.</a:t>
            </a:r>
            <a:endParaRPr lang="en-US" sz="10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keyed-HMAC tokens keep joins and counts working; differential-privacy aggregates with a per-analyst privacy budget.</a:t>
            </a:r>
            <a:endParaRPr lang="en-US" sz="1050" dirty="0"/>
          </a:p>
        </p:txBody>
      </p:sp>
      <p:sp>
        <p:nvSpPr>
          <p:cNvPr id="109" name="Evidence panel"/>
          <p:cNvSpPr txBox="1"/>
          <p:nvPr/>
        </p:nvSpPr>
        <p:spPr>
          <a:xfrm>
            <a:off x="5349240" y="841248"/>
            <a:ext cx="3337560" cy="4005072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n-US"/>
          </a:p>
        </p:txBody>
      </p:sp>
      <p:sp>
        <p:nvSpPr>
          <p:cNvPr id="110" name="Evidence title"/>
          <p:cNvSpPr txBox="1"/>
          <p:nvPr/>
        </p:nvSpPr>
        <p:spPr>
          <a:xfrm>
            <a:off x="5486400" y="896112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results</a:t>
            </a:r>
            <a:endParaRPr lang="en-US" sz="1300" dirty="0"/>
          </a:p>
        </p:txBody>
      </p:sp>
      <p:sp>
        <p:nvSpPr>
          <p:cNvPr id="111" name="PII discovery, misleading column names (F1)"/>
          <p:cNvSpPr txBox="1"/>
          <p:nvPr/>
        </p:nvSpPr>
        <p:spPr>
          <a:xfrm>
            <a:off x="5486400" y="1234440"/>
            <a:ext cx="31089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discovery, misleading column names (F1)</a:t>
            </a:r>
            <a:endParaRPr lang="en-US" sz="1050" dirty="0"/>
          </a:p>
        </p:txBody>
      </p:sp>
      <p:sp>
        <p:nvSpPr>
          <p:cNvPr id="112" name="PII discovery, misleading column names (F1) label 0"/>
          <p:cNvSpPr txBox="1"/>
          <p:nvPr/>
        </p:nvSpPr>
        <p:spPr>
          <a:xfrm>
            <a:off x="5486400" y="1508760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baseline</a:t>
            </a:r>
            <a:endParaRPr lang="en-US" sz="950" dirty="0"/>
          </a:p>
        </p:txBody>
      </p:sp>
      <p:sp>
        <p:nvSpPr>
          <p:cNvPr id="113" name="Rect 113"/>
          <p:cNvSpPr/>
          <p:nvPr/>
        </p:nvSpPr>
        <p:spPr>
          <a:xfrm>
            <a:off x="6720840" y="1536192"/>
            <a:ext cx="1103608" cy="164592"/>
          </a:xfrm>
          <a:prstGeom prst="rect">
            <a:avLst/>
          </a:prstGeom>
          <a:solidFill>
            <a:srgbClr val="B8C2D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4" name="PII discovery, misleading column names (F1) value 0"/>
          <p:cNvSpPr txBox="1"/>
          <p:nvPr/>
        </p:nvSpPr>
        <p:spPr>
          <a:xfrm>
            <a:off x="7879312" y="1508760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0.844</a:t>
            </a:r>
            <a:endParaRPr lang="en-US" sz="1000" dirty="0"/>
          </a:p>
        </p:txBody>
      </p:sp>
      <p:sp>
        <p:nvSpPr>
          <p:cNvPr id="115" name="PII discovery, misleading column names (F1) label 1"/>
          <p:cNvSpPr txBox="1"/>
          <p:nvPr/>
        </p:nvSpPr>
        <p:spPr>
          <a:xfrm>
            <a:off x="5486400" y="1783080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MaskGuard AI</a:t>
            </a:r>
            <a:endParaRPr lang="en-US" sz="950" dirty="0"/>
          </a:p>
        </p:txBody>
      </p:sp>
      <p:sp>
        <p:nvSpPr>
          <p:cNvPr id="116" name="Rect 116"/>
          <p:cNvSpPr/>
          <p:nvPr/>
        </p:nvSpPr>
        <p:spPr>
          <a:xfrm>
            <a:off x="6720840" y="1810512"/>
            <a:ext cx="1306284" cy="164592"/>
          </a:xfrm>
          <a:prstGeom prst="rect">
            <a:avLst/>
          </a:prstGeom>
          <a:solidFill>
            <a:srgbClr val="1F478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7" name="PII discovery, misleading column names (F1) value 1"/>
          <p:cNvSpPr txBox="1"/>
          <p:nvPr/>
        </p:nvSpPr>
        <p:spPr>
          <a:xfrm>
            <a:off x="8081988" y="1783080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0.999</a:t>
            </a:r>
            <a:endParaRPr lang="en-US" sz="1000" dirty="0"/>
          </a:p>
        </p:txBody>
      </p:sp>
      <p:sp>
        <p:nvSpPr>
          <p:cNvPr id="118" name="False alarms on look-alike data"/>
          <p:cNvSpPr txBox="1"/>
          <p:nvPr/>
        </p:nvSpPr>
        <p:spPr>
          <a:xfrm>
            <a:off x="5486400" y="2212848"/>
            <a:ext cx="31089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alarms on look-alike data</a:t>
            </a:r>
            <a:endParaRPr lang="en-US" sz="1050" dirty="0"/>
          </a:p>
        </p:txBody>
      </p:sp>
      <p:sp>
        <p:nvSpPr>
          <p:cNvPr id="119" name="False alarms on look-alike data label 0"/>
          <p:cNvSpPr txBox="1"/>
          <p:nvPr/>
        </p:nvSpPr>
        <p:spPr>
          <a:xfrm>
            <a:off x="5486400" y="2487168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baseline</a:t>
            </a:r>
            <a:endParaRPr lang="en-US" sz="950" dirty="0"/>
          </a:p>
        </p:txBody>
      </p:sp>
      <p:sp>
        <p:nvSpPr>
          <p:cNvPr id="120" name="Rect 120"/>
          <p:cNvSpPr/>
          <p:nvPr/>
        </p:nvSpPr>
        <p:spPr>
          <a:xfrm>
            <a:off x="6720840" y="2514600"/>
            <a:ext cx="1161142" cy="164592"/>
          </a:xfrm>
          <a:prstGeom prst="rect">
            <a:avLst/>
          </a:prstGeom>
          <a:solidFill>
            <a:srgbClr val="B8C2D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1" name="False alarms on look-alike data value 0"/>
          <p:cNvSpPr txBox="1"/>
          <p:nvPr/>
        </p:nvSpPr>
        <p:spPr>
          <a:xfrm>
            <a:off x="7936846" y="2487168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22.2%</a:t>
            </a:r>
            <a:endParaRPr lang="en-US" sz="1000" dirty="0"/>
          </a:p>
        </p:txBody>
      </p:sp>
      <p:sp>
        <p:nvSpPr>
          <p:cNvPr id="122" name="False alarms on look-alike data label 1"/>
          <p:cNvSpPr txBox="1"/>
          <p:nvPr/>
        </p:nvSpPr>
        <p:spPr>
          <a:xfrm>
            <a:off x="5486400" y="2761488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MaskGuard AI</a:t>
            </a:r>
            <a:endParaRPr lang="en-US" sz="950" dirty="0"/>
          </a:p>
        </p:txBody>
      </p:sp>
      <p:sp>
        <p:nvSpPr>
          <p:cNvPr id="123" name="Rect 123"/>
          <p:cNvSpPr/>
          <p:nvPr/>
        </p:nvSpPr>
        <p:spPr>
          <a:xfrm>
            <a:off x="6720840" y="2788920"/>
            <a:ext cx="78456" cy="164592"/>
          </a:xfrm>
          <a:prstGeom prst="rect">
            <a:avLst/>
          </a:prstGeom>
          <a:solidFill>
            <a:srgbClr val="1F478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4" name="False alarms on look-alike data value 1"/>
          <p:cNvSpPr txBox="1"/>
          <p:nvPr/>
        </p:nvSpPr>
        <p:spPr>
          <a:xfrm>
            <a:off x="6854160" y="2761488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1.5%</a:t>
            </a:r>
            <a:endParaRPr lang="en-US" sz="1000" dirty="0"/>
          </a:p>
        </p:txBody>
      </p:sp>
      <p:sp>
        <p:nvSpPr>
          <p:cNvPr id="125" name="False alarms on look-alike data note"/>
          <p:cNvSpPr txBox="1"/>
          <p:nvPr/>
        </p:nvSpPr>
        <p:spPr>
          <a:xfrm>
            <a:off x="5486400" y="3035808"/>
            <a:ext cx="31089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is better</a:t>
            </a:r>
            <a:endParaRPr lang="en-US" sz="850" dirty="0"/>
          </a:p>
        </p:txBody>
      </p:sp>
      <p:sp>
        <p:nvSpPr>
          <p:cNvPr id="126" name="PII leaks across 17 attacks"/>
          <p:cNvSpPr txBox="1"/>
          <p:nvPr/>
        </p:nvSpPr>
        <p:spPr>
          <a:xfrm>
            <a:off x="5486400" y="3364992"/>
            <a:ext cx="31089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leaks across 17 attacks</a:t>
            </a:r>
            <a:endParaRPr lang="en-US" sz="1050" dirty="0"/>
          </a:p>
        </p:txBody>
      </p:sp>
      <p:sp>
        <p:nvSpPr>
          <p:cNvPr id="127" name="PII leaks across 17 attacks label 0"/>
          <p:cNvSpPr txBox="1"/>
          <p:nvPr/>
        </p:nvSpPr>
        <p:spPr>
          <a:xfrm>
            <a:off x="5486400" y="3639312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masking</a:t>
            </a:r>
            <a:endParaRPr lang="en-US" sz="950" dirty="0"/>
          </a:p>
        </p:txBody>
      </p:sp>
      <p:sp>
        <p:nvSpPr>
          <p:cNvPr id="128" name="Rect 128"/>
          <p:cNvSpPr/>
          <p:nvPr/>
        </p:nvSpPr>
        <p:spPr>
          <a:xfrm>
            <a:off x="6720840" y="3666744"/>
            <a:ext cx="1153758" cy="164592"/>
          </a:xfrm>
          <a:prstGeom prst="rect">
            <a:avLst/>
          </a:prstGeom>
          <a:solidFill>
            <a:srgbClr val="B8C2D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9" name="PII leaks across 17 attacks value 0"/>
          <p:cNvSpPr txBox="1"/>
          <p:nvPr/>
        </p:nvSpPr>
        <p:spPr>
          <a:xfrm>
            <a:off x="7929462" y="3639312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130" name="PII leaks across 17 attacks label 1"/>
          <p:cNvSpPr txBox="1"/>
          <p:nvPr/>
        </p:nvSpPr>
        <p:spPr>
          <a:xfrm>
            <a:off x="5486400" y="3913632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MaskGuard</a:t>
            </a:r>
            <a:endParaRPr lang="en-US" sz="950" dirty="0"/>
          </a:p>
        </p:txBody>
      </p:sp>
      <p:sp>
        <p:nvSpPr>
          <p:cNvPr id="131" name="Rect 131"/>
          <p:cNvSpPr/>
          <p:nvPr/>
        </p:nvSpPr>
        <p:spPr>
          <a:xfrm>
            <a:off x="6720840" y="3941064"/>
            <a:ext cx="27432" cy="164592"/>
          </a:xfrm>
          <a:prstGeom prst="rect">
            <a:avLst/>
          </a:prstGeom>
          <a:solidFill>
            <a:srgbClr val="1F478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2" name="PII leaks across 17 attacks value 1"/>
          <p:cNvSpPr txBox="1"/>
          <p:nvPr/>
        </p:nvSpPr>
        <p:spPr>
          <a:xfrm>
            <a:off x="6803136" y="3913632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00" dirty="0"/>
          </a:p>
        </p:txBody>
      </p:sp>
      <p:sp>
        <p:nvSpPr>
          <p:cNvPr id="133" name="PII leaks across 17 attacks note"/>
          <p:cNvSpPr txBox="1"/>
          <p:nvPr/>
        </p:nvSpPr>
        <p:spPr>
          <a:xfrm>
            <a:off x="5486400" y="4187952"/>
            <a:ext cx="31089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is better</a:t>
            </a:r>
            <a:endParaRPr lang="en-US" sz="850" dirty="0"/>
          </a:p>
        </p:txBody>
      </p:sp>
      <p:sp>
        <p:nvSpPr>
          <p:cNvPr id="134" name="Evidence source"/>
          <p:cNvSpPr txBox="1"/>
          <p:nvPr/>
        </p:nvSpPr>
        <p:spPr>
          <a:xfrm>
            <a:off x="5486400" y="4462272"/>
            <a:ext cx="3108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bharat-pii-bench (Apache-2.0), 2,880 unseen columns; attack suite on PostgreSQL.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Selling Proposition (USP)</a:t>
            </a:r>
            <a:endParaRPr lang="en-US" sz="4000" dirty="0"/>
          </a:p>
        </p:txBody>
      </p:sp>
      <p:sp>
        <p:nvSpPr>
          <p:cNvPr id="101" name="Rect 101"/>
          <p:cNvSpPr/>
          <p:nvPr/>
        </p:nvSpPr>
        <p:spPr>
          <a:xfrm>
            <a:off x="548640" y="914400"/>
            <a:ext cx="2560320" cy="73152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AI that beats the benchmark"/>
          <p:cNvSpPr txBox="1"/>
          <p:nvPr/>
        </p:nvSpPr>
        <p:spPr>
          <a:xfrm>
            <a:off x="548640" y="1051560"/>
            <a:ext cx="25603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that beats the benchmark</a:t>
            </a:r>
            <a:endParaRPr lang="en-US" sz="1350" dirty="0"/>
          </a:p>
        </p:txBody>
      </p:sp>
      <p:sp>
        <p:nvSpPr>
          <p:cNvPr id="103" name="AI that beats the benchmark detail"/>
          <p:cNvSpPr txBox="1"/>
          <p:nvPr/>
        </p:nvSpPr>
        <p:spPr>
          <a:xfrm>
            <a:off x="548640" y="1417320"/>
            <a:ext cx="2560320" cy="1188720"/>
          </a:xfrm>
          <a:prstGeom prst="rect">
            <a:avLst/>
          </a:prstGeom>
          <a:noFill/>
          <a:ln>
            <a:noFill/>
          </a:ln>
        </p:spPr>
        <p:txBody>
          <a:bodyPr wrap="square" lIns="36576" tIns="36576" rIns="36576" bIns="36576" rtlCol="0" anchor="t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LightGBM + checksum scanner scores 0.999 F1 on an independent Indian-PII benchmark with misleading column names (baseline 0.844) and cuts false alarms from 22.2% to 1.5%.</a:t>
            </a:r>
            <a:endParaRPr lang="en-US" sz="1100" dirty="0"/>
          </a:p>
        </p:txBody>
      </p:sp>
      <p:sp>
        <p:nvSpPr>
          <p:cNvPr id="104" name="Rect 104"/>
          <p:cNvSpPr/>
          <p:nvPr/>
        </p:nvSpPr>
        <p:spPr>
          <a:xfrm>
            <a:off x="3291840" y="914400"/>
            <a:ext cx="2560320" cy="73152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5" name="Leak-proof by construction"/>
          <p:cNvSpPr txBox="1"/>
          <p:nvPr/>
        </p:nvSpPr>
        <p:spPr>
          <a:xfrm>
            <a:off x="3291840" y="1051560"/>
            <a:ext cx="25603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Leak-proof by construction</a:t>
            </a:r>
            <a:endParaRPr lang="en-US" sz="1350" dirty="0"/>
          </a:p>
        </p:txBody>
      </p:sp>
      <p:sp>
        <p:nvSpPr>
          <p:cNvPr id="106" name="Leak-proof by construction detail"/>
          <p:cNvSpPr txBox="1"/>
          <p:nvPr/>
        </p:nvSpPr>
        <p:spPr>
          <a:xfrm>
            <a:off x="3291840" y="1417320"/>
            <a:ext cx="2560320" cy="1188720"/>
          </a:xfrm>
          <a:prstGeom prst="rect">
            <a:avLst/>
          </a:prstGeom>
          <a:noFill/>
          <a:ln>
            <a:noFill/>
          </a:ln>
        </p:spPr>
        <p:txBody>
          <a:bodyPr wrap="square" lIns="36576" tIns="36576" rIns="36576" bIns="36576" rtlCol="0" anchor="t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Masks at the table source, not the output: 0 of 17 inference and bypass attacks leak, vs 15 for naive masking. The ML threat engine adds multi-query defence.</a:t>
            </a:r>
            <a:endParaRPr lang="en-US" sz="1100" dirty="0"/>
          </a:p>
        </p:txBody>
      </p:sp>
      <p:sp>
        <p:nvSpPr>
          <p:cNvPr id="107" name="Rect 107"/>
          <p:cNvSpPr/>
          <p:nvPr/>
        </p:nvSpPr>
        <p:spPr>
          <a:xfrm>
            <a:off x="6035040" y="914400"/>
            <a:ext cx="2560320" cy="73152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8" name="Built for India and DPDP"/>
          <p:cNvSpPr txBox="1"/>
          <p:nvPr/>
        </p:nvSpPr>
        <p:spPr>
          <a:xfrm>
            <a:off x="6035040" y="1051560"/>
            <a:ext cx="25603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India and DPDP</a:t>
            </a:r>
            <a:endParaRPr lang="en-US" sz="1350" dirty="0"/>
          </a:p>
        </p:txBody>
      </p:sp>
      <p:sp>
        <p:nvSpPr>
          <p:cNvPr id="109" name="Built for India and DPDP detail"/>
          <p:cNvSpPr txBox="1"/>
          <p:nvPr/>
        </p:nvSpPr>
        <p:spPr>
          <a:xfrm>
            <a:off x="6035040" y="1417320"/>
            <a:ext cx="2560320" cy="1188720"/>
          </a:xfrm>
          <a:prstGeom prst="rect">
            <a:avLst/>
          </a:prstGeom>
          <a:noFill/>
          <a:ln>
            <a:noFill/>
          </a:ln>
        </p:spPr>
        <p:txBody>
          <a:bodyPr wrap="square" lIns="36576" tIns="36576" rIns="36576" bIns="36576" rtlCol="0" anchor="t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Aadhaar, PAN, GSTIN, UPI, IFSC, EPIC and Devanagari names; keyed tokens; one-year tamper-evident audit and an automated PIA mapped to DPDP Rule 6.</a:t>
            </a:r>
            <a:endParaRPr lang="en-US" sz="1100" dirty="0"/>
          </a:p>
        </p:txBody>
      </p:sp>
      <p:sp>
        <p:nvSpPr>
          <p:cNvPr id="110" name="Proof 1"/>
          <p:cNvSpPr txBox="1"/>
          <p:nvPr/>
        </p:nvSpPr>
        <p:spPr>
          <a:xfrm>
            <a:off x="548640" y="2651760"/>
            <a:ext cx="1920240" cy="658368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0.999</a:t>
            </a:r>
            <a:endParaRPr lang="en-US" sz="1800" dirty="0"/>
          </a:p>
          <a:p>
            <a:pPr algn="ctr" marL="0" indent="0">
              <a:spcAft>
                <a:spcPts val="0"/>
              </a:spcAft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with misleading headers</a:t>
            </a:r>
            <a:endParaRPr lang="en-US" sz="1000" dirty="0"/>
          </a:p>
        </p:txBody>
      </p:sp>
      <p:sp>
        <p:nvSpPr>
          <p:cNvPr id="111" name="Proof 2"/>
          <p:cNvSpPr txBox="1"/>
          <p:nvPr/>
        </p:nvSpPr>
        <p:spPr>
          <a:xfrm>
            <a:off x="2606040" y="2651760"/>
            <a:ext cx="1920240" cy="658368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/ 17</a:t>
            </a:r>
            <a:endParaRPr lang="en-US" sz="1800" dirty="0"/>
          </a:p>
          <a:p>
            <a:pPr algn="ctr" marL="0" indent="0">
              <a:spcAft>
                <a:spcPts val="0"/>
              </a:spcAft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leaks in attack suite</a:t>
            </a:r>
            <a:endParaRPr lang="en-US" sz="1000" dirty="0"/>
          </a:p>
        </p:txBody>
      </p:sp>
      <p:sp>
        <p:nvSpPr>
          <p:cNvPr id="112" name="Proof 3"/>
          <p:cNvSpPr txBox="1"/>
          <p:nvPr/>
        </p:nvSpPr>
        <p:spPr>
          <a:xfrm>
            <a:off x="4663440" y="2651760"/>
            <a:ext cx="1920240" cy="658368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1.5%</a:t>
            </a:r>
            <a:endParaRPr lang="en-US" sz="1800" dirty="0"/>
          </a:p>
          <a:p>
            <a:pPr algn="ctr" marL="0" indent="0">
              <a:spcAft>
                <a:spcPts val="0"/>
              </a:spcAft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alarms (baseline 22.2%)</a:t>
            </a:r>
            <a:endParaRPr lang="en-US" sz="1000" dirty="0"/>
          </a:p>
        </p:txBody>
      </p:sp>
      <p:sp>
        <p:nvSpPr>
          <p:cNvPr id="113" name="Proof 4"/>
          <p:cNvSpPr txBox="1"/>
          <p:nvPr/>
        </p:nvSpPr>
        <p:spPr>
          <a:xfrm>
            <a:off x="6720840" y="2651760"/>
            <a:ext cx="1920240" cy="658368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~7.5 ms</a:t>
            </a:r>
            <a:endParaRPr lang="en-US" sz="1800" dirty="0"/>
          </a:p>
          <a:p>
            <a:pPr algn="ctr" marL="0" indent="0">
              <a:spcAft>
                <a:spcPts val="0"/>
              </a:spcAft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per query</a:t>
            </a:r>
            <a:endParaRPr lang="en-US" sz="1000" dirty="0"/>
          </a:p>
        </p:txBody>
      </p:sp>
      <p:sp>
        <p:nvSpPr>
          <p:cNvPr id="114" name="Competitive Advantage Summary"/>
          <p:cNvSpPr txBox="1"/>
          <p:nvPr/>
        </p:nvSpPr>
        <p:spPr>
          <a:xfrm>
            <a:off x="457200" y="3456432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Advantage Summary</a:t>
            </a:r>
            <a:endParaRPr lang="en-US" sz="2000" dirty="0"/>
          </a:p>
        </p:txBody>
      </p:sp>
      <p:sp>
        <p:nvSpPr>
          <p:cNvPr id="115" name="Advantages"/>
          <p:cNvSpPr txBox="1"/>
          <p:nvPr/>
        </p:nvSpPr>
        <p:spPr>
          <a:xfrm>
            <a:off x="548640" y="3794760"/>
            <a:ext cx="8138160" cy="105156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Autofit/>
          </a:bodyPr>
          <a:lstStyle/>
          <a:p>
            <a:pPr algn="l" marL="228600" indent="-228600">
              <a:spcAft>
                <a:spcPts val="2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native dynamic masking: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 and sorting there still run on real values; here they never see them.</a:t>
            </a:r>
            <a:endParaRPr lang="en-US" sz="1100" dirty="0"/>
          </a:p>
          <a:p>
            <a:pPr algn="l" marL="228600" indent="-228600">
              <a:spcAft>
                <a:spcPts val="2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text PII tools (Presidio, pii-masker):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find PII in text but do not enforce per-role access in the database at query time.</a:t>
            </a:r>
            <a:endParaRPr lang="en-US" sz="1100" dirty="0"/>
          </a:p>
          <a:p>
            <a:pPr algn="l" marL="228600" indent="-228600">
              <a:spcAft>
                <a:spcPts val="2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PostgreSQL Anonymizer: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tied to one engine; MaskGuard applies one policy across databases and BI tools.</a:t>
            </a:r>
            <a:endParaRPr lang="en-US" sz="1100" dirty="0"/>
          </a:p>
          <a:p>
            <a:pPr algn="l" marL="228600" indent="-228600">
              <a:spcAft>
                <a:spcPts val="2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 closed: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masking's “limited protection against sophisticated attacks” (IEEE Access 2025 survey).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&amp; POC Video</a:t>
            </a:r>
            <a:endParaRPr lang="en-US" sz="4000" dirty="0"/>
          </a:p>
        </p:txBody>
      </p:sp>
      <p:sp>
        <p:nvSpPr>
          <p:cNvPr id="101" name="Live Demonstration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Demonstration</a:t>
            </a:r>
            <a:endParaRPr lang="en-US" sz="2000" dirty="0"/>
          </a:p>
        </p:txBody>
      </p:sp>
      <p:pic>
        <p:nvPicPr>
          <p:cNvPr id="102" name="Screenshot 102" descr="Attack suite as Analyst: naive 15/17 leaks, MaskGuard 0/17"/>
          <p:cNvPicPr>
            <a:picLocks noChangeAspect="1"/>
          </p:cNvPicPr>
          <p:nvPr/>
        </p:nvPicPr>
        <p:blipFill>
          <a:blip r:embed="rIdMg1"/>
          <a:stretch>
            <a:fillRect/>
          </a:stretch>
        </p:blipFill>
        <p:spPr>
          <a:xfrm>
            <a:off x="457200" y="1243584"/>
            <a:ext cx="4206240" cy="1814170"/>
          </a:xfrm>
          <a:prstGeom prst="rect">
            <a:avLst/>
          </a:prstGeom>
          <a:ln w="9525">
            <a:solidFill>
              <a:srgbClr val="C9D3E3"/>
            </a:solidFill>
          </a:ln>
        </p:spPr>
      </p:pic>
      <p:pic>
        <p:nvPicPr>
          <p:cNvPr id="103" name="Screenshot 103" descr="AI PII scanner: tags with source and evidence"/>
          <p:cNvPicPr>
            <a:picLocks noChangeAspect="1"/>
          </p:cNvPicPr>
          <p:nvPr/>
        </p:nvPicPr>
        <p:blipFill>
          <a:blip r:embed="rIdMg2"/>
          <a:stretch>
            <a:fillRect/>
          </a:stretch>
        </p:blipFill>
        <p:spPr>
          <a:xfrm>
            <a:off x="457200" y="3167482"/>
            <a:ext cx="4206240" cy="1436277"/>
          </a:xfrm>
          <a:prstGeom prst="rect">
            <a:avLst/>
          </a:prstGeom>
          <a:ln w="9525">
            <a:solidFill>
              <a:srgbClr val="C9D3E3"/>
            </a:solidFill>
          </a:ln>
        </p:spPr>
      </p:pic>
      <p:sp>
        <p:nvSpPr>
          <p:cNvPr id="104" name="Caption"/>
          <p:cNvSpPr txBox="1"/>
          <p:nvPr/>
        </p:nvSpPr>
        <p:spPr>
          <a:xfrm>
            <a:off x="457200" y="4631191"/>
            <a:ext cx="420624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suite as Analyst (top) and AI PII scanner with evidence (bottom)</a:t>
            </a:r>
            <a:endParaRPr lang="en-US" sz="900" dirty="0"/>
          </a:p>
        </p:txBody>
      </p:sp>
      <p:sp>
        <p:nvSpPr>
          <p:cNvPr id="105" name="Demo steps"/>
          <p:cNvSpPr txBox="1"/>
          <p:nvPr/>
        </p:nvSpPr>
        <p:spPr>
          <a:xfrm>
            <a:off x="4937760" y="1216152"/>
            <a:ext cx="3749040" cy="224028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demo shows</a:t>
            </a:r>
            <a:endParaRPr lang="en-US" sz="120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Toggle Admin / Support / Analyst: one query, three views</a:t>
            </a:r>
            <a:endParaRPr lang="en-US" sz="110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scanner tags with source, confidence and evidence</a:t>
            </a:r>
            <a:endParaRPr lang="en-US" sz="110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suite: naive masking vs MaskGuard, live</a:t>
            </a:r>
            <a:endParaRPr lang="en-US" sz="110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checksums unchanged after every query</a:t>
            </a:r>
            <a:endParaRPr lang="en-US" sz="110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 with a verified hash chain</a:t>
            </a:r>
            <a:endParaRPr lang="en-US" sz="110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p50 / p95 overhead per query</a:t>
            </a:r>
            <a:endParaRPr lang="en-US" sz="1100" dirty="0"/>
          </a:p>
        </p:txBody>
      </p:sp>
      <p:sp>
        <p:nvSpPr>
          <p:cNvPr id="106" name="Run box"/>
          <p:cNvSpPr txBox="1"/>
          <p:nvPr/>
        </p:nvSpPr>
        <p:spPr>
          <a:xfrm>
            <a:off x="4937760" y="3566160"/>
            <a:ext cx="3749040" cy="118872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it: </a:t>
            </a:r>
            <a:r>
              <a:rPr lang="en-US" sz="100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docker compose up --build</a:t>
            </a:r>
            <a:endParaRPr lang="en-US" sz="1050" dirty="0"/>
          </a:p>
          <a:p>
            <a:pPr algn="l"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:8501 · REST API :8000/docs · CLI: maskguard</a:t>
            </a:r>
            <a:endParaRPr lang="en-US" sz="10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docs/demo.mp4 in the repo (paste your upload link here)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a0819fa7-4367-4500-ba88-dd630d977609}" enabled="1" method="Standard" siteId="{63ce7d59-2f3e-42cd-a8cc-be764cff5eb6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325</Words>
  <Application>Microsoft Office PowerPoint</Application>
  <PresentationFormat>On-screen Show (16:9)</PresentationFormat>
  <Paragraphs>65</Paragraphs>
  <Slides>7</Slides>
  <Notes>7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Guest User</cp:lastModifiedBy>
  <cp:revision>3</cp:revision>
  <dcterms:created xsi:type="dcterms:W3CDTF">2026-08-06T14:25:19Z</dcterms:created>
  <dcterms:modified xsi:type="dcterms:W3CDTF">2026-10-08T12:28:30Z</dcterms:modified>
</cp:coreProperties>
</file>